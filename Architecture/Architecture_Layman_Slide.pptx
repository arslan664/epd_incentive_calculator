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3657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EPD Incentive Platform — How It All Works Together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875520" y="12801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view for everyone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731520"/>
            <a:ext cx="11731752" cy="237744"/>
          </a:xfrm>
          <a:prstGeom prst="roundRect">
            <a:avLst>
              <a:gd name="adj" fmla="val 23077"/>
            </a:avLst>
          </a:prstGeom>
          <a:solidFill>
            <a:srgbClr val="1565C0">
              <a:alpha val="7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731520"/>
            <a:ext cx="11731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WHERE DATA COMES FROM  —  Integrations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63270" y="1060704"/>
            <a:ext cx="2560320" cy="804672"/>
          </a:xfrm>
          <a:prstGeom prst="roundRect">
            <a:avLst>
              <a:gd name="adj" fmla="val 13636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6694" y="1024128"/>
            <a:ext cx="2560320" cy="804672"/>
          </a:xfrm>
          <a:prstGeom prst="roundRect">
            <a:avLst>
              <a:gd name="adj" fmla="val 13636"/>
            </a:avLst>
          </a:prstGeom>
          <a:solidFill>
            <a:srgbClr val="0A3055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6694" y="106070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2414" y="140817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/ CRM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0702" y="1719072"/>
            <a:ext cx="2432304" cy="54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Dynamics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Salesforce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806854" y="1828800"/>
            <a:ext cx="0" cy="384048"/>
          </a:xfrm>
          <a:prstGeom prst="line">
            <a:avLst/>
          </a:prstGeom>
          <a:noFill/>
          <a:ln w="12700">
            <a:solidFill>
              <a:srgbClr val="42A5F5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3421685" y="1060704"/>
            <a:ext cx="2560320" cy="804672"/>
          </a:xfrm>
          <a:prstGeom prst="roundRect">
            <a:avLst>
              <a:gd name="adj" fmla="val 13636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5109" y="1024128"/>
            <a:ext cx="2560320" cy="804672"/>
          </a:xfrm>
          <a:prstGeom prst="roundRect">
            <a:avLst>
              <a:gd name="adj" fmla="val 13636"/>
            </a:avLst>
          </a:prstGeom>
          <a:solidFill>
            <a:srgbClr val="0A3055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5109" y="106070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30829" y="140817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/ ERP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49117" y="1719072"/>
            <a:ext cx="2432304" cy="54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&amp; Other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Systems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665269" y="1828800"/>
            <a:ext cx="0" cy="384048"/>
          </a:xfrm>
          <a:prstGeom prst="line">
            <a:avLst/>
          </a:prstGeom>
          <a:noFill/>
          <a:ln w="12700">
            <a:solidFill>
              <a:srgbClr val="42A5F5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6280099" y="1060704"/>
            <a:ext cx="2560320" cy="804672"/>
          </a:xfrm>
          <a:prstGeom prst="roundRect">
            <a:avLst>
              <a:gd name="adj" fmla="val 13636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43523" y="1024128"/>
            <a:ext cx="2560320" cy="804672"/>
          </a:xfrm>
          <a:prstGeom prst="roundRect">
            <a:avLst>
              <a:gd name="adj" fmla="val 13636"/>
            </a:avLst>
          </a:prstGeom>
          <a:solidFill>
            <a:srgbClr val="0A3055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43523" y="106070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89243" y="140817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OEC Watchlists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307531" y="1719072"/>
            <a:ext cx="2432304" cy="54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&amp;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Lists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523683" y="1828800"/>
            <a:ext cx="0" cy="384048"/>
          </a:xfrm>
          <a:prstGeom prst="line">
            <a:avLst/>
          </a:prstGeom>
          <a:noFill/>
          <a:ln w="12700">
            <a:solidFill>
              <a:srgbClr val="42A5F5"/>
            </a:solidFill>
            <a:prstDash val="solid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9138514" y="1060704"/>
            <a:ext cx="2560320" cy="804672"/>
          </a:xfrm>
          <a:prstGeom prst="roundRect">
            <a:avLst>
              <a:gd name="adj" fmla="val 13636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01938" y="1024128"/>
            <a:ext cx="2560320" cy="804672"/>
          </a:xfrm>
          <a:prstGeom prst="roundRect">
            <a:avLst>
              <a:gd name="adj" fmla="val 13636"/>
            </a:avLst>
          </a:prstGeom>
          <a:solidFill>
            <a:srgbClr val="0A3055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01938" y="106070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47658" y="140817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&amp; SMS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165946" y="1719072"/>
            <a:ext cx="2432304" cy="54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Alerts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0382098" y="1828800"/>
            <a:ext cx="0" cy="384048"/>
          </a:xfrm>
          <a:prstGeom prst="line">
            <a:avLst/>
          </a:prstGeom>
          <a:noFill/>
          <a:ln w="12700">
            <a:solidFill>
              <a:srgbClr val="42A5F5"/>
            </a:solidFill>
            <a:prstDash val="solid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228600" y="1920240"/>
            <a:ext cx="11731752" cy="237744"/>
          </a:xfrm>
          <a:prstGeom prst="roundRect">
            <a:avLst>
              <a:gd name="adj" fmla="val 23077"/>
            </a:avLst>
          </a:prstGeom>
          <a:solidFill>
            <a:srgbClr val="1A237E">
              <a:alpha val="70000"/>
            </a:srgbClr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1920240"/>
            <a:ext cx="11731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THE PLATFORM CORE  —  What the System Does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90118" y="2249424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3542" y="2212848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0D2E5E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3542" y="224942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499262" y="259689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Login &amp; Access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7550" y="2907792"/>
            <a:ext cx="252374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sees only what they should — field reps see their own data, managers see their team, admins see everything.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779422" y="3401568"/>
            <a:ext cx="0" cy="256032"/>
          </a:xfrm>
          <a:prstGeom prst="line">
            <a:avLst/>
          </a:prstGeom>
          <a:noFill/>
          <a:ln w="12700">
            <a:solidFill>
              <a:srgbClr val="42A5F5"/>
            </a:solidFill>
            <a:prstDash val="solid"/>
            <a:tailEnd type="arrow"/>
          </a:ln>
        </p:spPr>
      </p:sp>
      <p:sp>
        <p:nvSpPr>
          <p:cNvPr id="40" name="Shape 38"/>
          <p:cNvSpPr/>
          <p:nvPr/>
        </p:nvSpPr>
        <p:spPr>
          <a:xfrm>
            <a:off x="3366821" y="2249424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30245" y="2212848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0D2E5E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30245" y="224942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3375965" y="259689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 Calculation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394253" y="2907792"/>
            <a:ext cx="252374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calculates how much bonus each person earns based on sales targets, NPI goals, and territory results.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656125" y="3401568"/>
            <a:ext cx="0" cy="256032"/>
          </a:xfrm>
          <a:prstGeom prst="line">
            <a:avLst/>
          </a:prstGeom>
          <a:noFill/>
          <a:ln w="12700">
            <a:solidFill>
              <a:srgbClr val="42A5F5"/>
            </a:solidFill>
            <a:prstDash val="solid"/>
            <a:tailEnd type="arrow"/>
          </a:ln>
        </p:spPr>
      </p:sp>
      <p:sp>
        <p:nvSpPr>
          <p:cNvPr id="46" name="Shape 44"/>
          <p:cNvSpPr/>
          <p:nvPr/>
        </p:nvSpPr>
        <p:spPr>
          <a:xfrm>
            <a:off x="6243523" y="2249424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06947" y="2212848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0D2E5E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06947" y="224942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6252667" y="259689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Reports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270955" y="2907792"/>
            <a:ext cx="252374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raw numbers into easy charts — who's performing, who needs support, and where the business is heading.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532827" y="3401568"/>
            <a:ext cx="0" cy="256032"/>
          </a:xfrm>
          <a:prstGeom prst="line">
            <a:avLst/>
          </a:prstGeom>
          <a:noFill/>
          <a:ln w="12700">
            <a:solidFill>
              <a:srgbClr val="42A5F5"/>
            </a:solidFill>
            <a:prstDash val="solid"/>
            <a:tailEnd type="arrow"/>
          </a:ln>
        </p:spPr>
      </p:sp>
      <p:sp>
        <p:nvSpPr>
          <p:cNvPr id="52" name="Shape 50"/>
          <p:cNvSpPr/>
          <p:nvPr/>
        </p:nvSpPr>
        <p:spPr>
          <a:xfrm>
            <a:off x="9120226" y="2249424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083650" y="2212848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0D2E5E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083650" y="224942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9129370" y="259689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&amp; Compliance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9147658" y="2907792"/>
            <a:ext cx="252374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approve payouts digitally. The system keeps a full audit trail so everything is transparent and auditable.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10409530" y="3401568"/>
            <a:ext cx="0" cy="256032"/>
          </a:xfrm>
          <a:prstGeom prst="line">
            <a:avLst/>
          </a:prstGeom>
          <a:noFill/>
          <a:ln w="12700">
            <a:solidFill>
              <a:srgbClr val="42A5F5"/>
            </a:solidFill>
            <a:prstDash val="solid"/>
            <a:tailEnd type="arrow"/>
          </a:ln>
        </p:spPr>
      </p:sp>
      <p:sp>
        <p:nvSpPr>
          <p:cNvPr id="58" name="Shape 56"/>
          <p:cNvSpPr/>
          <p:nvPr/>
        </p:nvSpPr>
        <p:spPr>
          <a:xfrm>
            <a:off x="228600" y="3456432"/>
            <a:ext cx="11731752" cy="237744"/>
          </a:xfrm>
          <a:prstGeom prst="roundRect">
            <a:avLst>
              <a:gd name="adj" fmla="val 23077"/>
            </a:avLst>
          </a:prstGeom>
          <a:solidFill>
            <a:srgbClr val="1B5E20">
              <a:alpha val="70000"/>
            </a:srgbClr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28600" y="3456432"/>
            <a:ext cx="11731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WHAT USERS SEE  —  The Application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60654" y="3712464"/>
            <a:ext cx="3383280" cy="1078992"/>
          </a:xfrm>
          <a:prstGeom prst="roundRect">
            <a:avLst>
              <a:gd name="adj" fmla="val 10169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24078" y="3675888"/>
            <a:ext cx="3383280" cy="1078992"/>
          </a:xfrm>
          <a:prstGeom prst="roundRect">
            <a:avLst>
              <a:gd name="adj" fmla="val 10169"/>
            </a:avLst>
          </a:prstGeom>
          <a:solidFill>
            <a:srgbClr val="0A2E1A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4078" y="371246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👨‍💼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669798" y="405993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Representatives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88086" y="4370832"/>
            <a:ext cx="325526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their own sales vs. target, estimated incentive pay, and NPI performance on any device.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439412" y="3712464"/>
            <a:ext cx="3383280" cy="1078992"/>
          </a:xfrm>
          <a:prstGeom prst="roundRect">
            <a:avLst>
              <a:gd name="adj" fmla="val 10169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402836" y="3675888"/>
            <a:ext cx="3383280" cy="1078992"/>
          </a:xfrm>
          <a:prstGeom prst="roundRect">
            <a:avLst>
              <a:gd name="adj" fmla="val 10169"/>
            </a:avLst>
          </a:prstGeom>
          <a:solidFill>
            <a:srgbClr val="0A2E1A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402836" y="371246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👩‍💼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4448556" y="405993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4466844" y="4370832"/>
            <a:ext cx="325526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team performance, approve payouts, and spot trends across their territory.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8218170" y="3712464"/>
            <a:ext cx="3383280" cy="1078992"/>
          </a:xfrm>
          <a:prstGeom prst="roundRect">
            <a:avLst>
              <a:gd name="adj" fmla="val 10169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181594" y="3675888"/>
            <a:ext cx="3383280" cy="1078992"/>
          </a:xfrm>
          <a:prstGeom prst="roundRect">
            <a:avLst>
              <a:gd name="adj" fmla="val 10169"/>
            </a:avLst>
          </a:prstGeom>
          <a:solidFill>
            <a:srgbClr val="0A2E1A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181594" y="371246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🛠️</a:t>
            </a:r>
            <a:endParaRPr lang="en-US" sz="1800" dirty="0"/>
          </a:p>
        </p:txBody>
      </p:sp>
      <p:sp>
        <p:nvSpPr>
          <p:cNvPr id="73" name="Text 71"/>
          <p:cNvSpPr/>
          <p:nvPr/>
        </p:nvSpPr>
        <p:spPr>
          <a:xfrm>
            <a:off x="8227314" y="405993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Super Admin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8245602" y="4370832"/>
            <a:ext cx="325526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incentive plans, upload targets, manage users, and oversee the full system.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228600" y="4919472"/>
            <a:ext cx="11731752" cy="237744"/>
          </a:xfrm>
          <a:prstGeom prst="roundRect">
            <a:avLst>
              <a:gd name="adj" fmla="val 23077"/>
            </a:avLst>
          </a:prstGeom>
          <a:solidFill>
            <a:srgbClr val="4A1A00">
              <a:alpha val="70000"/>
            </a:srgbClr>
          </a:solidFill>
          <a:ln w="12700">
            <a:solidFill>
              <a:srgbClr val="4A1A0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28600" y="4919472"/>
            <a:ext cx="11731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ALWAYS SAFE &amp; ALWAYS ON  —  Security &amp; Reliability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505968" y="5212080"/>
            <a:ext cx="2057400" cy="1417320"/>
          </a:xfrm>
          <a:prstGeom prst="roundRect">
            <a:avLst>
              <a:gd name="adj" fmla="val 7742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69392" y="5175504"/>
            <a:ext cx="2057400" cy="1417320"/>
          </a:xfrm>
          <a:prstGeom prst="roundRect">
            <a:avLst>
              <a:gd name="adj" fmla="val 7742"/>
            </a:avLst>
          </a:prstGeom>
          <a:solidFill>
            <a:srgbClr val="2A10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69392" y="521208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🔐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515112" y="555955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(SSO)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533400" y="5870448"/>
            <a:ext cx="1929384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C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login only.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C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passwords.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2804160" y="5212080"/>
            <a:ext cx="2057400" cy="1417320"/>
          </a:xfrm>
          <a:prstGeom prst="roundRect">
            <a:avLst>
              <a:gd name="adj" fmla="val 7742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767584" y="5175504"/>
            <a:ext cx="2057400" cy="1417320"/>
          </a:xfrm>
          <a:prstGeom prst="roundRect">
            <a:avLst>
              <a:gd name="adj" fmla="val 7742"/>
            </a:avLst>
          </a:prstGeom>
          <a:solidFill>
            <a:srgbClr val="2A10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767584" y="521208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🌍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2813304" y="555955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Everywhere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2831592" y="5870448"/>
            <a:ext cx="1929384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C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mobile &amp; offline.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C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markets supported.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5102352" y="5212080"/>
            <a:ext cx="2057400" cy="1417320"/>
          </a:xfrm>
          <a:prstGeom prst="roundRect">
            <a:avLst>
              <a:gd name="adj" fmla="val 7742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065776" y="5175504"/>
            <a:ext cx="2057400" cy="1417320"/>
          </a:xfrm>
          <a:prstGeom prst="roundRect">
            <a:avLst>
              <a:gd name="adj" fmla="val 7742"/>
            </a:avLst>
          </a:prstGeom>
          <a:solidFill>
            <a:srgbClr val="2A10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065776" y="521208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5111496" y="555955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5129784" y="5870448"/>
            <a:ext cx="1929384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C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country sees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C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its own data.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7400544" y="5212080"/>
            <a:ext cx="2057400" cy="1417320"/>
          </a:xfrm>
          <a:prstGeom prst="roundRect">
            <a:avLst>
              <a:gd name="adj" fmla="val 7742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363968" y="5175504"/>
            <a:ext cx="2057400" cy="1417320"/>
          </a:xfrm>
          <a:prstGeom prst="roundRect">
            <a:avLst>
              <a:gd name="adj" fmla="val 7742"/>
            </a:avLst>
          </a:prstGeom>
          <a:solidFill>
            <a:srgbClr val="2A10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363968" y="521208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📈</a:t>
            </a:r>
            <a:endParaRPr lang="en-US" sz="1600" dirty="0"/>
          </a:p>
        </p:txBody>
      </p:sp>
      <p:sp>
        <p:nvSpPr>
          <p:cNvPr id="95" name="Text 93"/>
          <p:cNvSpPr/>
          <p:nvPr/>
        </p:nvSpPr>
        <p:spPr>
          <a:xfrm>
            <a:off x="7409688" y="555955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Available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7427976" y="5870448"/>
            <a:ext cx="1929384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C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 uptime.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C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 servers.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9698736" y="5212080"/>
            <a:ext cx="2057400" cy="1417320"/>
          </a:xfrm>
          <a:prstGeom prst="roundRect">
            <a:avLst>
              <a:gd name="adj" fmla="val 7742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662160" y="5175504"/>
            <a:ext cx="2057400" cy="1417320"/>
          </a:xfrm>
          <a:prstGeom prst="roundRect">
            <a:avLst>
              <a:gd name="adj" fmla="val 7742"/>
            </a:avLst>
          </a:prstGeom>
          <a:solidFill>
            <a:srgbClr val="2A10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9662160" y="521208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📝</a:t>
            </a:r>
            <a:endParaRPr lang="en-US" sz="1600" dirty="0"/>
          </a:p>
        </p:txBody>
      </p:sp>
      <p:sp>
        <p:nvSpPr>
          <p:cNvPr id="100" name="Text 98"/>
          <p:cNvSpPr/>
          <p:nvPr/>
        </p:nvSpPr>
        <p:spPr>
          <a:xfrm>
            <a:off x="9707880" y="555955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9726168" y="5870448"/>
            <a:ext cx="1929384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C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logged.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C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compliant.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28600" y="6638544"/>
            <a:ext cx="11731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BSS — Business Solutions &amp; Services  |  EPD Incentive Platform  |  Architecture Overview (Simplified)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2026-04-28T06:07:34Z</dcterms:created>
  <dcterms:modified xsi:type="dcterms:W3CDTF">2026-04-28T06:07:34Z</dcterms:modified>
</cp:coreProperties>
</file>