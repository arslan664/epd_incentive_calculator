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charts/chart1.xml" ContentType="application/vnd.openxmlformats-officedocument.drawingml.chart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charts/chart2.xml" ContentType="application/vnd.openxmlformats-officedocument.drawingml.chart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charts/chart3.xml" ContentType="application/vnd.openxmlformats-officedocument.drawingml.chart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charts/chart4.xml" ContentType="application/vnd.openxmlformats-officedocument.drawingml.chart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145703720" r:id="rId2"/>
    <p:sldId id="2132739115" r:id="rId3"/>
    <p:sldId id="2132739116" r:id="rId4"/>
    <p:sldId id="2132739117" r:id="rId5"/>
    <p:sldId id="2132739111" r:id="rId6"/>
    <p:sldId id="2132739098" r:id="rId7"/>
    <p:sldId id="2132739112" r:id="rId8"/>
    <p:sldId id="2132739113" r:id="rId9"/>
    <p:sldId id="2132739114" r:id="rId10"/>
    <p:sldId id="2132739103" r:id="rId11"/>
    <p:sldId id="2145703671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5462384775498068E-2"/>
          <c:y val="2.7354024197790636E-2"/>
          <c:w val="0.9690752304490039"/>
          <c:h val="0.94529195160441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17569</c:v>
                </c:pt>
                <c:pt idx="1">
                  <c:v>19227</c:v>
                </c:pt>
                <c:pt idx="2">
                  <c:v>20329</c:v>
                </c:pt>
                <c:pt idx="3">
                  <c:v>22685</c:v>
                </c:pt>
                <c:pt idx="4">
                  <c:v>19950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38-4302-A605-5809154EA8E4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3633</c:v>
                </c:pt>
                <c:pt idx="1">
                  <c:v>6106</c:v>
                </c:pt>
                <c:pt idx="2">
                  <c:v>7770</c:v>
                </c:pt>
                <c:pt idx="3">
                  <c:v>12305</c:v>
                </c:pt>
                <c:pt idx="4">
                  <c:v>7452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38-4302-A605-5809154EA8E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4394</c:v>
                </c:pt>
                <c:pt idx="1">
                  <c:v>6888</c:v>
                </c:pt>
                <c:pt idx="2">
                  <c:v>8604</c:v>
                </c:pt>
                <c:pt idx="3">
                  <c:v>12072</c:v>
                </c:pt>
                <c:pt idx="4">
                  <c:v>7986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38-4302-A605-5809154EA8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34965824"/>
        <c:axId val="1"/>
      </c:barChart>
      <c:catAx>
        <c:axId val="53496582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Calibri"/>
                <a:ea typeface="+mn-ea"/>
                <a:cs typeface="Calibri"/>
              </a:defRPr>
            </a:pPr>
            <a:endParaRPr lang="en-CH"/>
          </a:p>
        </c:txPr>
        <c:crossAx val="534965824"/>
        <c:crosses val="min"/>
        <c:crossBetween val="between"/>
        <c:majorUnit val="10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8170462894930204E-2"/>
          <c:y val="7.4200913242009128E-2"/>
          <c:w val="0.82365907421013962"/>
          <c:h val="0.8515981735159817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Sheet1!$A$1:$I$1</c:f>
              <c:numCache>
                <c:formatCode>General</c:formatCode>
                <c:ptCount val="9"/>
                <c:pt idx="0">
                  <c:v>14</c:v>
                </c:pt>
                <c:pt idx="1">
                  <c:v>7</c:v>
                </c:pt>
                <c:pt idx="2">
                  <c:v>8</c:v>
                </c:pt>
                <c:pt idx="3">
                  <c:v>44</c:v>
                </c:pt>
                <c:pt idx="4">
                  <c:v>94</c:v>
                </c:pt>
                <c:pt idx="5">
                  <c:v>63</c:v>
                </c:pt>
                <c:pt idx="6">
                  <c:v>41</c:v>
                </c:pt>
                <c:pt idx="7">
                  <c:v>12</c:v>
                </c:pt>
                <c:pt idx="8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93-4278-A5EC-2DDCE18FA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34971584"/>
        <c:axId val="1"/>
      </c:barChart>
      <c:lineChart>
        <c:grouping val="standard"/>
        <c:varyColors val="0"/>
        <c:ser>
          <c:idx val="1"/>
          <c:order val="1"/>
          <c:spPr>
            <a:ln w="28575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val>
            <c:numRef>
              <c:f>Sheet1!$A$2:$I$2</c:f>
              <c:numCache>
                <c:formatCode>General</c:formatCode>
                <c:ptCount val="9"/>
                <c:pt idx="0">
                  <c:v>4.5</c:v>
                </c:pt>
                <c:pt idx="1">
                  <c:v>7</c:v>
                </c:pt>
                <c:pt idx="2">
                  <c:v>9</c:v>
                </c:pt>
                <c:pt idx="3">
                  <c:v>25</c:v>
                </c:pt>
                <c:pt idx="4">
                  <c:v>57</c:v>
                </c:pt>
                <c:pt idx="5">
                  <c:v>78</c:v>
                </c:pt>
                <c:pt idx="6">
                  <c:v>92</c:v>
                </c:pt>
                <c:pt idx="7">
                  <c:v>96</c:v>
                </c:pt>
                <c:pt idx="8">
                  <c:v>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93-4278-A5EC-2DDCE18FA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53497158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lang="en-CH"/>
          </a:p>
        </c:txPr>
        <c:crossAx val="534971584"/>
        <c:crosses val="min"/>
        <c:crossBetween val="between"/>
        <c:majorUnit val="25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pPr>
            <a:endParaRPr lang="en-CH"/>
          </a:p>
        </c:txPr>
        <c:crossAx val="2"/>
        <c:crosses val="max"/>
        <c:crossBetween val="between"/>
        <c:majorUnit val="2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92139737991267E-2"/>
          <c:y val="2.2433132010353754E-2"/>
          <c:w val="0.97161572052401746"/>
          <c:h val="0.95513373597929252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chemeClr val="tx2"/>
              </a:solidFill>
              <a:prstDash val="solid"/>
            </a:ln>
          </c:spPr>
          <c:marker>
            <c:symbol val="none"/>
          </c:marker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3BE2-40ED-9F6E-99EB0BEAF19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3BE2-40ED-9F6E-99EB0BEAF19C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BE2-40ED-9F6E-99EB0BEAF19C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3BE2-40ED-9F6E-99EB0BEAF19C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3BE2-40ED-9F6E-99EB0BEAF19C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3BE2-40ED-9F6E-99EB0BEAF19C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3BE2-40ED-9F6E-99EB0BEAF19C}"/>
              </c:ext>
            </c:extLst>
          </c:dPt>
          <c:val>
            <c:numRef>
              <c:f>Sheet1!$A$1:$I$1</c:f>
              <c:numCache>
                <c:formatCode>General</c:formatCode>
                <c:ptCount val="9"/>
                <c:pt idx="1">
                  <c:v>2</c:v>
                </c:pt>
                <c:pt idx="2">
                  <c:v>6</c:v>
                </c:pt>
                <c:pt idx="3">
                  <c:v>20</c:v>
                </c:pt>
                <c:pt idx="4">
                  <c:v>82</c:v>
                </c:pt>
                <c:pt idx="5">
                  <c:v>76</c:v>
                </c:pt>
                <c:pt idx="6">
                  <c:v>6</c:v>
                </c:pt>
                <c:pt idx="7">
                  <c:v>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3BE2-40ED-9F6E-99EB0BEAF19C}"/>
            </c:ext>
          </c:extLst>
        </c:ser>
        <c:ser>
          <c:idx val="1"/>
          <c:order val="1"/>
          <c:spPr>
            <a:ln w="19050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3BE2-40ED-9F6E-99EB0BEAF19C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3BE2-40ED-9F6E-99EB0BEAF19C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3BE2-40ED-9F6E-99EB0BEAF19C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3BE2-40ED-9F6E-99EB0BEAF19C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3BE2-40ED-9F6E-99EB0BEAF19C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3BE2-40ED-9F6E-99EB0BEAF19C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3BE2-40ED-9F6E-99EB0BEAF19C}"/>
              </c:ext>
            </c:extLst>
          </c:dPt>
          <c:val>
            <c:numRef>
              <c:f>Sheet1!$A$2:$I$2</c:f>
              <c:numCache>
                <c:formatCode>General</c:formatCode>
                <c:ptCount val="9"/>
                <c:pt idx="1">
                  <c:v>1</c:v>
                </c:pt>
                <c:pt idx="2">
                  <c:v>1</c:v>
                </c:pt>
                <c:pt idx="3">
                  <c:v>18</c:v>
                </c:pt>
                <c:pt idx="4">
                  <c:v>111</c:v>
                </c:pt>
                <c:pt idx="5">
                  <c:v>60</c:v>
                </c:pt>
                <c:pt idx="6">
                  <c:v>9</c:v>
                </c:pt>
                <c:pt idx="7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3BE2-40ED-9F6E-99EB0BEAF1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97785976"/>
        <c:axId val="1"/>
      </c:lineChart>
      <c:catAx>
        <c:axId val="99778597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20"/>
          <c:min val="-2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997785976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92139737991267E-2"/>
          <c:y val="2.2433132010353754E-2"/>
          <c:w val="0.97161572052401746"/>
          <c:h val="0.95513373597929252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chemeClr val="tx2"/>
              </a:solidFill>
              <a:prstDash val="solid"/>
            </a:ln>
          </c:spPr>
          <c:marker>
            <c:symbol val="none"/>
          </c:marker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B575-4951-A4D4-FFBB89015F83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B575-4951-A4D4-FFBB89015F83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575-4951-A4D4-FFBB89015F83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B575-4951-A4D4-FFBB89015F83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B575-4951-A4D4-FFBB89015F83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B575-4951-A4D4-FFBB89015F83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tx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B575-4951-A4D4-FFBB89015F83}"/>
              </c:ext>
            </c:extLst>
          </c:dPt>
          <c:val>
            <c:numRef>
              <c:f>Sheet1!$A$1:$I$1</c:f>
              <c:numCache>
                <c:formatCode>General</c:formatCode>
                <c:ptCount val="9"/>
                <c:pt idx="1">
                  <c:v>10</c:v>
                </c:pt>
                <c:pt idx="2">
                  <c:v>9</c:v>
                </c:pt>
                <c:pt idx="3">
                  <c:v>5</c:v>
                </c:pt>
                <c:pt idx="4">
                  <c:v>0</c:v>
                </c:pt>
                <c:pt idx="5">
                  <c:v>7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B575-4951-A4D4-FFBB89015F83}"/>
            </c:ext>
          </c:extLst>
        </c:ser>
        <c:ser>
          <c:idx val="1"/>
          <c:order val="1"/>
          <c:spPr>
            <a:ln w="19050" cmpd="sng" algn="ctr">
              <a:solidFill>
                <a:schemeClr val="accent5"/>
              </a:solidFill>
              <a:prstDash val="solid"/>
            </a:ln>
          </c:spPr>
          <c:marker>
            <c:symbol val="none"/>
          </c:marker>
          <c:dPt>
            <c:idx val="1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B575-4951-A4D4-FFBB89015F83}"/>
              </c:ext>
            </c:extLst>
          </c:dPt>
          <c:dPt>
            <c:idx val="2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B575-4951-A4D4-FFBB89015F83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B575-4951-A4D4-FFBB89015F83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B575-4951-A4D4-FFBB89015F83}"/>
              </c:ext>
            </c:extLst>
          </c:dPt>
          <c:dPt>
            <c:idx val="5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B575-4951-A4D4-FFBB89015F83}"/>
              </c:ext>
            </c:extLst>
          </c:dPt>
          <c:dPt>
            <c:idx val="6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B575-4951-A4D4-FFBB89015F83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FFFFFF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B575-4951-A4D4-FFBB89015F83}"/>
              </c:ext>
            </c:extLst>
          </c:dPt>
          <c:val>
            <c:numRef>
              <c:f>Sheet1!$A$2:$I$2</c:f>
              <c:numCache>
                <c:formatCode>General</c:formatCode>
                <c:ptCount val="9"/>
                <c:pt idx="1">
                  <c:v>6</c:v>
                </c:pt>
                <c:pt idx="2">
                  <c:v>1</c:v>
                </c:pt>
                <c:pt idx="3">
                  <c:v>2</c:v>
                </c:pt>
                <c:pt idx="4">
                  <c:v>7</c:v>
                </c:pt>
                <c:pt idx="5">
                  <c:v>0</c:v>
                </c:pt>
                <c:pt idx="6">
                  <c:v>5</c:v>
                </c:pt>
                <c:pt idx="7">
                  <c:v>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B575-4951-A4D4-FFBB89015F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97796056"/>
        <c:axId val="1"/>
      </c:lineChart>
      <c:catAx>
        <c:axId val="9977960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12"/>
          <c:min val="-2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997796056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4074929856411953E-3"/>
          <c:y val="3.2479700187382887E-2"/>
          <c:w val="0.98201023271166854"/>
          <c:h val="0.93191755153029354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val>
            <c:numRef>
              <c:f>Sheet1!$A$1:$F$1</c:f>
              <c:numCache>
                <c:formatCode>General</c:formatCode>
                <c:ptCount val="6"/>
                <c:pt idx="0">
                  <c:v>65300</c:v>
                </c:pt>
                <c:pt idx="1">
                  <c:v>69400</c:v>
                </c:pt>
                <c:pt idx="2">
                  <c:v>75200</c:v>
                </c:pt>
                <c:pt idx="3">
                  <c:v>80000</c:v>
                </c:pt>
                <c:pt idx="4">
                  <c:v>120000</c:v>
                </c:pt>
                <c:pt idx="5">
                  <c:v>100700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26-4AA9-A0C0-F5402732350D}"/>
            </c:ext>
          </c:extLst>
        </c:ser>
        <c:ser>
          <c:idx val="1"/>
          <c:order val="1"/>
          <c:spPr>
            <a:solidFill>
              <a:schemeClr val="accent3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326-4AA9-A0C0-F5402732350D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5326-4AA9-A0C0-F5402732350D}"/>
              </c:ext>
            </c:extLst>
          </c:dPt>
          <c:dPt>
            <c:idx val="4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326-4AA9-A0C0-F5402732350D}"/>
              </c:ext>
            </c:extLst>
          </c:dPt>
          <c:val>
            <c:numRef>
              <c:f>Sheet1!$A$2:$F$2</c:f>
              <c:numCache>
                <c:formatCode>General</c:formatCode>
                <c:ptCount val="6"/>
                <c:pt idx="0">
                  <c:v>6500</c:v>
                </c:pt>
                <c:pt idx="1">
                  <c:v>8800</c:v>
                </c:pt>
                <c:pt idx="2">
                  <c:v>15300</c:v>
                </c:pt>
                <c:pt idx="3">
                  <c:v>30000</c:v>
                </c:pt>
                <c:pt idx="4">
                  <c:v>54600</c:v>
                </c:pt>
                <c:pt idx="5">
                  <c:v>19500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326-4AA9-A0C0-F5402732350D}"/>
            </c:ext>
          </c:extLst>
        </c:ser>
        <c:ser>
          <c:idx val="2"/>
          <c:order val="2"/>
          <c:spPr>
            <a:solidFill>
              <a:schemeClr val="accent5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326-4AA9-A0C0-F5402732350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5326-4AA9-A0C0-F5402732350D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5326-4AA9-A0C0-F5402732350D}"/>
              </c:ext>
            </c:extLst>
          </c:dPt>
          <c:val>
            <c:numRef>
              <c:f>Sheet1!$A$3:$F$3</c:f>
              <c:numCache>
                <c:formatCode>General</c:formatCode>
                <c:ptCount val="6"/>
                <c:pt idx="0">
                  <c:v>11500</c:v>
                </c:pt>
                <c:pt idx="1">
                  <c:v>11500</c:v>
                </c:pt>
                <c:pt idx="2">
                  <c:v>38900</c:v>
                </c:pt>
                <c:pt idx="3">
                  <c:v>39700</c:v>
                </c:pt>
                <c:pt idx="4">
                  <c:v>35800</c:v>
                </c:pt>
                <c:pt idx="5">
                  <c:v>34700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326-4AA9-A0C0-F540273235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4416800"/>
        <c:axId val="1"/>
      </c:barChart>
      <c:catAx>
        <c:axId val="61441680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20000"/>
          <c:min val="400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600" kern="1200">
                <a:latin typeface="Calibri"/>
                <a:ea typeface="+mn-ea"/>
                <a:cs typeface="Calibri"/>
                <a:sym typeface="Calibri"/>
              </a:defRPr>
            </a:pPr>
            <a:endParaRPr lang="en-CH"/>
          </a:p>
        </c:txPr>
        <c:crossAx val="614416800"/>
        <c:crosses val="min"/>
        <c:crossBetween val="between"/>
        <c:majorUnit val="20000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47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38CA73-F7B4-40C6-9E88-F03CCE06A4D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704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 / CALIBRI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02DBADE4-01FE-485E-9DAC-FF6FD6DB74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0826566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02DBADE4-01FE-485E-9DAC-FF6FD6DB74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2920" y="102869"/>
            <a:ext cx="8229600" cy="685800"/>
          </a:xfrm>
        </p:spPr>
        <p:txBody>
          <a:bodyPr vert="horz" anchor="ctr"/>
          <a:lstStyle>
            <a:lvl1pPr>
              <a:defRPr sz="225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2920" y="1096566"/>
            <a:ext cx="8229600" cy="3566160"/>
          </a:xfrm>
        </p:spPr>
        <p:txBody>
          <a:bodyPr/>
          <a:lstStyle>
            <a:lvl1pPr>
              <a:defRPr sz="1800" b="1">
                <a:solidFill>
                  <a:schemeClr val="accent5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First level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5E6E0-5E57-44BC-9DB5-EE65A1B551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58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tags" Target="../tags/tag41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42" Type="http://schemas.openxmlformats.org/officeDocument/2006/relationships/oleObject" Target="../embeddings/oleObject3.bin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9" Type="http://schemas.openxmlformats.org/officeDocument/2006/relationships/tags" Target="../tags/tag3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tags" Target="../tags/tag42.xml"/><Relationship Id="rId45" Type="http://schemas.openxmlformats.org/officeDocument/2006/relationships/image" Target="../media/image6.svg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31" Type="http://schemas.openxmlformats.org/officeDocument/2006/relationships/tags" Target="../tags/tag33.xml"/><Relationship Id="rId44" Type="http://schemas.openxmlformats.org/officeDocument/2006/relationships/chart" Target="../charts/chart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image" Target="../media/image5.emf"/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image" Target="../media/image7.svg"/><Relationship Id="rId20" Type="http://schemas.openxmlformats.org/officeDocument/2006/relationships/tags" Target="../tags/tag22.xml"/><Relationship Id="rId4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" Type="http://schemas.openxmlformats.org/officeDocument/2006/relationships/tags" Target="../tags/tag46.xml"/><Relationship Id="rId21" Type="http://schemas.openxmlformats.org/officeDocument/2006/relationships/image" Target="../media/image5.emf"/><Relationship Id="rId7" Type="http://schemas.openxmlformats.org/officeDocument/2006/relationships/tags" Target="../tags/tag50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" Type="http://schemas.openxmlformats.org/officeDocument/2006/relationships/tags" Target="../tags/tag45.xml"/><Relationship Id="rId16" Type="http://schemas.openxmlformats.org/officeDocument/2006/relationships/tags" Target="../tags/tag59.xml"/><Relationship Id="rId20" Type="http://schemas.openxmlformats.org/officeDocument/2006/relationships/oleObject" Target="../embeddings/oleObject5.bin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24" Type="http://schemas.openxmlformats.org/officeDocument/2006/relationships/image" Target="../media/image12.svg"/><Relationship Id="rId5" Type="http://schemas.openxmlformats.org/officeDocument/2006/relationships/tags" Target="../tags/tag48.xml"/><Relationship Id="rId15" Type="http://schemas.openxmlformats.org/officeDocument/2006/relationships/tags" Target="../tags/tag58.xml"/><Relationship Id="rId23" Type="http://schemas.openxmlformats.org/officeDocument/2006/relationships/image" Target="../media/image11.svg"/><Relationship Id="rId10" Type="http://schemas.openxmlformats.org/officeDocument/2006/relationships/tags" Target="../tags/tag53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tags" Target="../tags/tag57.xml"/><Relationship Id="rId22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image" Target="../media/image5.emf"/><Relationship Id="rId3" Type="http://schemas.openxmlformats.org/officeDocument/2006/relationships/tags" Target="../tags/tag66.xml"/><Relationship Id="rId21" Type="http://schemas.openxmlformats.org/officeDocument/2006/relationships/tags" Target="../tags/tag84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oleObject" Target="../embeddings/oleObject8.bin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tags" Target="../tags/tag83.xml"/><Relationship Id="rId29" Type="http://schemas.openxmlformats.org/officeDocument/2006/relationships/image" Target="../media/image14.svg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image" Target="../media/image13.svg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chart" Target="../charts/chart3.xml"/><Relationship Id="rId30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18" Type="http://schemas.openxmlformats.org/officeDocument/2006/relationships/tags" Target="../tags/tag104.xml"/><Relationship Id="rId26" Type="http://schemas.openxmlformats.org/officeDocument/2006/relationships/image" Target="../media/image5.emf"/><Relationship Id="rId3" Type="http://schemas.openxmlformats.org/officeDocument/2006/relationships/tags" Target="../tags/tag89.xml"/><Relationship Id="rId21" Type="http://schemas.openxmlformats.org/officeDocument/2006/relationships/tags" Target="../tags/tag107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tags" Target="../tags/tag103.xml"/><Relationship Id="rId25" Type="http://schemas.openxmlformats.org/officeDocument/2006/relationships/oleObject" Target="../embeddings/oleObject9.bin"/><Relationship Id="rId2" Type="http://schemas.openxmlformats.org/officeDocument/2006/relationships/tags" Target="../tags/tag88.xml"/><Relationship Id="rId16" Type="http://schemas.openxmlformats.org/officeDocument/2006/relationships/tags" Target="../tags/tag102.xml"/><Relationship Id="rId20" Type="http://schemas.openxmlformats.org/officeDocument/2006/relationships/tags" Target="../tags/tag106.xml"/><Relationship Id="rId29" Type="http://schemas.openxmlformats.org/officeDocument/2006/relationships/image" Target="../media/image17.svg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24" Type="http://schemas.openxmlformats.org/officeDocument/2006/relationships/slideLayout" Target="../slideLayouts/slideLayout2.xml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23" Type="http://schemas.openxmlformats.org/officeDocument/2006/relationships/tags" Target="../tags/tag109.xml"/><Relationship Id="rId28" Type="http://schemas.openxmlformats.org/officeDocument/2006/relationships/image" Target="../media/image16.svg"/><Relationship Id="rId10" Type="http://schemas.openxmlformats.org/officeDocument/2006/relationships/tags" Target="../tags/tag96.xml"/><Relationship Id="rId19" Type="http://schemas.openxmlformats.org/officeDocument/2006/relationships/tags" Target="../tags/tag105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Relationship Id="rId22" Type="http://schemas.openxmlformats.org/officeDocument/2006/relationships/tags" Target="../tags/tag108.xml"/><Relationship Id="rId27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7" Type="http://schemas.openxmlformats.org/officeDocument/2006/relationships/image" Target="../media/image20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Relationship Id="rId6" Type="http://schemas.openxmlformats.org/officeDocument/2006/relationships/image" Target="../media/image19.jpeg"/><Relationship Id="rId5" Type="http://schemas.openxmlformats.org/officeDocument/2006/relationships/image" Target="../media/image18.svg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0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Relationship Id="rId6" Type="http://schemas.openxmlformats.org/officeDocument/2006/relationships/image" Target="../media/image21.jpe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tags" Target="../tags/tag124.xml"/><Relationship Id="rId18" Type="http://schemas.openxmlformats.org/officeDocument/2006/relationships/tags" Target="../tags/tag129.xml"/><Relationship Id="rId3" Type="http://schemas.openxmlformats.org/officeDocument/2006/relationships/tags" Target="../tags/tag114.xml"/><Relationship Id="rId21" Type="http://schemas.openxmlformats.org/officeDocument/2006/relationships/image" Target="../media/image5.emf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17" Type="http://schemas.openxmlformats.org/officeDocument/2006/relationships/tags" Target="../tags/tag128.xml"/><Relationship Id="rId2" Type="http://schemas.openxmlformats.org/officeDocument/2006/relationships/tags" Target="../tags/tag113.xml"/><Relationship Id="rId16" Type="http://schemas.openxmlformats.org/officeDocument/2006/relationships/tags" Target="../tags/tag127.xml"/><Relationship Id="rId20" Type="http://schemas.openxmlformats.org/officeDocument/2006/relationships/oleObject" Target="../embeddings/oleObject12.bin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5" Type="http://schemas.openxmlformats.org/officeDocument/2006/relationships/tags" Target="../tags/tag126.xml"/><Relationship Id="rId10" Type="http://schemas.openxmlformats.org/officeDocument/2006/relationships/tags" Target="../tags/tag121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tags" Target="../tags/tag125.xml"/><Relationship Id="rId2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5E2A71B-0396-4FF1-995D-FC7CAC0EE46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5E2A71B-0396-4FF1-995D-FC7CAC0EE4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AC9B9801-8922-4B0C-B88D-98A13571B723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117" name="Rounded Rectangle 52">
            <a:extLst>
              <a:ext uri="{FF2B5EF4-FFF2-40B4-BE49-F238E27FC236}">
                <a16:creationId xmlns:a16="http://schemas.microsoft.com/office/drawing/2014/main" id="{B5515903-E4F1-486B-931C-11F08602FB7F}"/>
              </a:ext>
            </a:extLst>
          </p:cNvPr>
          <p:cNvSpPr/>
          <p:nvPr/>
        </p:nvSpPr>
        <p:spPr>
          <a:xfrm rot="16200000" flipH="1">
            <a:off x="1505973" y="2944522"/>
            <a:ext cx="685800" cy="2691900"/>
          </a:xfrm>
          <a:prstGeom prst="round2SameRect">
            <a:avLst>
              <a:gd name="adj1" fmla="val 9923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IN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4364B4B-4573-43BE-BEA8-206EE42C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IN" dirty="0">
                <a:solidFill>
                  <a:schemeClr val="bg1"/>
                </a:solidFill>
              </a:rPr>
              <a:t>IC process timelines</a:t>
            </a:r>
          </a:p>
        </p:txBody>
      </p:sp>
      <p:sp>
        <p:nvSpPr>
          <p:cNvPr id="91" name="Slide Number Placeholder 3">
            <a:extLst>
              <a:ext uri="{FF2B5EF4-FFF2-40B4-BE49-F238E27FC236}">
                <a16:creationId xmlns:a16="http://schemas.microsoft.com/office/drawing/2014/main" id="{26987BCD-9A6A-4004-823D-68FA393C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1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61" name="Tabla 77">
            <a:extLst>
              <a:ext uri="{FF2B5EF4-FFF2-40B4-BE49-F238E27FC236}">
                <a16:creationId xmlns:a16="http://schemas.microsoft.com/office/drawing/2014/main" id="{7B837F6A-12C0-428E-AB29-6CE6040DFD6F}"/>
              </a:ext>
            </a:extLst>
          </p:cNvPr>
          <p:cNvGraphicFramePr>
            <a:graphicFrameLocks noGrp="1"/>
          </p:cNvGraphicFramePr>
          <p:nvPr/>
        </p:nvGraphicFramePr>
        <p:xfrm>
          <a:off x="497942" y="984395"/>
          <a:ext cx="8229600" cy="4831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1392750212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3275237384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302470087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1773726400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936219189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2113243483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2773156071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962665099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809716193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1342463330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4035341458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1003678798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149106458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endParaRPr lang="es-MX" sz="1100" b="0" i="0" dirty="0">
                        <a:solidFill>
                          <a:schemeClr val="tx2"/>
                        </a:solidFill>
                        <a:latin typeface="+mn-lt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marL="34290" marR="34290" marT="157734" marB="1577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Jan</a:t>
                      </a:r>
                    </a:p>
                  </a:txBody>
                  <a:tcPr marL="34290" marR="34290" marT="157734" marB="15773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Feb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Mar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Apr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May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Jun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Jul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Aug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Sep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Oct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Nov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000" b="1" i="0" dirty="0">
                          <a:solidFill>
                            <a:schemeClr val="bg1"/>
                          </a:solidFill>
                          <a:latin typeface="+mn-lt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Dec</a:t>
                      </a:r>
                    </a:p>
                  </a:txBody>
                  <a:tcPr marL="34290" marR="34290" marT="157734" marB="15773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108069"/>
                  </a:ext>
                </a:extLst>
              </a:tr>
            </a:tbl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AE606333-3FBF-40C0-B70D-C764EE2663A5}"/>
              </a:ext>
            </a:extLst>
          </p:cNvPr>
          <p:cNvSpPr/>
          <p:nvPr/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685800">
              <a:defRPr/>
            </a:pPr>
            <a:endParaRPr lang="en-IN" sz="2100" dirty="0">
              <a:solidFill>
                <a:prstClr val="white"/>
              </a:solidFill>
              <a:latin typeface="Georgia" panose="02040502050405020303" pitchFamily="18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ECE52C-9B54-4E22-ABA9-95DCD3A8A325}"/>
              </a:ext>
            </a:extLst>
          </p:cNvPr>
          <p:cNvSpPr/>
          <p:nvPr/>
        </p:nvSpPr>
        <p:spPr>
          <a:xfrm>
            <a:off x="4207209" y="4150363"/>
            <a:ext cx="280219" cy="2802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5DC27FC6-A062-46BD-BD7D-9DA0982E54E2}"/>
              </a:ext>
            </a:extLst>
          </p:cNvPr>
          <p:cNvSpPr/>
          <p:nvPr/>
        </p:nvSpPr>
        <p:spPr>
          <a:xfrm>
            <a:off x="5593116" y="4150363"/>
            <a:ext cx="280219" cy="2802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0C399CE-3D53-4B28-AD50-2B6A9A4F7F5D}"/>
              </a:ext>
            </a:extLst>
          </p:cNvPr>
          <p:cNvSpPr/>
          <p:nvPr/>
        </p:nvSpPr>
        <p:spPr>
          <a:xfrm>
            <a:off x="6979024" y="4150363"/>
            <a:ext cx="280219" cy="2802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856F40CF-89AA-4A94-9C95-0104730A13FE}"/>
              </a:ext>
            </a:extLst>
          </p:cNvPr>
          <p:cNvSpPr/>
          <p:nvPr/>
        </p:nvSpPr>
        <p:spPr>
          <a:xfrm>
            <a:off x="8364936" y="4150363"/>
            <a:ext cx="280219" cy="2802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A856402-36B1-4170-A0E0-6CAE03A88DAA}"/>
              </a:ext>
            </a:extLst>
          </p:cNvPr>
          <p:cNvSpPr txBox="1"/>
          <p:nvPr/>
        </p:nvSpPr>
        <p:spPr>
          <a:xfrm>
            <a:off x="1074420" y="3990391"/>
            <a:ext cx="1983106" cy="6001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00">
              <a:defRPr/>
            </a:pPr>
            <a:r>
              <a:rPr lang="en-US" sz="975" b="1" dirty="0">
                <a:solidFill>
                  <a:prstClr val="white"/>
                </a:solidFill>
                <a:latin typeface="Georgia" panose="02040502050405020303" pitchFamily="18" charset="0"/>
              </a:rPr>
              <a:t>IC analysis communication, Q&amp;A and feedback collection from Sales Force </a:t>
            </a:r>
            <a: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  <a:t>(within last month of each QRT)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EA3C307-B713-45D9-A1E1-28C6B641A1B2}"/>
              </a:ext>
            </a:extLst>
          </p:cNvPr>
          <p:cNvCxnSpPr>
            <a:cxnSpLocks/>
          </p:cNvCxnSpPr>
          <p:nvPr/>
        </p:nvCxnSpPr>
        <p:spPr>
          <a:xfrm>
            <a:off x="3194824" y="2189993"/>
            <a:ext cx="553271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8FFB934-0DA0-4E7D-AEE2-4748C46CD70F}"/>
              </a:ext>
            </a:extLst>
          </p:cNvPr>
          <p:cNvGrpSpPr/>
          <p:nvPr/>
        </p:nvGrpSpPr>
        <p:grpSpPr>
          <a:xfrm>
            <a:off x="3661139" y="985841"/>
            <a:ext cx="4664106" cy="3655314"/>
            <a:chOff x="4881518" y="923857"/>
            <a:chExt cx="6218808" cy="526434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B0EF85B-32C4-44A8-8BD4-C9ADF12C11A5}"/>
                </a:ext>
              </a:extLst>
            </p:cNvPr>
            <p:cNvGrpSpPr/>
            <p:nvPr/>
          </p:nvGrpSpPr>
          <p:grpSpPr>
            <a:xfrm>
              <a:off x="4881518" y="923857"/>
              <a:ext cx="83479" cy="5264349"/>
              <a:chOff x="1623823" y="2105952"/>
              <a:chExt cx="130196" cy="2743200"/>
            </a:xfrm>
          </p:grpSpPr>
          <p:sp>
            <p:nvSpPr>
              <p:cNvPr id="11" name="Right Triangle 10">
                <a:extLst>
                  <a:ext uri="{FF2B5EF4-FFF2-40B4-BE49-F238E27FC236}">
                    <a16:creationId xmlns:a16="http://schemas.microsoft.com/office/drawing/2014/main" id="{D633EB9F-6139-4428-B110-756D93019DB1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12" name="Right Triangle 11">
                <a:extLst>
                  <a:ext uri="{FF2B5EF4-FFF2-40B4-BE49-F238E27FC236}">
                    <a16:creationId xmlns:a16="http://schemas.microsoft.com/office/drawing/2014/main" id="{D93C90D6-1909-4EA6-9992-6D05C435A117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7785997-B39D-45FB-B37C-122F82FBDAA7}"/>
                </a:ext>
              </a:extLst>
            </p:cNvPr>
            <p:cNvGrpSpPr/>
            <p:nvPr/>
          </p:nvGrpSpPr>
          <p:grpSpPr>
            <a:xfrm>
              <a:off x="5495051" y="923857"/>
              <a:ext cx="83479" cy="5264349"/>
              <a:chOff x="1623823" y="2105952"/>
              <a:chExt cx="130196" cy="2743200"/>
            </a:xfrm>
          </p:grpSpPr>
          <p:sp>
            <p:nvSpPr>
              <p:cNvPr id="14" name="Right Triangle 13">
                <a:extLst>
                  <a:ext uri="{FF2B5EF4-FFF2-40B4-BE49-F238E27FC236}">
                    <a16:creationId xmlns:a16="http://schemas.microsoft.com/office/drawing/2014/main" id="{85824CA0-C1F3-4603-9B40-572C00729297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15" name="Right Triangle 14">
                <a:extLst>
                  <a:ext uri="{FF2B5EF4-FFF2-40B4-BE49-F238E27FC236}">
                    <a16:creationId xmlns:a16="http://schemas.microsoft.com/office/drawing/2014/main" id="{AFB37A0C-6C4C-4CAF-96E8-155811FAE319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161FF19-10B5-4CCE-A368-21593AC0F8FB}"/>
                </a:ext>
              </a:extLst>
            </p:cNvPr>
            <p:cNvGrpSpPr/>
            <p:nvPr/>
          </p:nvGrpSpPr>
          <p:grpSpPr>
            <a:xfrm>
              <a:off x="6108584" y="923857"/>
              <a:ext cx="83479" cy="5264349"/>
              <a:chOff x="1623823" y="2105952"/>
              <a:chExt cx="130196" cy="2743200"/>
            </a:xfrm>
          </p:grpSpPr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5CF57C60-863C-4479-A372-3B5EE2D9D39D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BED387F2-92CC-43DB-BA46-ADC0C07DA020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B12CA4B-73FC-4BBA-8B5F-16A980441C37}"/>
                </a:ext>
              </a:extLst>
            </p:cNvPr>
            <p:cNvGrpSpPr/>
            <p:nvPr/>
          </p:nvGrpSpPr>
          <p:grpSpPr>
            <a:xfrm>
              <a:off x="6722117" y="923857"/>
              <a:ext cx="83479" cy="5264349"/>
              <a:chOff x="1623823" y="2105952"/>
              <a:chExt cx="130196" cy="2743200"/>
            </a:xfrm>
          </p:grpSpPr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1D0ECF20-E065-49F7-9AB5-35257BBB5F45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8040EE26-D1DB-4E9C-B5E6-55C514D1597D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A74B52C-3E00-4D8E-B3BD-640D196C2177}"/>
                </a:ext>
              </a:extLst>
            </p:cNvPr>
            <p:cNvGrpSpPr/>
            <p:nvPr/>
          </p:nvGrpSpPr>
          <p:grpSpPr>
            <a:xfrm>
              <a:off x="7335650" y="923857"/>
              <a:ext cx="83479" cy="5264349"/>
              <a:chOff x="1623823" y="2105952"/>
              <a:chExt cx="130196" cy="2743200"/>
            </a:xfrm>
          </p:grpSpPr>
          <p:sp>
            <p:nvSpPr>
              <p:cNvPr id="23" name="Right Triangle 22">
                <a:extLst>
                  <a:ext uri="{FF2B5EF4-FFF2-40B4-BE49-F238E27FC236}">
                    <a16:creationId xmlns:a16="http://schemas.microsoft.com/office/drawing/2014/main" id="{455DB363-C47D-4EDB-9DF9-0D43A6975F64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31C6A770-998C-482F-BFCA-DEB8D3DC2ACC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EDA640A0-C978-4B3B-93D8-BA32BDA996E1}"/>
                </a:ext>
              </a:extLst>
            </p:cNvPr>
            <p:cNvGrpSpPr/>
            <p:nvPr/>
          </p:nvGrpSpPr>
          <p:grpSpPr>
            <a:xfrm>
              <a:off x="7949183" y="923857"/>
              <a:ext cx="83479" cy="5264349"/>
              <a:chOff x="1623823" y="2105952"/>
              <a:chExt cx="130196" cy="2743200"/>
            </a:xfrm>
          </p:grpSpPr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5F7A95AB-1014-4C81-A515-98C7CBBF89F9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FD4F8E44-825A-40A9-86BD-C36CC7ED555B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36DFFC1-26B6-4FEC-A380-026339646E5D}"/>
                </a:ext>
              </a:extLst>
            </p:cNvPr>
            <p:cNvGrpSpPr/>
            <p:nvPr/>
          </p:nvGrpSpPr>
          <p:grpSpPr>
            <a:xfrm>
              <a:off x="8562716" y="923857"/>
              <a:ext cx="83479" cy="5264349"/>
              <a:chOff x="1623823" y="2105952"/>
              <a:chExt cx="130196" cy="2743200"/>
            </a:xfrm>
          </p:grpSpPr>
          <p:sp>
            <p:nvSpPr>
              <p:cNvPr id="29" name="Right Triangle 28">
                <a:extLst>
                  <a:ext uri="{FF2B5EF4-FFF2-40B4-BE49-F238E27FC236}">
                    <a16:creationId xmlns:a16="http://schemas.microsoft.com/office/drawing/2014/main" id="{B1B5719A-D9F7-4774-B161-5881D7D9AD30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30" name="Right Triangle 29">
                <a:extLst>
                  <a:ext uri="{FF2B5EF4-FFF2-40B4-BE49-F238E27FC236}">
                    <a16:creationId xmlns:a16="http://schemas.microsoft.com/office/drawing/2014/main" id="{E882F7F8-826B-4D91-AAEB-24D397AB74D9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9F48A11-23B1-412B-841E-0EF9983E2CA3}"/>
                </a:ext>
              </a:extLst>
            </p:cNvPr>
            <p:cNvGrpSpPr/>
            <p:nvPr/>
          </p:nvGrpSpPr>
          <p:grpSpPr>
            <a:xfrm>
              <a:off x="9176249" y="923857"/>
              <a:ext cx="83479" cy="5264349"/>
              <a:chOff x="1623823" y="2105952"/>
              <a:chExt cx="130196" cy="2743200"/>
            </a:xfrm>
          </p:grpSpPr>
          <p:sp>
            <p:nvSpPr>
              <p:cNvPr id="32" name="Right Triangle 31">
                <a:extLst>
                  <a:ext uri="{FF2B5EF4-FFF2-40B4-BE49-F238E27FC236}">
                    <a16:creationId xmlns:a16="http://schemas.microsoft.com/office/drawing/2014/main" id="{F35EE39D-DE2B-4C63-9A91-527AF4B31890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33" name="Right Triangle 32">
                <a:extLst>
                  <a:ext uri="{FF2B5EF4-FFF2-40B4-BE49-F238E27FC236}">
                    <a16:creationId xmlns:a16="http://schemas.microsoft.com/office/drawing/2014/main" id="{B589EC14-3208-4151-B39E-3D49E67EF780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0342473-597B-457C-8556-B47D5EA9B3BB}"/>
                </a:ext>
              </a:extLst>
            </p:cNvPr>
            <p:cNvGrpSpPr/>
            <p:nvPr/>
          </p:nvGrpSpPr>
          <p:grpSpPr>
            <a:xfrm>
              <a:off x="9789782" y="923857"/>
              <a:ext cx="83479" cy="5264349"/>
              <a:chOff x="1623823" y="2105952"/>
              <a:chExt cx="130196" cy="2743200"/>
            </a:xfrm>
          </p:grpSpPr>
          <p:sp>
            <p:nvSpPr>
              <p:cNvPr id="39" name="Right Triangle 38">
                <a:extLst>
                  <a:ext uri="{FF2B5EF4-FFF2-40B4-BE49-F238E27FC236}">
                    <a16:creationId xmlns:a16="http://schemas.microsoft.com/office/drawing/2014/main" id="{11FCFF89-A11C-4DC1-B6AD-1394A115E9EF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1CCF7A3B-B8DB-4FB8-B2DC-E3AD44365AE2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2218727-DC18-464B-8CB9-94CCBAD40E77}"/>
                </a:ext>
              </a:extLst>
            </p:cNvPr>
            <p:cNvGrpSpPr/>
            <p:nvPr/>
          </p:nvGrpSpPr>
          <p:grpSpPr>
            <a:xfrm>
              <a:off x="10403315" y="923857"/>
              <a:ext cx="83479" cy="5264349"/>
              <a:chOff x="1623823" y="2105952"/>
              <a:chExt cx="130196" cy="2743200"/>
            </a:xfrm>
          </p:grpSpPr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F9EB160D-7A9C-4688-9232-6806A6B4601C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43" name="Right Triangle 42">
                <a:extLst>
                  <a:ext uri="{FF2B5EF4-FFF2-40B4-BE49-F238E27FC236}">
                    <a16:creationId xmlns:a16="http://schemas.microsoft.com/office/drawing/2014/main" id="{AD92F58E-7167-48AB-9126-0D1F7F0967D2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559C96E-EB72-42AB-9030-97E840D1EC14}"/>
                </a:ext>
              </a:extLst>
            </p:cNvPr>
            <p:cNvGrpSpPr/>
            <p:nvPr/>
          </p:nvGrpSpPr>
          <p:grpSpPr>
            <a:xfrm>
              <a:off x="11016847" y="923857"/>
              <a:ext cx="83479" cy="5264349"/>
              <a:chOff x="1623823" y="2105952"/>
              <a:chExt cx="130196" cy="2743200"/>
            </a:xfrm>
          </p:grpSpPr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051DE65B-9089-4640-81CF-774E4D21F70E}"/>
                  </a:ext>
                </a:extLst>
              </p:cNvPr>
              <p:cNvSpPr/>
              <p:nvPr/>
            </p:nvSpPr>
            <p:spPr>
              <a:xfrm flipV="1">
                <a:off x="1623823" y="2105952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0DEAA6E8-19A4-40FB-ADF4-1921AC87C9A5}"/>
                  </a:ext>
                </a:extLst>
              </p:cNvPr>
              <p:cNvSpPr/>
              <p:nvPr/>
            </p:nvSpPr>
            <p:spPr>
              <a:xfrm>
                <a:off x="1623823" y="2973460"/>
                <a:ext cx="130196" cy="1875692"/>
              </a:xfrm>
              <a:prstGeom prst="rtTriangle">
                <a:avLst/>
              </a:prstGeom>
              <a:gradFill flip="none" rotWithShape="1">
                <a:gsLst>
                  <a:gs pos="0">
                    <a:schemeClr val="tx1">
                      <a:alpha val="1000"/>
                    </a:schemeClr>
                  </a:gs>
                  <a:gs pos="100000">
                    <a:schemeClr val="tx1">
                      <a:alpha val="21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685800">
                  <a:defRPr/>
                </a:pPr>
                <a:endParaRPr lang="en-GB" sz="1350" dirty="0">
                  <a:solidFill>
                    <a:srgbClr val="000000"/>
                  </a:solidFill>
                  <a:latin typeface="Georgia"/>
                </a:endParaRPr>
              </a:p>
            </p:txBody>
          </p:sp>
        </p:grp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B1EAA0F-9668-4551-88D9-F5DFE7E44AC3}"/>
              </a:ext>
            </a:extLst>
          </p:cNvPr>
          <p:cNvCxnSpPr>
            <a:cxnSpLocks/>
          </p:cNvCxnSpPr>
          <p:nvPr/>
        </p:nvCxnSpPr>
        <p:spPr>
          <a:xfrm>
            <a:off x="3194824" y="2964347"/>
            <a:ext cx="553271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5F3AD3F-AF1B-483C-A7E8-8FB7A1AB17A9}"/>
              </a:ext>
            </a:extLst>
          </p:cNvPr>
          <p:cNvCxnSpPr>
            <a:cxnSpLocks/>
          </p:cNvCxnSpPr>
          <p:nvPr/>
        </p:nvCxnSpPr>
        <p:spPr>
          <a:xfrm>
            <a:off x="3194824" y="3903293"/>
            <a:ext cx="553271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C25E0A7-F6FE-44D9-99C7-933B979269D8}"/>
              </a:ext>
            </a:extLst>
          </p:cNvPr>
          <p:cNvCxnSpPr>
            <a:cxnSpLocks/>
          </p:cNvCxnSpPr>
          <p:nvPr/>
        </p:nvCxnSpPr>
        <p:spPr>
          <a:xfrm>
            <a:off x="3194824" y="4641155"/>
            <a:ext cx="553271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ounded Rectangle 52">
            <a:extLst>
              <a:ext uri="{FF2B5EF4-FFF2-40B4-BE49-F238E27FC236}">
                <a16:creationId xmlns:a16="http://schemas.microsoft.com/office/drawing/2014/main" id="{EF76E259-368F-4844-9484-D5178761BD89}"/>
              </a:ext>
            </a:extLst>
          </p:cNvPr>
          <p:cNvSpPr/>
          <p:nvPr/>
        </p:nvSpPr>
        <p:spPr>
          <a:xfrm rot="16200000" flipH="1">
            <a:off x="1423679" y="2087870"/>
            <a:ext cx="850392" cy="2691900"/>
          </a:xfrm>
          <a:prstGeom prst="round2SameRect">
            <a:avLst>
              <a:gd name="adj1" fmla="val 9923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IN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617C4C9-51AF-45C2-AF69-0CD64E9E72F1}"/>
              </a:ext>
            </a:extLst>
          </p:cNvPr>
          <p:cNvSpPr/>
          <p:nvPr/>
        </p:nvSpPr>
        <p:spPr>
          <a:xfrm>
            <a:off x="3745239" y="3293710"/>
            <a:ext cx="280219" cy="2802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FEFD0B9-2974-4717-A4E0-A0CFA147E4B3}"/>
              </a:ext>
            </a:extLst>
          </p:cNvPr>
          <p:cNvSpPr/>
          <p:nvPr/>
        </p:nvSpPr>
        <p:spPr>
          <a:xfrm>
            <a:off x="5131147" y="3293710"/>
            <a:ext cx="280219" cy="2802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39CB756-51C1-4DC7-9AAC-1016491D2BBD}"/>
              </a:ext>
            </a:extLst>
          </p:cNvPr>
          <p:cNvSpPr/>
          <p:nvPr/>
        </p:nvSpPr>
        <p:spPr>
          <a:xfrm>
            <a:off x="6517055" y="3293710"/>
            <a:ext cx="280219" cy="2802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4025AC78-BAB4-4AFF-8F49-5D45CFC085C0}"/>
              </a:ext>
            </a:extLst>
          </p:cNvPr>
          <p:cNvSpPr/>
          <p:nvPr/>
        </p:nvSpPr>
        <p:spPr>
          <a:xfrm>
            <a:off x="7902963" y="3293710"/>
            <a:ext cx="280219" cy="2802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4BBD0F-C7A8-4A05-8BD9-2597E37CC972}"/>
              </a:ext>
            </a:extLst>
          </p:cNvPr>
          <p:cNvSpPr txBox="1"/>
          <p:nvPr/>
        </p:nvSpPr>
        <p:spPr>
          <a:xfrm>
            <a:off x="1074420" y="3058716"/>
            <a:ext cx="1983106" cy="7502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00">
              <a:defRPr/>
            </a:pPr>
            <a:r>
              <a:rPr lang="en-US" sz="975" b="1" dirty="0">
                <a:solidFill>
                  <a:prstClr val="white"/>
                </a:solidFill>
                <a:latin typeface="Georgia" panose="02040502050405020303" pitchFamily="18" charset="0"/>
              </a:rPr>
              <a:t>Incentives payout </a:t>
            </a:r>
            <a: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  <a:t>(within </a:t>
            </a:r>
            <a:b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</a:br>
            <a: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  <a:t>60 days after previous QRT end or </a:t>
            </a:r>
            <a:b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</a:br>
            <a: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  <a:t>not later than after 30 days from </a:t>
            </a:r>
            <a:b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</a:br>
            <a: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  <a:t>In-Market data for previous QRT</a:t>
            </a:r>
            <a:b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</a:br>
            <a: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  <a:t>became available)</a:t>
            </a:r>
          </a:p>
        </p:txBody>
      </p:sp>
      <p:pic>
        <p:nvPicPr>
          <p:cNvPr id="75" name="Graphic 74">
            <a:extLst>
              <a:ext uri="{FF2B5EF4-FFF2-40B4-BE49-F238E27FC236}">
                <a16:creationId xmlns:a16="http://schemas.microsoft.com/office/drawing/2014/main" id="{91824B0C-B601-48B0-AC6B-9B845BBAB88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2449" y="3271357"/>
            <a:ext cx="392375" cy="324923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3BAE53B-796B-438B-AD36-9C01963A2BE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77" y="4138716"/>
            <a:ext cx="281718" cy="303514"/>
          </a:xfrm>
          <a:prstGeom prst="rect">
            <a:avLst/>
          </a:prstGeom>
        </p:spPr>
      </p:pic>
      <p:sp>
        <p:nvSpPr>
          <p:cNvPr id="115" name="Rounded Rectangle 52">
            <a:extLst>
              <a:ext uri="{FF2B5EF4-FFF2-40B4-BE49-F238E27FC236}">
                <a16:creationId xmlns:a16="http://schemas.microsoft.com/office/drawing/2014/main" id="{076AB109-4E97-4D1E-A522-CBBF75A4B0E3}"/>
              </a:ext>
            </a:extLst>
          </p:cNvPr>
          <p:cNvSpPr/>
          <p:nvPr/>
        </p:nvSpPr>
        <p:spPr>
          <a:xfrm rot="16200000" flipH="1">
            <a:off x="1505972" y="1231220"/>
            <a:ext cx="685800" cy="2691900"/>
          </a:xfrm>
          <a:prstGeom prst="round2SameRect">
            <a:avLst>
              <a:gd name="adj1" fmla="val 9923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IN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92A2C7D-2B16-49EB-AD0E-BC74F5245E73}"/>
              </a:ext>
            </a:extLst>
          </p:cNvPr>
          <p:cNvSpPr/>
          <p:nvPr/>
        </p:nvSpPr>
        <p:spPr>
          <a:xfrm>
            <a:off x="3283270" y="2437060"/>
            <a:ext cx="280219" cy="28021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A3C58A9-2D8B-4EB8-B3C7-D8290C542E8F}"/>
              </a:ext>
            </a:extLst>
          </p:cNvPr>
          <p:cNvSpPr/>
          <p:nvPr/>
        </p:nvSpPr>
        <p:spPr>
          <a:xfrm>
            <a:off x="4669178" y="2437060"/>
            <a:ext cx="280219" cy="28021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4F17F717-23A9-46A0-9631-12E19FA925D5}"/>
              </a:ext>
            </a:extLst>
          </p:cNvPr>
          <p:cNvSpPr/>
          <p:nvPr/>
        </p:nvSpPr>
        <p:spPr>
          <a:xfrm>
            <a:off x="6055086" y="2437060"/>
            <a:ext cx="280219" cy="28021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00A9041A-2697-4C07-A8C1-2E630D069246}"/>
              </a:ext>
            </a:extLst>
          </p:cNvPr>
          <p:cNvSpPr/>
          <p:nvPr/>
        </p:nvSpPr>
        <p:spPr>
          <a:xfrm>
            <a:off x="7440993" y="2437060"/>
            <a:ext cx="280219" cy="28021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D4CA2C-F264-4C4C-847C-B6049A54BC81}"/>
              </a:ext>
            </a:extLst>
          </p:cNvPr>
          <p:cNvSpPr txBox="1"/>
          <p:nvPr/>
        </p:nvSpPr>
        <p:spPr>
          <a:xfrm>
            <a:off x="1074419" y="2352108"/>
            <a:ext cx="1983105" cy="4501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00">
              <a:defRPr/>
            </a:pPr>
            <a:r>
              <a:rPr lang="en-US" sz="975" b="1" dirty="0">
                <a:solidFill>
                  <a:prstClr val="white"/>
                </a:solidFill>
                <a:latin typeface="Georgia" panose="02040502050405020303" pitchFamily="18" charset="0"/>
              </a:rPr>
              <a:t>Sales &amp; SFE KPIs performance IC evaluation </a:t>
            </a:r>
            <a: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  <a:t>(by the end of the month following previous QRT)</a:t>
            </a:r>
          </a:p>
        </p:txBody>
      </p:sp>
      <p:grpSp>
        <p:nvGrpSpPr>
          <p:cNvPr id="77" name="Group 60">
            <a:extLst>
              <a:ext uri="{FF2B5EF4-FFF2-40B4-BE49-F238E27FC236}">
                <a16:creationId xmlns:a16="http://schemas.microsoft.com/office/drawing/2014/main" id="{4452D540-BE8C-4A74-872E-A2368857EFC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3356" y="2422051"/>
            <a:ext cx="367313" cy="310236"/>
            <a:chOff x="960" y="-2"/>
            <a:chExt cx="3842" cy="3245"/>
          </a:xfrm>
          <a:solidFill>
            <a:schemeClr val="bg1"/>
          </a:solidFill>
        </p:grpSpPr>
        <p:sp>
          <p:nvSpPr>
            <p:cNvPr id="78" name="Freeform 61">
              <a:extLst>
                <a:ext uri="{FF2B5EF4-FFF2-40B4-BE49-F238E27FC236}">
                  <a16:creationId xmlns:a16="http://schemas.microsoft.com/office/drawing/2014/main" id="{FD87AABB-7DAC-496E-BAFC-A50512B60D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0" y="1488"/>
              <a:ext cx="2546" cy="1755"/>
            </a:xfrm>
            <a:custGeom>
              <a:avLst/>
              <a:gdLst>
                <a:gd name="T0" fmla="*/ 1493 w 1547"/>
                <a:gd name="T1" fmla="*/ 370 h 1084"/>
                <a:gd name="T2" fmla="*/ 1493 w 1547"/>
                <a:gd name="T3" fmla="*/ 540 h 1084"/>
                <a:gd name="T4" fmla="*/ 1530 w 1547"/>
                <a:gd name="T5" fmla="*/ 797 h 1084"/>
                <a:gd name="T6" fmla="*/ 1528 w 1547"/>
                <a:gd name="T7" fmla="*/ 990 h 1084"/>
                <a:gd name="T8" fmla="*/ 1074 w 1547"/>
                <a:gd name="T9" fmla="*/ 1083 h 1084"/>
                <a:gd name="T10" fmla="*/ 801 w 1547"/>
                <a:gd name="T11" fmla="*/ 1016 h 1084"/>
                <a:gd name="T12" fmla="*/ 798 w 1547"/>
                <a:gd name="T13" fmla="*/ 856 h 1084"/>
                <a:gd name="T14" fmla="*/ 746 w 1547"/>
                <a:gd name="T15" fmla="*/ 1002 h 1084"/>
                <a:gd name="T16" fmla="*/ 118 w 1547"/>
                <a:gd name="T17" fmla="*/ 1078 h 1084"/>
                <a:gd name="T18" fmla="*/ 36 w 1547"/>
                <a:gd name="T19" fmla="*/ 895 h 1084"/>
                <a:gd name="T20" fmla="*/ 50 w 1547"/>
                <a:gd name="T21" fmla="*/ 711 h 1084"/>
                <a:gd name="T22" fmla="*/ 126 w 1547"/>
                <a:gd name="T23" fmla="*/ 513 h 1084"/>
                <a:gd name="T24" fmla="*/ 454 w 1547"/>
                <a:gd name="T25" fmla="*/ 513 h 1084"/>
                <a:gd name="T26" fmla="*/ 791 w 1547"/>
                <a:gd name="T27" fmla="*/ 225 h 1084"/>
                <a:gd name="T28" fmla="*/ 793 w 1547"/>
                <a:gd name="T29" fmla="*/ 99 h 1084"/>
                <a:gd name="T30" fmla="*/ 1030 w 1547"/>
                <a:gd name="T31" fmla="*/ 0 h 1084"/>
                <a:gd name="T32" fmla="*/ 1519 w 1547"/>
                <a:gd name="T33" fmla="*/ 64 h 1084"/>
                <a:gd name="T34" fmla="*/ 1494 w 1547"/>
                <a:gd name="T35" fmla="*/ 200 h 1084"/>
                <a:gd name="T36" fmla="*/ 512 w 1547"/>
                <a:gd name="T37" fmla="*/ 539 h 1084"/>
                <a:gd name="T38" fmla="*/ 1031 w 1547"/>
                <a:gd name="T39" fmla="*/ 539 h 1084"/>
                <a:gd name="T40" fmla="*/ 1160 w 1547"/>
                <a:gd name="T41" fmla="*/ 913 h 1084"/>
                <a:gd name="T42" fmla="*/ 848 w 1547"/>
                <a:gd name="T43" fmla="*/ 970 h 1084"/>
                <a:gd name="T44" fmla="*/ 1420 w 1547"/>
                <a:gd name="T45" fmla="*/ 1027 h 1084"/>
                <a:gd name="T46" fmla="*/ 1468 w 1547"/>
                <a:gd name="T47" fmla="*/ 943 h 1084"/>
                <a:gd name="T48" fmla="*/ 1160 w 1547"/>
                <a:gd name="T49" fmla="*/ 913 h 1084"/>
                <a:gd name="T50" fmla="*/ 1417 w 1547"/>
                <a:gd name="T51" fmla="*/ 170 h 1084"/>
                <a:gd name="T52" fmla="*/ 1418 w 1547"/>
                <a:gd name="T53" fmla="*/ 57 h 1084"/>
                <a:gd name="T54" fmla="*/ 864 w 1547"/>
                <a:gd name="T55" fmla="*/ 74 h 1084"/>
                <a:gd name="T56" fmla="*/ 903 w 1547"/>
                <a:gd name="T57" fmla="*/ 170 h 1084"/>
                <a:gd name="T58" fmla="*/ 381 w 1547"/>
                <a:gd name="T59" fmla="*/ 1022 h 1084"/>
                <a:gd name="T60" fmla="*/ 644 w 1547"/>
                <a:gd name="T61" fmla="*/ 1022 h 1084"/>
                <a:gd name="T62" fmla="*/ 641 w 1547"/>
                <a:gd name="T63" fmla="*/ 910 h 1084"/>
                <a:gd name="T64" fmla="*/ 80 w 1547"/>
                <a:gd name="T65" fmla="*/ 930 h 1084"/>
                <a:gd name="T66" fmla="*/ 125 w 1547"/>
                <a:gd name="T67" fmla="*/ 1022 h 1084"/>
                <a:gd name="T68" fmla="*/ 672 w 1547"/>
                <a:gd name="T69" fmla="*/ 845 h 1084"/>
                <a:gd name="T70" fmla="*/ 540 w 1547"/>
                <a:gd name="T71" fmla="*/ 754 h 1084"/>
                <a:gd name="T72" fmla="*/ 140 w 1547"/>
                <a:gd name="T73" fmla="*/ 740 h 1084"/>
                <a:gd name="T74" fmla="*/ 70 w 1547"/>
                <a:gd name="T75" fmla="*/ 803 h 1084"/>
                <a:gd name="T76" fmla="*/ 640 w 1547"/>
                <a:gd name="T77" fmla="*/ 852 h 1084"/>
                <a:gd name="T78" fmla="*/ 873 w 1547"/>
                <a:gd name="T79" fmla="*/ 234 h 1084"/>
                <a:gd name="T80" fmla="*/ 1011 w 1547"/>
                <a:gd name="T81" fmla="*/ 334 h 1084"/>
                <a:gd name="T82" fmla="*/ 1410 w 1547"/>
                <a:gd name="T83" fmla="*/ 341 h 1084"/>
                <a:gd name="T84" fmla="*/ 1410 w 1547"/>
                <a:gd name="T85" fmla="*/ 227 h 1084"/>
                <a:gd name="T86" fmla="*/ 873 w 1547"/>
                <a:gd name="T87" fmla="*/ 234 h 1084"/>
                <a:gd name="T88" fmla="*/ 871 w 1547"/>
                <a:gd name="T89" fmla="*/ 846 h 1084"/>
                <a:gd name="T90" fmla="*/ 1410 w 1547"/>
                <a:gd name="T91" fmla="*/ 854 h 1084"/>
                <a:gd name="T92" fmla="*/ 1410 w 1547"/>
                <a:gd name="T93" fmla="*/ 740 h 1084"/>
                <a:gd name="T94" fmla="*/ 1012 w 1547"/>
                <a:gd name="T95" fmla="*/ 745 h 1084"/>
                <a:gd name="T96" fmla="*/ 1090 w 1547"/>
                <a:gd name="T97" fmla="*/ 512 h 1084"/>
                <a:gd name="T98" fmla="*/ 1469 w 1547"/>
                <a:gd name="T99" fmla="*/ 477 h 1084"/>
                <a:gd name="T100" fmla="*/ 1067 w 1547"/>
                <a:gd name="T101" fmla="*/ 398 h 1084"/>
                <a:gd name="T102" fmla="*/ 1090 w 1547"/>
                <a:gd name="T103" fmla="*/ 512 h 1084"/>
                <a:gd name="T104" fmla="*/ 454 w 1547"/>
                <a:gd name="T105" fmla="*/ 570 h 1084"/>
                <a:gd name="T106" fmla="*/ 70 w 1547"/>
                <a:gd name="T107" fmla="*/ 621 h 1084"/>
                <a:gd name="T108" fmla="*/ 476 w 1547"/>
                <a:gd name="T109" fmla="*/ 683 h 1084"/>
                <a:gd name="T110" fmla="*/ 453 w 1547"/>
                <a:gd name="T111" fmla="*/ 569 h 1084"/>
                <a:gd name="T112" fmla="*/ 1062 w 1547"/>
                <a:gd name="T113" fmla="*/ 683 h 1084"/>
                <a:gd name="T114" fmla="*/ 1452 w 1547"/>
                <a:gd name="T115" fmla="*/ 669 h 1084"/>
                <a:gd name="T116" fmla="*/ 1416 w 1547"/>
                <a:gd name="T117" fmla="*/ 569 h 1084"/>
                <a:gd name="T118" fmla="*/ 1090 w 1547"/>
                <a:gd name="T119" fmla="*/ 570 h 1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47" h="1084">
                  <a:moveTo>
                    <a:pt x="1494" y="200"/>
                  </a:moveTo>
                  <a:cubicBezTo>
                    <a:pt x="1543" y="260"/>
                    <a:pt x="1542" y="309"/>
                    <a:pt x="1493" y="370"/>
                  </a:cubicBezTo>
                  <a:cubicBezTo>
                    <a:pt x="1515" y="393"/>
                    <a:pt x="1530" y="421"/>
                    <a:pt x="1530" y="455"/>
                  </a:cubicBezTo>
                  <a:cubicBezTo>
                    <a:pt x="1530" y="488"/>
                    <a:pt x="1516" y="516"/>
                    <a:pt x="1493" y="540"/>
                  </a:cubicBezTo>
                  <a:cubicBezTo>
                    <a:pt x="1547" y="601"/>
                    <a:pt x="1537" y="664"/>
                    <a:pt x="1493" y="712"/>
                  </a:cubicBezTo>
                  <a:cubicBezTo>
                    <a:pt x="1515" y="735"/>
                    <a:pt x="1530" y="763"/>
                    <a:pt x="1530" y="797"/>
                  </a:cubicBezTo>
                  <a:cubicBezTo>
                    <a:pt x="1530" y="831"/>
                    <a:pt x="1515" y="858"/>
                    <a:pt x="1492" y="883"/>
                  </a:cubicBezTo>
                  <a:cubicBezTo>
                    <a:pt x="1523" y="913"/>
                    <a:pt x="1535" y="949"/>
                    <a:pt x="1528" y="990"/>
                  </a:cubicBezTo>
                  <a:cubicBezTo>
                    <a:pt x="1520" y="1046"/>
                    <a:pt x="1475" y="1083"/>
                    <a:pt x="1415" y="1083"/>
                  </a:cubicBezTo>
                  <a:cubicBezTo>
                    <a:pt x="1301" y="1083"/>
                    <a:pt x="1187" y="1083"/>
                    <a:pt x="1074" y="1083"/>
                  </a:cubicBezTo>
                  <a:cubicBezTo>
                    <a:pt x="1021" y="1083"/>
                    <a:pt x="968" y="1082"/>
                    <a:pt x="916" y="1083"/>
                  </a:cubicBezTo>
                  <a:cubicBezTo>
                    <a:pt x="863" y="1084"/>
                    <a:pt x="822" y="1066"/>
                    <a:pt x="801" y="1016"/>
                  </a:cubicBezTo>
                  <a:cubicBezTo>
                    <a:pt x="781" y="968"/>
                    <a:pt x="790" y="923"/>
                    <a:pt x="831" y="881"/>
                  </a:cubicBezTo>
                  <a:cubicBezTo>
                    <a:pt x="820" y="872"/>
                    <a:pt x="808" y="855"/>
                    <a:pt x="798" y="856"/>
                  </a:cubicBezTo>
                  <a:cubicBezTo>
                    <a:pt x="770" y="858"/>
                    <a:pt x="733" y="838"/>
                    <a:pt x="717" y="882"/>
                  </a:cubicBezTo>
                  <a:cubicBezTo>
                    <a:pt x="750" y="915"/>
                    <a:pt x="759" y="956"/>
                    <a:pt x="746" y="1002"/>
                  </a:cubicBezTo>
                  <a:cubicBezTo>
                    <a:pt x="733" y="1046"/>
                    <a:pt x="692" y="1078"/>
                    <a:pt x="646" y="1078"/>
                  </a:cubicBezTo>
                  <a:cubicBezTo>
                    <a:pt x="470" y="1079"/>
                    <a:pt x="294" y="1079"/>
                    <a:pt x="118" y="1078"/>
                  </a:cubicBezTo>
                  <a:cubicBezTo>
                    <a:pt x="75" y="1078"/>
                    <a:pt x="42" y="1055"/>
                    <a:pt x="24" y="1016"/>
                  </a:cubicBezTo>
                  <a:cubicBezTo>
                    <a:pt x="5" y="974"/>
                    <a:pt x="9" y="932"/>
                    <a:pt x="36" y="895"/>
                  </a:cubicBezTo>
                  <a:cubicBezTo>
                    <a:pt x="40" y="890"/>
                    <a:pt x="44" y="885"/>
                    <a:pt x="48" y="881"/>
                  </a:cubicBezTo>
                  <a:cubicBezTo>
                    <a:pt x="0" y="814"/>
                    <a:pt x="1" y="770"/>
                    <a:pt x="50" y="711"/>
                  </a:cubicBezTo>
                  <a:cubicBezTo>
                    <a:pt x="30" y="690"/>
                    <a:pt x="15" y="665"/>
                    <a:pt x="13" y="634"/>
                  </a:cubicBezTo>
                  <a:cubicBezTo>
                    <a:pt x="10" y="567"/>
                    <a:pt x="58" y="514"/>
                    <a:pt x="126" y="513"/>
                  </a:cubicBezTo>
                  <a:cubicBezTo>
                    <a:pt x="228" y="512"/>
                    <a:pt x="330" y="513"/>
                    <a:pt x="432" y="513"/>
                  </a:cubicBezTo>
                  <a:cubicBezTo>
                    <a:pt x="439" y="513"/>
                    <a:pt x="447" y="513"/>
                    <a:pt x="454" y="513"/>
                  </a:cubicBezTo>
                  <a:cubicBezTo>
                    <a:pt x="461" y="485"/>
                    <a:pt x="465" y="458"/>
                    <a:pt x="474" y="434"/>
                  </a:cubicBezTo>
                  <a:cubicBezTo>
                    <a:pt x="520" y="301"/>
                    <a:pt x="651" y="215"/>
                    <a:pt x="791" y="225"/>
                  </a:cubicBezTo>
                  <a:cubicBezTo>
                    <a:pt x="813" y="227"/>
                    <a:pt x="816" y="210"/>
                    <a:pt x="829" y="200"/>
                  </a:cubicBezTo>
                  <a:cubicBezTo>
                    <a:pt x="800" y="172"/>
                    <a:pt x="788" y="138"/>
                    <a:pt x="793" y="99"/>
                  </a:cubicBezTo>
                  <a:cubicBezTo>
                    <a:pt x="799" y="43"/>
                    <a:pt x="842" y="2"/>
                    <a:pt x="899" y="1"/>
                  </a:cubicBezTo>
                  <a:cubicBezTo>
                    <a:pt x="942" y="0"/>
                    <a:pt x="986" y="0"/>
                    <a:pt x="1030" y="0"/>
                  </a:cubicBezTo>
                  <a:cubicBezTo>
                    <a:pt x="1155" y="0"/>
                    <a:pt x="1280" y="1"/>
                    <a:pt x="1404" y="0"/>
                  </a:cubicBezTo>
                  <a:cubicBezTo>
                    <a:pt x="1456" y="0"/>
                    <a:pt x="1497" y="16"/>
                    <a:pt x="1519" y="64"/>
                  </a:cubicBezTo>
                  <a:cubicBezTo>
                    <a:pt x="1541" y="112"/>
                    <a:pt x="1533" y="157"/>
                    <a:pt x="1496" y="197"/>
                  </a:cubicBezTo>
                  <a:cubicBezTo>
                    <a:pt x="1495" y="197"/>
                    <a:pt x="1495" y="199"/>
                    <a:pt x="1494" y="200"/>
                  </a:cubicBezTo>
                  <a:close/>
                  <a:moveTo>
                    <a:pt x="771" y="280"/>
                  </a:moveTo>
                  <a:cubicBezTo>
                    <a:pt x="628" y="280"/>
                    <a:pt x="512" y="396"/>
                    <a:pt x="512" y="539"/>
                  </a:cubicBezTo>
                  <a:cubicBezTo>
                    <a:pt x="511" y="683"/>
                    <a:pt x="628" y="799"/>
                    <a:pt x="772" y="799"/>
                  </a:cubicBezTo>
                  <a:cubicBezTo>
                    <a:pt x="916" y="798"/>
                    <a:pt x="1031" y="682"/>
                    <a:pt x="1031" y="539"/>
                  </a:cubicBezTo>
                  <a:cubicBezTo>
                    <a:pt x="1030" y="395"/>
                    <a:pt x="914" y="280"/>
                    <a:pt x="771" y="280"/>
                  </a:cubicBezTo>
                  <a:close/>
                  <a:moveTo>
                    <a:pt x="1160" y="913"/>
                  </a:moveTo>
                  <a:cubicBezTo>
                    <a:pt x="1074" y="913"/>
                    <a:pt x="989" y="913"/>
                    <a:pt x="904" y="913"/>
                  </a:cubicBezTo>
                  <a:cubicBezTo>
                    <a:pt x="870" y="913"/>
                    <a:pt x="848" y="936"/>
                    <a:pt x="848" y="970"/>
                  </a:cubicBezTo>
                  <a:cubicBezTo>
                    <a:pt x="848" y="1003"/>
                    <a:pt x="869" y="1026"/>
                    <a:pt x="902" y="1026"/>
                  </a:cubicBezTo>
                  <a:cubicBezTo>
                    <a:pt x="1075" y="1027"/>
                    <a:pt x="1247" y="1027"/>
                    <a:pt x="1420" y="1027"/>
                  </a:cubicBezTo>
                  <a:cubicBezTo>
                    <a:pt x="1438" y="1027"/>
                    <a:pt x="1453" y="1019"/>
                    <a:pt x="1464" y="1004"/>
                  </a:cubicBezTo>
                  <a:cubicBezTo>
                    <a:pt x="1477" y="984"/>
                    <a:pt x="1478" y="963"/>
                    <a:pt x="1468" y="943"/>
                  </a:cubicBezTo>
                  <a:cubicBezTo>
                    <a:pt x="1458" y="922"/>
                    <a:pt x="1440" y="913"/>
                    <a:pt x="1418" y="913"/>
                  </a:cubicBezTo>
                  <a:cubicBezTo>
                    <a:pt x="1332" y="913"/>
                    <a:pt x="1246" y="913"/>
                    <a:pt x="1160" y="913"/>
                  </a:cubicBezTo>
                  <a:close/>
                  <a:moveTo>
                    <a:pt x="1159" y="170"/>
                  </a:moveTo>
                  <a:cubicBezTo>
                    <a:pt x="1245" y="170"/>
                    <a:pt x="1331" y="171"/>
                    <a:pt x="1417" y="170"/>
                  </a:cubicBezTo>
                  <a:cubicBezTo>
                    <a:pt x="1451" y="170"/>
                    <a:pt x="1474" y="148"/>
                    <a:pt x="1474" y="114"/>
                  </a:cubicBezTo>
                  <a:cubicBezTo>
                    <a:pt x="1474" y="80"/>
                    <a:pt x="1452" y="57"/>
                    <a:pt x="1418" y="57"/>
                  </a:cubicBezTo>
                  <a:cubicBezTo>
                    <a:pt x="1246" y="57"/>
                    <a:pt x="1074" y="57"/>
                    <a:pt x="903" y="58"/>
                  </a:cubicBezTo>
                  <a:cubicBezTo>
                    <a:pt x="889" y="58"/>
                    <a:pt x="874" y="65"/>
                    <a:pt x="864" y="74"/>
                  </a:cubicBezTo>
                  <a:cubicBezTo>
                    <a:pt x="844" y="90"/>
                    <a:pt x="844" y="114"/>
                    <a:pt x="852" y="137"/>
                  </a:cubicBezTo>
                  <a:cubicBezTo>
                    <a:pt x="859" y="158"/>
                    <a:pt x="879" y="170"/>
                    <a:pt x="903" y="170"/>
                  </a:cubicBezTo>
                  <a:cubicBezTo>
                    <a:pt x="989" y="171"/>
                    <a:pt x="1074" y="170"/>
                    <a:pt x="1159" y="170"/>
                  </a:cubicBezTo>
                  <a:close/>
                  <a:moveTo>
                    <a:pt x="381" y="1022"/>
                  </a:moveTo>
                  <a:cubicBezTo>
                    <a:pt x="421" y="1022"/>
                    <a:pt x="462" y="1022"/>
                    <a:pt x="502" y="1022"/>
                  </a:cubicBezTo>
                  <a:cubicBezTo>
                    <a:pt x="550" y="1022"/>
                    <a:pt x="597" y="1023"/>
                    <a:pt x="644" y="1022"/>
                  </a:cubicBezTo>
                  <a:cubicBezTo>
                    <a:pt x="676" y="1021"/>
                    <a:pt x="696" y="996"/>
                    <a:pt x="694" y="962"/>
                  </a:cubicBezTo>
                  <a:cubicBezTo>
                    <a:pt x="693" y="931"/>
                    <a:pt x="672" y="910"/>
                    <a:pt x="641" y="910"/>
                  </a:cubicBezTo>
                  <a:cubicBezTo>
                    <a:pt x="469" y="910"/>
                    <a:pt x="296" y="910"/>
                    <a:pt x="124" y="910"/>
                  </a:cubicBezTo>
                  <a:cubicBezTo>
                    <a:pt x="105" y="910"/>
                    <a:pt x="91" y="916"/>
                    <a:pt x="80" y="930"/>
                  </a:cubicBezTo>
                  <a:cubicBezTo>
                    <a:pt x="66" y="949"/>
                    <a:pt x="65" y="971"/>
                    <a:pt x="75" y="992"/>
                  </a:cubicBezTo>
                  <a:cubicBezTo>
                    <a:pt x="84" y="1013"/>
                    <a:pt x="102" y="1022"/>
                    <a:pt x="125" y="1022"/>
                  </a:cubicBezTo>
                  <a:cubicBezTo>
                    <a:pt x="210" y="1022"/>
                    <a:pt x="295" y="1022"/>
                    <a:pt x="381" y="1022"/>
                  </a:cubicBezTo>
                  <a:close/>
                  <a:moveTo>
                    <a:pt x="672" y="845"/>
                  </a:moveTo>
                  <a:cubicBezTo>
                    <a:pt x="671" y="843"/>
                    <a:pt x="671" y="841"/>
                    <a:pt x="670" y="839"/>
                  </a:cubicBezTo>
                  <a:cubicBezTo>
                    <a:pt x="620" y="821"/>
                    <a:pt x="576" y="794"/>
                    <a:pt x="540" y="754"/>
                  </a:cubicBezTo>
                  <a:cubicBezTo>
                    <a:pt x="531" y="743"/>
                    <a:pt x="521" y="739"/>
                    <a:pt x="507" y="739"/>
                  </a:cubicBezTo>
                  <a:cubicBezTo>
                    <a:pt x="385" y="740"/>
                    <a:pt x="262" y="740"/>
                    <a:pt x="140" y="740"/>
                  </a:cubicBezTo>
                  <a:cubicBezTo>
                    <a:pt x="131" y="740"/>
                    <a:pt x="121" y="740"/>
                    <a:pt x="112" y="742"/>
                  </a:cubicBezTo>
                  <a:cubicBezTo>
                    <a:pt x="85" y="748"/>
                    <a:pt x="67" y="774"/>
                    <a:pt x="70" y="803"/>
                  </a:cubicBezTo>
                  <a:cubicBezTo>
                    <a:pt x="72" y="831"/>
                    <a:pt x="95" y="852"/>
                    <a:pt x="123" y="853"/>
                  </a:cubicBezTo>
                  <a:cubicBezTo>
                    <a:pt x="296" y="853"/>
                    <a:pt x="468" y="853"/>
                    <a:pt x="640" y="852"/>
                  </a:cubicBezTo>
                  <a:cubicBezTo>
                    <a:pt x="651" y="852"/>
                    <a:pt x="661" y="848"/>
                    <a:pt x="672" y="845"/>
                  </a:cubicBezTo>
                  <a:close/>
                  <a:moveTo>
                    <a:pt x="873" y="234"/>
                  </a:moveTo>
                  <a:cubicBezTo>
                    <a:pt x="873" y="236"/>
                    <a:pt x="873" y="239"/>
                    <a:pt x="874" y="241"/>
                  </a:cubicBezTo>
                  <a:cubicBezTo>
                    <a:pt x="927" y="260"/>
                    <a:pt x="973" y="291"/>
                    <a:pt x="1011" y="334"/>
                  </a:cubicBezTo>
                  <a:cubicBezTo>
                    <a:pt x="1016" y="338"/>
                    <a:pt x="1025" y="341"/>
                    <a:pt x="1032" y="341"/>
                  </a:cubicBezTo>
                  <a:cubicBezTo>
                    <a:pt x="1158" y="342"/>
                    <a:pt x="1284" y="342"/>
                    <a:pt x="1410" y="341"/>
                  </a:cubicBezTo>
                  <a:cubicBezTo>
                    <a:pt x="1447" y="341"/>
                    <a:pt x="1473" y="318"/>
                    <a:pt x="1473" y="284"/>
                  </a:cubicBezTo>
                  <a:cubicBezTo>
                    <a:pt x="1473" y="251"/>
                    <a:pt x="1447" y="227"/>
                    <a:pt x="1410" y="227"/>
                  </a:cubicBezTo>
                  <a:cubicBezTo>
                    <a:pt x="1243" y="227"/>
                    <a:pt x="1077" y="226"/>
                    <a:pt x="910" y="227"/>
                  </a:cubicBezTo>
                  <a:cubicBezTo>
                    <a:pt x="898" y="227"/>
                    <a:pt x="885" y="232"/>
                    <a:pt x="873" y="234"/>
                  </a:cubicBezTo>
                  <a:close/>
                  <a:moveTo>
                    <a:pt x="872" y="840"/>
                  </a:moveTo>
                  <a:cubicBezTo>
                    <a:pt x="872" y="842"/>
                    <a:pt x="872" y="844"/>
                    <a:pt x="871" y="846"/>
                  </a:cubicBezTo>
                  <a:cubicBezTo>
                    <a:pt x="884" y="848"/>
                    <a:pt x="897" y="853"/>
                    <a:pt x="910" y="853"/>
                  </a:cubicBezTo>
                  <a:cubicBezTo>
                    <a:pt x="1077" y="854"/>
                    <a:pt x="1243" y="854"/>
                    <a:pt x="1410" y="854"/>
                  </a:cubicBezTo>
                  <a:cubicBezTo>
                    <a:pt x="1447" y="854"/>
                    <a:pt x="1473" y="830"/>
                    <a:pt x="1473" y="797"/>
                  </a:cubicBezTo>
                  <a:cubicBezTo>
                    <a:pt x="1473" y="764"/>
                    <a:pt x="1448" y="740"/>
                    <a:pt x="1410" y="740"/>
                  </a:cubicBezTo>
                  <a:cubicBezTo>
                    <a:pt x="1284" y="739"/>
                    <a:pt x="1157" y="740"/>
                    <a:pt x="1030" y="740"/>
                  </a:cubicBezTo>
                  <a:cubicBezTo>
                    <a:pt x="1024" y="740"/>
                    <a:pt x="1016" y="741"/>
                    <a:pt x="1012" y="745"/>
                  </a:cubicBezTo>
                  <a:cubicBezTo>
                    <a:pt x="974" y="789"/>
                    <a:pt x="927" y="820"/>
                    <a:pt x="872" y="840"/>
                  </a:cubicBezTo>
                  <a:close/>
                  <a:moveTo>
                    <a:pt x="1090" y="512"/>
                  </a:moveTo>
                  <a:cubicBezTo>
                    <a:pt x="1199" y="512"/>
                    <a:pt x="1310" y="512"/>
                    <a:pt x="1422" y="511"/>
                  </a:cubicBezTo>
                  <a:cubicBezTo>
                    <a:pt x="1444" y="511"/>
                    <a:pt x="1460" y="498"/>
                    <a:pt x="1469" y="477"/>
                  </a:cubicBezTo>
                  <a:cubicBezTo>
                    <a:pt x="1486" y="438"/>
                    <a:pt x="1457" y="398"/>
                    <a:pt x="1413" y="398"/>
                  </a:cubicBezTo>
                  <a:cubicBezTo>
                    <a:pt x="1298" y="398"/>
                    <a:pt x="1182" y="398"/>
                    <a:pt x="1067" y="398"/>
                  </a:cubicBezTo>
                  <a:cubicBezTo>
                    <a:pt x="1064" y="398"/>
                    <a:pt x="1060" y="398"/>
                    <a:pt x="1058" y="399"/>
                  </a:cubicBezTo>
                  <a:cubicBezTo>
                    <a:pt x="1069" y="436"/>
                    <a:pt x="1079" y="473"/>
                    <a:pt x="1090" y="512"/>
                  </a:cubicBezTo>
                  <a:close/>
                  <a:moveTo>
                    <a:pt x="453" y="569"/>
                  </a:moveTo>
                  <a:cubicBezTo>
                    <a:pt x="455" y="571"/>
                    <a:pt x="454" y="570"/>
                    <a:pt x="454" y="570"/>
                  </a:cubicBezTo>
                  <a:cubicBezTo>
                    <a:pt x="343" y="570"/>
                    <a:pt x="231" y="569"/>
                    <a:pt x="120" y="570"/>
                  </a:cubicBezTo>
                  <a:cubicBezTo>
                    <a:pt x="94" y="570"/>
                    <a:pt x="72" y="594"/>
                    <a:pt x="70" y="621"/>
                  </a:cubicBezTo>
                  <a:cubicBezTo>
                    <a:pt x="67" y="656"/>
                    <a:pt x="92" y="682"/>
                    <a:pt x="130" y="683"/>
                  </a:cubicBezTo>
                  <a:cubicBezTo>
                    <a:pt x="245" y="683"/>
                    <a:pt x="361" y="683"/>
                    <a:pt x="476" y="683"/>
                  </a:cubicBezTo>
                  <a:cubicBezTo>
                    <a:pt x="479" y="683"/>
                    <a:pt x="483" y="682"/>
                    <a:pt x="485" y="681"/>
                  </a:cubicBezTo>
                  <a:cubicBezTo>
                    <a:pt x="475" y="645"/>
                    <a:pt x="464" y="609"/>
                    <a:pt x="453" y="569"/>
                  </a:cubicBezTo>
                  <a:close/>
                  <a:moveTo>
                    <a:pt x="1058" y="681"/>
                  </a:moveTo>
                  <a:cubicBezTo>
                    <a:pt x="1058" y="682"/>
                    <a:pt x="1060" y="683"/>
                    <a:pt x="1062" y="683"/>
                  </a:cubicBezTo>
                  <a:cubicBezTo>
                    <a:pt x="1180" y="683"/>
                    <a:pt x="1299" y="683"/>
                    <a:pt x="1418" y="682"/>
                  </a:cubicBezTo>
                  <a:cubicBezTo>
                    <a:pt x="1429" y="682"/>
                    <a:pt x="1443" y="676"/>
                    <a:pt x="1452" y="669"/>
                  </a:cubicBezTo>
                  <a:cubicBezTo>
                    <a:pt x="1472" y="655"/>
                    <a:pt x="1478" y="631"/>
                    <a:pt x="1470" y="608"/>
                  </a:cubicBezTo>
                  <a:cubicBezTo>
                    <a:pt x="1462" y="584"/>
                    <a:pt x="1442" y="569"/>
                    <a:pt x="1416" y="569"/>
                  </a:cubicBezTo>
                  <a:cubicBezTo>
                    <a:pt x="1309" y="569"/>
                    <a:pt x="1202" y="569"/>
                    <a:pt x="1096" y="569"/>
                  </a:cubicBezTo>
                  <a:cubicBezTo>
                    <a:pt x="1093" y="569"/>
                    <a:pt x="1089" y="570"/>
                    <a:pt x="1090" y="570"/>
                  </a:cubicBezTo>
                  <a:cubicBezTo>
                    <a:pt x="1078" y="609"/>
                    <a:pt x="1068" y="645"/>
                    <a:pt x="1058" y="6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39">
                <a:defRPr/>
              </a:pPr>
              <a:endParaRPr lang="en-US" sz="240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79" name="Freeform 62">
              <a:extLst>
                <a:ext uri="{FF2B5EF4-FFF2-40B4-BE49-F238E27FC236}">
                  <a16:creationId xmlns:a16="http://schemas.microsoft.com/office/drawing/2014/main" id="{85109794-B38C-47AA-9735-9A9EB1F4C4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9" y="942"/>
              <a:ext cx="1263" cy="2301"/>
            </a:xfrm>
            <a:custGeom>
              <a:avLst/>
              <a:gdLst>
                <a:gd name="T0" fmla="*/ 716 w 767"/>
                <a:gd name="T1" fmla="*/ 1222 h 1421"/>
                <a:gd name="T2" fmla="*/ 642 w 767"/>
                <a:gd name="T3" fmla="*/ 1420 h 1421"/>
                <a:gd name="T4" fmla="*/ 144 w 767"/>
                <a:gd name="T5" fmla="*/ 1420 h 1421"/>
                <a:gd name="T6" fmla="*/ 49 w 767"/>
                <a:gd name="T7" fmla="*/ 1222 h 1421"/>
                <a:gd name="T8" fmla="*/ 49 w 767"/>
                <a:gd name="T9" fmla="*/ 1052 h 1421"/>
                <a:gd name="T10" fmla="*/ 49 w 767"/>
                <a:gd name="T11" fmla="*/ 882 h 1421"/>
                <a:gd name="T12" fmla="*/ 14 w 767"/>
                <a:gd name="T13" fmla="*/ 626 h 1421"/>
                <a:gd name="T14" fmla="*/ 48 w 767"/>
                <a:gd name="T15" fmla="*/ 369 h 1421"/>
                <a:gd name="T16" fmla="*/ 49 w 767"/>
                <a:gd name="T17" fmla="*/ 200 h 1421"/>
                <a:gd name="T18" fmla="*/ 130 w 767"/>
                <a:gd name="T19" fmla="*/ 0 h 1421"/>
                <a:gd name="T20" fmla="*/ 632 w 767"/>
                <a:gd name="T21" fmla="*/ 0 h 1421"/>
                <a:gd name="T22" fmla="*/ 722 w 767"/>
                <a:gd name="T23" fmla="*/ 192 h 1421"/>
                <a:gd name="T24" fmla="*/ 752 w 767"/>
                <a:gd name="T25" fmla="*/ 284 h 1421"/>
                <a:gd name="T26" fmla="*/ 752 w 767"/>
                <a:gd name="T27" fmla="*/ 455 h 1421"/>
                <a:gd name="T28" fmla="*/ 718 w 767"/>
                <a:gd name="T29" fmla="*/ 709 h 1421"/>
                <a:gd name="T30" fmla="*/ 717 w 767"/>
                <a:gd name="T31" fmla="*/ 1052 h 1421"/>
                <a:gd name="T32" fmla="*/ 636 w 767"/>
                <a:gd name="T33" fmla="*/ 171 h 1421"/>
                <a:gd name="T34" fmla="*/ 639 w 767"/>
                <a:gd name="T35" fmla="*/ 57 h 1421"/>
                <a:gd name="T36" fmla="*/ 82 w 767"/>
                <a:gd name="T37" fmla="*/ 77 h 1421"/>
                <a:gd name="T38" fmla="*/ 127 w 767"/>
                <a:gd name="T39" fmla="*/ 171 h 1421"/>
                <a:gd name="T40" fmla="*/ 382 w 767"/>
                <a:gd name="T41" fmla="*/ 682 h 1421"/>
                <a:gd name="T42" fmla="*/ 695 w 767"/>
                <a:gd name="T43" fmla="*/ 626 h 1421"/>
                <a:gd name="T44" fmla="*/ 133 w 767"/>
                <a:gd name="T45" fmla="*/ 568 h 1421"/>
                <a:gd name="T46" fmla="*/ 133 w 767"/>
                <a:gd name="T47" fmla="*/ 682 h 1421"/>
                <a:gd name="T48" fmla="*/ 381 w 767"/>
                <a:gd name="T49" fmla="*/ 1079 h 1421"/>
                <a:gd name="T50" fmla="*/ 70 w 767"/>
                <a:gd name="T51" fmla="*/ 1135 h 1421"/>
                <a:gd name="T52" fmla="*/ 632 w 767"/>
                <a:gd name="T53" fmla="*/ 1194 h 1421"/>
                <a:gd name="T54" fmla="*/ 633 w 767"/>
                <a:gd name="T55" fmla="*/ 1079 h 1421"/>
                <a:gd name="T56" fmla="*/ 383 w 767"/>
                <a:gd name="T57" fmla="*/ 227 h 1421"/>
                <a:gd name="T58" fmla="*/ 70 w 767"/>
                <a:gd name="T59" fmla="*/ 283 h 1421"/>
                <a:gd name="T60" fmla="*/ 638 w 767"/>
                <a:gd name="T61" fmla="*/ 342 h 1421"/>
                <a:gd name="T62" fmla="*/ 690 w 767"/>
                <a:gd name="T63" fmla="*/ 258 h 1421"/>
                <a:gd name="T64" fmla="*/ 383 w 767"/>
                <a:gd name="T65" fmla="*/ 227 h 1421"/>
                <a:gd name="T66" fmla="*/ 127 w 767"/>
                <a:gd name="T67" fmla="*/ 739 h 1421"/>
                <a:gd name="T68" fmla="*/ 124 w 767"/>
                <a:gd name="T69" fmla="*/ 852 h 1421"/>
                <a:gd name="T70" fmla="*/ 683 w 767"/>
                <a:gd name="T71" fmla="*/ 831 h 1421"/>
                <a:gd name="T72" fmla="*/ 641 w 767"/>
                <a:gd name="T73" fmla="*/ 739 h 1421"/>
                <a:gd name="T74" fmla="*/ 382 w 767"/>
                <a:gd name="T75" fmla="*/ 1023 h 1421"/>
                <a:gd name="T76" fmla="*/ 695 w 767"/>
                <a:gd name="T77" fmla="*/ 968 h 1421"/>
                <a:gd name="T78" fmla="*/ 126 w 767"/>
                <a:gd name="T79" fmla="*/ 910 h 1421"/>
                <a:gd name="T80" fmla="*/ 75 w 767"/>
                <a:gd name="T81" fmla="*/ 991 h 1421"/>
                <a:gd name="T82" fmla="*/ 382 w 767"/>
                <a:gd name="T83" fmla="*/ 1023 h 1421"/>
                <a:gd name="T84" fmla="*/ 640 w 767"/>
                <a:gd name="T85" fmla="*/ 511 h 1421"/>
                <a:gd name="T86" fmla="*/ 641 w 767"/>
                <a:gd name="T87" fmla="*/ 398 h 1421"/>
                <a:gd name="T88" fmla="*/ 84 w 767"/>
                <a:gd name="T89" fmla="*/ 417 h 1421"/>
                <a:gd name="T90" fmla="*/ 124 w 767"/>
                <a:gd name="T91" fmla="*/ 511 h 1421"/>
                <a:gd name="T92" fmla="*/ 383 w 767"/>
                <a:gd name="T93" fmla="*/ 1250 h 1421"/>
                <a:gd name="T94" fmla="*/ 70 w 767"/>
                <a:gd name="T95" fmla="*/ 1306 h 1421"/>
                <a:gd name="T96" fmla="*/ 638 w 767"/>
                <a:gd name="T97" fmla="*/ 1363 h 1421"/>
                <a:gd name="T98" fmla="*/ 693 w 767"/>
                <a:gd name="T99" fmla="*/ 1288 h 1421"/>
                <a:gd name="T100" fmla="*/ 383 w 767"/>
                <a:gd name="T101" fmla="*/ 1250 h 1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67" h="1421">
                  <a:moveTo>
                    <a:pt x="717" y="1052"/>
                  </a:moveTo>
                  <a:cubicBezTo>
                    <a:pt x="765" y="1111"/>
                    <a:pt x="764" y="1164"/>
                    <a:pt x="716" y="1222"/>
                  </a:cubicBezTo>
                  <a:cubicBezTo>
                    <a:pt x="739" y="1245"/>
                    <a:pt x="752" y="1273"/>
                    <a:pt x="752" y="1307"/>
                  </a:cubicBezTo>
                  <a:cubicBezTo>
                    <a:pt x="751" y="1371"/>
                    <a:pt x="706" y="1419"/>
                    <a:pt x="642" y="1420"/>
                  </a:cubicBezTo>
                  <a:cubicBezTo>
                    <a:pt x="567" y="1421"/>
                    <a:pt x="492" y="1420"/>
                    <a:pt x="418" y="1420"/>
                  </a:cubicBezTo>
                  <a:cubicBezTo>
                    <a:pt x="326" y="1420"/>
                    <a:pt x="235" y="1419"/>
                    <a:pt x="144" y="1420"/>
                  </a:cubicBezTo>
                  <a:cubicBezTo>
                    <a:pt x="91" y="1421"/>
                    <a:pt x="48" y="1407"/>
                    <a:pt x="25" y="1357"/>
                  </a:cubicBezTo>
                  <a:cubicBezTo>
                    <a:pt x="2" y="1309"/>
                    <a:pt x="11" y="1262"/>
                    <a:pt x="49" y="1222"/>
                  </a:cubicBezTo>
                  <a:cubicBezTo>
                    <a:pt x="27" y="1198"/>
                    <a:pt x="14" y="1171"/>
                    <a:pt x="14" y="1138"/>
                  </a:cubicBezTo>
                  <a:cubicBezTo>
                    <a:pt x="13" y="1104"/>
                    <a:pt x="25" y="1077"/>
                    <a:pt x="49" y="1052"/>
                  </a:cubicBezTo>
                  <a:cubicBezTo>
                    <a:pt x="27" y="1027"/>
                    <a:pt x="13" y="1000"/>
                    <a:pt x="14" y="966"/>
                  </a:cubicBezTo>
                  <a:cubicBezTo>
                    <a:pt x="14" y="932"/>
                    <a:pt x="26" y="905"/>
                    <a:pt x="49" y="882"/>
                  </a:cubicBezTo>
                  <a:cubicBezTo>
                    <a:pt x="0" y="829"/>
                    <a:pt x="3" y="759"/>
                    <a:pt x="48" y="710"/>
                  </a:cubicBezTo>
                  <a:cubicBezTo>
                    <a:pt x="27" y="687"/>
                    <a:pt x="13" y="660"/>
                    <a:pt x="14" y="626"/>
                  </a:cubicBezTo>
                  <a:cubicBezTo>
                    <a:pt x="14" y="593"/>
                    <a:pt x="25" y="565"/>
                    <a:pt x="48" y="541"/>
                  </a:cubicBezTo>
                  <a:cubicBezTo>
                    <a:pt x="1" y="484"/>
                    <a:pt x="0" y="427"/>
                    <a:pt x="48" y="369"/>
                  </a:cubicBezTo>
                  <a:cubicBezTo>
                    <a:pt x="27" y="346"/>
                    <a:pt x="14" y="319"/>
                    <a:pt x="14" y="286"/>
                  </a:cubicBezTo>
                  <a:cubicBezTo>
                    <a:pt x="13" y="252"/>
                    <a:pt x="25" y="224"/>
                    <a:pt x="49" y="200"/>
                  </a:cubicBezTo>
                  <a:cubicBezTo>
                    <a:pt x="29" y="177"/>
                    <a:pt x="15" y="152"/>
                    <a:pt x="14" y="121"/>
                  </a:cubicBezTo>
                  <a:cubicBezTo>
                    <a:pt x="12" y="50"/>
                    <a:pt x="58" y="1"/>
                    <a:pt x="130" y="0"/>
                  </a:cubicBezTo>
                  <a:cubicBezTo>
                    <a:pt x="247" y="0"/>
                    <a:pt x="364" y="0"/>
                    <a:pt x="482" y="0"/>
                  </a:cubicBezTo>
                  <a:cubicBezTo>
                    <a:pt x="532" y="0"/>
                    <a:pt x="582" y="0"/>
                    <a:pt x="632" y="0"/>
                  </a:cubicBezTo>
                  <a:cubicBezTo>
                    <a:pt x="681" y="0"/>
                    <a:pt x="720" y="18"/>
                    <a:pt x="740" y="63"/>
                  </a:cubicBezTo>
                  <a:cubicBezTo>
                    <a:pt x="761" y="109"/>
                    <a:pt x="756" y="153"/>
                    <a:pt x="722" y="192"/>
                  </a:cubicBezTo>
                  <a:cubicBezTo>
                    <a:pt x="721" y="194"/>
                    <a:pt x="719" y="196"/>
                    <a:pt x="717" y="199"/>
                  </a:cubicBezTo>
                  <a:cubicBezTo>
                    <a:pt x="739" y="223"/>
                    <a:pt x="752" y="250"/>
                    <a:pt x="752" y="284"/>
                  </a:cubicBezTo>
                  <a:cubicBezTo>
                    <a:pt x="752" y="317"/>
                    <a:pt x="740" y="345"/>
                    <a:pt x="716" y="369"/>
                  </a:cubicBezTo>
                  <a:cubicBezTo>
                    <a:pt x="739" y="393"/>
                    <a:pt x="752" y="421"/>
                    <a:pt x="752" y="455"/>
                  </a:cubicBezTo>
                  <a:cubicBezTo>
                    <a:pt x="752" y="488"/>
                    <a:pt x="740" y="516"/>
                    <a:pt x="717" y="539"/>
                  </a:cubicBezTo>
                  <a:cubicBezTo>
                    <a:pt x="764" y="605"/>
                    <a:pt x="765" y="649"/>
                    <a:pt x="718" y="709"/>
                  </a:cubicBezTo>
                  <a:cubicBezTo>
                    <a:pt x="764" y="783"/>
                    <a:pt x="764" y="819"/>
                    <a:pt x="717" y="881"/>
                  </a:cubicBezTo>
                  <a:cubicBezTo>
                    <a:pt x="760" y="926"/>
                    <a:pt x="767" y="995"/>
                    <a:pt x="717" y="1052"/>
                  </a:cubicBezTo>
                  <a:close/>
                  <a:moveTo>
                    <a:pt x="382" y="171"/>
                  </a:moveTo>
                  <a:cubicBezTo>
                    <a:pt x="467" y="171"/>
                    <a:pt x="552" y="171"/>
                    <a:pt x="636" y="171"/>
                  </a:cubicBezTo>
                  <a:cubicBezTo>
                    <a:pt x="673" y="171"/>
                    <a:pt x="695" y="149"/>
                    <a:pt x="695" y="115"/>
                  </a:cubicBezTo>
                  <a:cubicBezTo>
                    <a:pt x="696" y="80"/>
                    <a:pt x="674" y="57"/>
                    <a:pt x="639" y="57"/>
                  </a:cubicBezTo>
                  <a:cubicBezTo>
                    <a:pt x="468" y="56"/>
                    <a:pt x="298" y="56"/>
                    <a:pt x="127" y="57"/>
                  </a:cubicBezTo>
                  <a:cubicBezTo>
                    <a:pt x="109" y="57"/>
                    <a:pt x="93" y="62"/>
                    <a:pt x="82" y="77"/>
                  </a:cubicBezTo>
                  <a:cubicBezTo>
                    <a:pt x="67" y="97"/>
                    <a:pt x="66" y="118"/>
                    <a:pt x="75" y="140"/>
                  </a:cubicBezTo>
                  <a:cubicBezTo>
                    <a:pt x="85" y="161"/>
                    <a:pt x="103" y="171"/>
                    <a:pt x="127" y="171"/>
                  </a:cubicBezTo>
                  <a:cubicBezTo>
                    <a:pt x="212" y="171"/>
                    <a:pt x="297" y="171"/>
                    <a:pt x="382" y="171"/>
                  </a:cubicBezTo>
                  <a:close/>
                  <a:moveTo>
                    <a:pt x="382" y="682"/>
                  </a:moveTo>
                  <a:cubicBezTo>
                    <a:pt x="466" y="682"/>
                    <a:pt x="549" y="682"/>
                    <a:pt x="632" y="682"/>
                  </a:cubicBezTo>
                  <a:cubicBezTo>
                    <a:pt x="672" y="682"/>
                    <a:pt x="695" y="662"/>
                    <a:pt x="695" y="626"/>
                  </a:cubicBezTo>
                  <a:cubicBezTo>
                    <a:pt x="696" y="589"/>
                    <a:pt x="673" y="568"/>
                    <a:pt x="633" y="568"/>
                  </a:cubicBezTo>
                  <a:cubicBezTo>
                    <a:pt x="466" y="568"/>
                    <a:pt x="299" y="568"/>
                    <a:pt x="133" y="568"/>
                  </a:cubicBezTo>
                  <a:cubicBezTo>
                    <a:pt x="92" y="568"/>
                    <a:pt x="70" y="589"/>
                    <a:pt x="70" y="626"/>
                  </a:cubicBezTo>
                  <a:cubicBezTo>
                    <a:pt x="70" y="662"/>
                    <a:pt x="93" y="682"/>
                    <a:pt x="133" y="682"/>
                  </a:cubicBezTo>
                  <a:cubicBezTo>
                    <a:pt x="216" y="682"/>
                    <a:pt x="299" y="682"/>
                    <a:pt x="382" y="682"/>
                  </a:cubicBezTo>
                  <a:close/>
                  <a:moveTo>
                    <a:pt x="381" y="1079"/>
                  </a:moveTo>
                  <a:cubicBezTo>
                    <a:pt x="298" y="1079"/>
                    <a:pt x="215" y="1079"/>
                    <a:pt x="133" y="1079"/>
                  </a:cubicBezTo>
                  <a:cubicBezTo>
                    <a:pt x="93" y="1079"/>
                    <a:pt x="70" y="1100"/>
                    <a:pt x="70" y="1135"/>
                  </a:cubicBezTo>
                  <a:cubicBezTo>
                    <a:pt x="70" y="1172"/>
                    <a:pt x="92" y="1194"/>
                    <a:pt x="133" y="1194"/>
                  </a:cubicBezTo>
                  <a:cubicBezTo>
                    <a:pt x="299" y="1194"/>
                    <a:pt x="466" y="1194"/>
                    <a:pt x="632" y="1194"/>
                  </a:cubicBezTo>
                  <a:cubicBezTo>
                    <a:pt x="673" y="1194"/>
                    <a:pt x="696" y="1172"/>
                    <a:pt x="695" y="1136"/>
                  </a:cubicBezTo>
                  <a:cubicBezTo>
                    <a:pt x="695" y="1100"/>
                    <a:pt x="672" y="1079"/>
                    <a:pt x="633" y="1079"/>
                  </a:cubicBezTo>
                  <a:cubicBezTo>
                    <a:pt x="549" y="1079"/>
                    <a:pt x="465" y="1079"/>
                    <a:pt x="381" y="1079"/>
                  </a:cubicBezTo>
                  <a:close/>
                  <a:moveTo>
                    <a:pt x="383" y="227"/>
                  </a:moveTo>
                  <a:cubicBezTo>
                    <a:pt x="298" y="227"/>
                    <a:pt x="213" y="227"/>
                    <a:pt x="129" y="227"/>
                  </a:cubicBezTo>
                  <a:cubicBezTo>
                    <a:pt x="93" y="227"/>
                    <a:pt x="70" y="249"/>
                    <a:pt x="70" y="283"/>
                  </a:cubicBezTo>
                  <a:cubicBezTo>
                    <a:pt x="70" y="318"/>
                    <a:pt x="91" y="341"/>
                    <a:pt x="127" y="341"/>
                  </a:cubicBezTo>
                  <a:cubicBezTo>
                    <a:pt x="297" y="342"/>
                    <a:pt x="468" y="342"/>
                    <a:pt x="638" y="342"/>
                  </a:cubicBezTo>
                  <a:cubicBezTo>
                    <a:pt x="657" y="342"/>
                    <a:pt x="674" y="335"/>
                    <a:pt x="685" y="319"/>
                  </a:cubicBezTo>
                  <a:cubicBezTo>
                    <a:pt x="699" y="300"/>
                    <a:pt x="699" y="279"/>
                    <a:pt x="690" y="258"/>
                  </a:cubicBezTo>
                  <a:cubicBezTo>
                    <a:pt x="680" y="237"/>
                    <a:pt x="662" y="227"/>
                    <a:pt x="638" y="227"/>
                  </a:cubicBezTo>
                  <a:cubicBezTo>
                    <a:pt x="553" y="227"/>
                    <a:pt x="468" y="227"/>
                    <a:pt x="383" y="227"/>
                  </a:cubicBezTo>
                  <a:close/>
                  <a:moveTo>
                    <a:pt x="383" y="739"/>
                  </a:moveTo>
                  <a:cubicBezTo>
                    <a:pt x="298" y="739"/>
                    <a:pt x="212" y="739"/>
                    <a:pt x="127" y="739"/>
                  </a:cubicBezTo>
                  <a:cubicBezTo>
                    <a:pt x="92" y="739"/>
                    <a:pt x="71" y="760"/>
                    <a:pt x="70" y="794"/>
                  </a:cubicBezTo>
                  <a:cubicBezTo>
                    <a:pt x="70" y="829"/>
                    <a:pt x="90" y="852"/>
                    <a:pt x="124" y="852"/>
                  </a:cubicBezTo>
                  <a:cubicBezTo>
                    <a:pt x="296" y="853"/>
                    <a:pt x="468" y="853"/>
                    <a:pt x="640" y="852"/>
                  </a:cubicBezTo>
                  <a:cubicBezTo>
                    <a:pt x="655" y="851"/>
                    <a:pt x="672" y="842"/>
                    <a:pt x="683" y="831"/>
                  </a:cubicBezTo>
                  <a:cubicBezTo>
                    <a:pt x="700" y="815"/>
                    <a:pt x="699" y="791"/>
                    <a:pt x="690" y="770"/>
                  </a:cubicBezTo>
                  <a:cubicBezTo>
                    <a:pt x="681" y="749"/>
                    <a:pt x="664" y="739"/>
                    <a:pt x="641" y="739"/>
                  </a:cubicBezTo>
                  <a:cubicBezTo>
                    <a:pt x="555" y="739"/>
                    <a:pt x="469" y="739"/>
                    <a:pt x="383" y="739"/>
                  </a:cubicBezTo>
                  <a:close/>
                  <a:moveTo>
                    <a:pt x="382" y="1023"/>
                  </a:moveTo>
                  <a:cubicBezTo>
                    <a:pt x="467" y="1023"/>
                    <a:pt x="552" y="1023"/>
                    <a:pt x="637" y="1023"/>
                  </a:cubicBezTo>
                  <a:cubicBezTo>
                    <a:pt x="672" y="1023"/>
                    <a:pt x="695" y="1001"/>
                    <a:pt x="695" y="968"/>
                  </a:cubicBezTo>
                  <a:cubicBezTo>
                    <a:pt x="696" y="933"/>
                    <a:pt x="675" y="909"/>
                    <a:pt x="639" y="909"/>
                  </a:cubicBezTo>
                  <a:cubicBezTo>
                    <a:pt x="468" y="909"/>
                    <a:pt x="297" y="909"/>
                    <a:pt x="126" y="910"/>
                  </a:cubicBezTo>
                  <a:cubicBezTo>
                    <a:pt x="111" y="910"/>
                    <a:pt x="94" y="919"/>
                    <a:pt x="83" y="930"/>
                  </a:cubicBezTo>
                  <a:cubicBezTo>
                    <a:pt x="65" y="946"/>
                    <a:pt x="66" y="970"/>
                    <a:pt x="75" y="991"/>
                  </a:cubicBezTo>
                  <a:cubicBezTo>
                    <a:pt x="84" y="1013"/>
                    <a:pt x="102" y="1023"/>
                    <a:pt x="126" y="1023"/>
                  </a:cubicBezTo>
                  <a:cubicBezTo>
                    <a:pt x="211" y="1023"/>
                    <a:pt x="296" y="1023"/>
                    <a:pt x="382" y="1023"/>
                  </a:cubicBezTo>
                  <a:close/>
                  <a:moveTo>
                    <a:pt x="382" y="511"/>
                  </a:moveTo>
                  <a:cubicBezTo>
                    <a:pt x="468" y="511"/>
                    <a:pt x="554" y="512"/>
                    <a:pt x="640" y="511"/>
                  </a:cubicBezTo>
                  <a:cubicBezTo>
                    <a:pt x="673" y="511"/>
                    <a:pt x="695" y="489"/>
                    <a:pt x="695" y="456"/>
                  </a:cubicBezTo>
                  <a:cubicBezTo>
                    <a:pt x="696" y="422"/>
                    <a:pt x="675" y="398"/>
                    <a:pt x="641" y="398"/>
                  </a:cubicBezTo>
                  <a:cubicBezTo>
                    <a:pt x="469" y="398"/>
                    <a:pt x="296" y="398"/>
                    <a:pt x="124" y="399"/>
                  </a:cubicBezTo>
                  <a:cubicBezTo>
                    <a:pt x="110" y="399"/>
                    <a:pt x="94" y="407"/>
                    <a:pt x="84" y="417"/>
                  </a:cubicBezTo>
                  <a:cubicBezTo>
                    <a:pt x="66" y="433"/>
                    <a:pt x="66" y="457"/>
                    <a:pt x="74" y="478"/>
                  </a:cubicBezTo>
                  <a:cubicBezTo>
                    <a:pt x="83" y="500"/>
                    <a:pt x="100" y="511"/>
                    <a:pt x="124" y="511"/>
                  </a:cubicBezTo>
                  <a:cubicBezTo>
                    <a:pt x="210" y="511"/>
                    <a:pt x="296" y="511"/>
                    <a:pt x="382" y="511"/>
                  </a:cubicBezTo>
                  <a:close/>
                  <a:moveTo>
                    <a:pt x="383" y="1250"/>
                  </a:moveTo>
                  <a:cubicBezTo>
                    <a:pt x="297" y="1250"/>
                    <a:pt x="212" y="1250"/>
                    <a:pt x="127" y="1250"/>
                  </a:cubicBezTo>
                  <a:cubicBezTo>
                    <a:pt x="92" y="1250"/>
                    <a:pt x="70" y="1272"/>
                    <a:pt x="70" y="1306"/>
                  </a:cubicBezTo>
                  <a:cubicBezTo>
                    <a:pt x="70" y="1341"/>
                    <a:pt x="91" y="1363"/>
                    <a:pt x="127" y="1363"/>
                  </a:cubicBezTo>
                  <a:cubicBezTo>
                    <a:pt x="297" y="1364"/>
                    <a:pt x="468" y="1364"/>
                    <a:pt x="638" y="1363"/>
                  </a:cubicBezTo>
                  <a:cubicBezTo>
                    <a:pt x="650" y="1363"/>
                    <a:pt x="663" y="1359"/>
                    <a:pt x="674" y="1353"/>
                  </a:cubicBezTo>
                  <a:cubicBezTo>
                    <a:pt x="693" y="1340"/>
                    <a:pt x="701" y="1312"/>
                    <a:pt x="693" y="1288"/>
                  </a:cubicBezTo>
                  <a:cubicBezTo>
                    <a:pt x="686" y="1265"/>
                    <a:pt x="667" y="1250"/>
                    <a:pt x="641" y="1250"/>
                  </a:cubicBezTo>
                  <a:cubicBezTo>
                    <a:pt x="555" y="1250"/>
                    <a:pt x="469" y="1250"/>
                    <a:pt x="383" y="12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39">
                <a:defRPr/>
              </a:pPr>
              <a:endParaRPr lang="en-US" sz="240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571883C8-48A7-4767-828E-D236AFC21C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09" y="-2"/>
              <a:ext cx="3233" cy="1571"/>
            </a:xfrm>
            <a:custGeom>
              <a:avLst/>
              <a:gdLst>
                <a:gd name="T0" fmla="*/ 846 w 1964"/>
                <a:gd name="T1" fmla="*/ 390 h 970"/>
                <a:gd name="T2" fmla="*/ 811 w 1964"/>
                <a:gd name="T3" fmla="*/ 415 h 970"/>
                <a:gd name="T4" fmla="*/ 60 w 1964"/>
                <a:gd name="T5" fmla="*/ 954 h 970"/>
                <a:gd name="T6" fmla="*/ 43 w 1964"/>
                <a:gd name="T7" fmla="*/ 965 h 970"/>
                <a:gd name="T8" fmla="*/ 9 w 1964"/>
                <a:gd name="T9" fmla="*/ 956 h 970"/>
                <a:gd name="T10" fmla="*/ 12 w 1964"/>
                <a:gd name="T11" fmla="*/ 920 h 970"/>
                <a:gd name="T12" fmla="*/ 27 w 1964"/>
                <a:gd name="T13" fmla="*/ 909 h 970"/>
                <a:gd name="T14" fmla="*/ 820 w 1964"/>
                <a:gd name="T15" fmla="*/ 339 h 970"/>
                <a:gd name="T16" fmla="*/ 883 w 1964"/>
                <a:gd name="T17" fmla="*/ 346 h 970"/>
                <a:gd name="T18" fmla="*/ 1136 w 1964"/>
                <a:gd name="T19" fmla="*/ 646 h 970"/>
                <a:gd name="T20" fmla="*/ 1771 w 1964"/>
                <a:gd name="T21" fmla="*/ 156 h 970"/>
                <a:gd name="T22" fmla="*/ 1682 w 1964"/>
                <a:gd name="T23" fmla="*/ 55 h 970"/>
                <a:gd name="T24" fmla="*/ 1672 w 1964"/>
                <a:gd name="T25" fmla="*/ 15 h 970"/>
                <a:gd name="T26" fmla="*/ 1708 w 1964"/>
                <a:gd name="T27" fmla="*/ 1 h 970"/>
                <a:gd name="T28" fmla="*/ 1932 w 1964"/>
                <a:gd name="T29" fmla="*/ 17 h 970"/>
                <a:gd name="T30" fmla="*/ 1962 w 1964"/>
                <a:gd name="T31" fmla="*/ 52 h 970"/>
                <a:gd name="T32" fmla="*/ 1947 w 1964"/>
                <a:gd name="T33" fmla="*/ 281 h 970"/>
                <a:gd name="T34" fmla="*/ 1927 w 1964"/>
                <a:gd name="T35" fmla="*/ 309 h 970"/>
                <a:gd name="T36" fmla="*/ 1894 w 1964"/>
                <a:gd name="T37" fmla="*/ 297 h 970"/>
                <a:gd name="T38" fmla="*/ 1808 w 1964"/>
                <a:gd name="T39" fmla="*/ 199 h 970"/>
                <a:gd name="T40" fmla="*/ 1650 w 1964"/>
                <a:gd name="T41" fmla="*/ 321 h 970"/>
                <a:gd name="T42" fmla="*/ 1162 w 1964"/>
                <a:gd name="T43" fmla="*/ 697 h 970"/>
                <a:gd name="T44" fmla="*/ 1100 w 1964"/>
                <a:gd name="T45" fmla="*/ 689 h 970"/>
                <a:gd name="T46" fmla="*/ 861 w 1964"/>
                <a:gd name="T47" fmla="*/ 407 h 970"/>
                <a:gd name="T48" fmla="*/ 846 w 1964"/>
                <a:gd name="T49" fmla="*/ 390 h 970"/>
                <a:gd name="T50" fmla="*/ 1895 w 1964"/>
                <a:gd name="T51" fmla="*/ 214 h 970"/>
                <a:gd name="T52" fmla="*/ 1905 w 1964"/>
                <a:gd name="T53" fmla="*/ 71 h 970"/>
                <a:gd name="T54" fmla="*/ 1763 w 1964"/>
                <a:gd name="T55" fmla="*/ 61 h 970"/>
                <a:gd name="T56" fmla="*/ 1895 w 1964"/>
                <a:gd name="T57" fmla="*/ 214 h 9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964" h="970">
                  <a:moveTo>
                    <a:pt x="846" y="390"/>
                  </a:moveTo>
                  <a:cubicBezTo>
                    <a:pt x="834" y="399"/>
                    <a:pt x="822" y="407"/>
                    <a:pt x="811" y="415"/>
                  </a:cubicBezTo>
                  <a:cubicBezTo>
                    <a:pt x="561" y="595"/>
                    <a:pt x="310" y="775"/>
                    <a:pt x="60" y="954"/>
                  </a:cubicBezTo>
                  <a:cubicBezTo>
                    <a:pt x="54" y="958"/>
                    <a:pt x="49" y="963"/>
                    <a:pt x="43" y="965"/>
                  </a:cubicBezTo>
                  <a:cubicBezTo>
                    <a:pt x="30" y="970"/>
                    <a:pt x="18" y="968"/>
                    <a:pt x="9" y="956"/>
                  </a:cubicBezTo>
                  <a:cubicBezTo>
                    <a:pt x="0" y="943"/>
                    <a:pt x="2" y="931"/>
                    <a:pt x="12" y="920"/>
                  </a:cubicBezTo>
                  <a:cubicBezTo>
                    <a:pt x="17" y="916"/>
                    <a:pt x="22" y="912"/>
                    <a:pt x="27" y="909"/>
                  </a:cubicBezTo>
                  <a:cubicBezTo>
                    <a:pt x="291" y="719"/>
                    <a:pt x="556" y="529"/>
                    <a:pt x="820" y="339"/>
                  </a:cubicBezTo>
                  <a:cubicBezTo>
                    <a:pt x="852" y="316"/>
                    <a:pt x="859" y="317"/>
                    <a:pt x="883" y="346"/>
                  </a:cubicBezTo>
                  <a:cubicBezTo>
                    <a:pt x="967" y="446"/>
                    <a:pt x="1051" y="545"/>
                    <a:pt x="1136" y="646"/>
                  </a:cubicBezTo>
                  <a:cubicBezTo>
                    <a:pt x="1348" y="483"/>
                    <a:pt x="1558" y="320"/>
                    <a:pt x="1771" y="156"/>
                  </a:cubicBezTo>
                  <a:cubicBezTo>
                    <a:pt x="1741" y="122"/>
                    <a:pt x="1712" y="88"/>
                    <a:pt x="1682" y="55"/>
                  </a:cubicBezTo>
                  <a:cubicBezTo>
                    <a:pt x="1672" y="43"/>
                    <a:pt x="1664" y="31"/>
                    <a:pt x="1672" y="15"/>
                  </a:cubicBezTo>
                  <a:cubicBezTo>
                    <a:pt x="1680" y="0"/>
                    <a:pt x="1694" y="0"/>
                    <a:pt x="1708" y="1"/>
                  </a:cubicBezTo>
                  <a:cubicBezTo>
                    <a:pt x="1783" y="7"/>
                    <a:pt x="1857" y="12"/>
                    <a:pt x="1932" y="17"/>
                  </a:cubicBezTo>
                  <a:cubicBezTo>
                    <a:pt x="1956" y="19"/>
                    <a:pt x="1964" y="28"/>
                    <a:pt x="1962" y="52"/>
                  </a:cubicBezTo>
                  <a:cubicBezTo>
                    <a:pt x="1957" y="128"/>
                    <a:pt x="1952" y="205"/>
                    <a:pt x="1947" y="281"/>
                  </a:cubicBezTo>
                  <a:cubicBezTo>
                    <a:pt x="1946" y="295"/>
                    <a:pt x="1941" y="308"/>
                    <a:pt x="1927" y="309"/>
                  </a:cubicBezTo>
                  <a:cubicBezTo>
                    <a:pt x="1916" y="310"/>
                    <a:pt x="1901" y="305"/>
                    <a:pt x="1894" y="297"/>
                  </a:cubicBezTo>
                  <a:cubicBezTo>
                    <a:pt x="1864" y="266"/>
                    <a:pt x="1837" y="233"/>
                    <a:pt x="1808" y="199"/>
                  </a:cubicBezTo>
                  <a:cubicBezTo>
                    <a:pt x="1754" y="240"/>
                    <a:pt x="1702" y="281"/>
                    <a:pt x="1650" y="321"/>
                  </a:cubicBezTo>
                  <a:cubicBezTo>
                    <a:pt x="1487" y="446"/>
                    <a:pt x="1325" y="571"/>
                    <a:pt x="1162" y="697"/>
                  </a:cubicBezTo>
                  <a:cubicBezTo>
                    <a:pt x="1132" y="720"/>
                    <a:pt x="1124" y="719"/>
                    <a:pt x="1100" y="689"/>
                  </a:cubicBezTo>
                  <a:cubicBezTo>
                    <a:pt x="1020" y="595"/>
                    <a:pt x="941" y="501"/>
                    <a:pt x="861" y="407"/>
                  </a:cubicBezTo>
                  <a:cubicBezTo>
                    <a:pt x="856" y="402"/>
                    <a:pt x="851" y="396"/>
                    <a:pt x="846" y="390"/>
                  </a:cubicBezTo>
                  <a:close/>
                  <a:moveTo>
                    <a:pt x="1895" y="214"/>
                  </a:moveTo>
                  <a:cubicBezTo>
                    <a:pt x="1899" y="163"/>
                    <a:pt x="1902" y="118"/>
                    <a:pt x="1905" y="71"/>
                  </a:cubicBezTo>
                  <a:cubicBezTo>
                    <a:pt x="1858" y="68"/>
                    <a:pt x="1813" y="65"/>
                    <a:pt x="1763" y="61"/>
                  </a:cubicBezTo>
                  <a:cubicBezTo>
                    <a:pt x="1808" y="113"/>
                    <a:pt x="1849" y="161"/>
                    <a:pt x="1895" y="2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39">
                <a:defRPr/>
              </a:pPr>
              <a:endParaRPr lang="en-US" sz="240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84" name="Freeform 64">
              <a:extLst>
                <a:ext uri="{FF2B5EF4-FFF2-40B4-BE49-F238E27FC236}">
                  <a16:creationId xmlns:a16="http://schemas.microsoft.com/office/drawing/2014/main" id="{A6AE952D-949F-4D10-BC98-9483B8BA0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3" y="1977"/>
              <a:ext cx="389" cy="769"/>
            </a:xfrm>
            <a:custGeom>
              <a:avLst/>
              <a:gdLst>
                <a:gd name="T0" fmla="*/ 10 w 236"/>
                <a:gd name="T1" fmla="*/ 326 h 475"/>
                <a:gd name="T2" fmla="*/ 36 w 236"/>
                <a:gd name="T3" fmla="*/ 289 h 475"/>
                <a:gd name="T4" fmla="*/ 66 w 236"/>
                <a:gd name="T5" fmla="*/ 319 h 475"/>
                <a:gd name="T6" fmla="*/ 118 w 236"/>
                <a:gd name="T7" fmla="*/ 370 h 475"/>
                <a:gd name="T8" fmla="*/ 172 w 236"/>
                <a:gd name="T9" fmla="*/ 324 h 475"/>
                <a:gd name="T10" fmla="*/ 118 w 236"/>
                <a:gd name="T11" fmla="*/ 264 h 475"/>
                <a:gd name="T12" fmla="*/ 14 w 236"/>
                <a:gd name="T13" fmla="*/ 182 h 475"/>
                <a:gd name="T14" fmla="*/ 76 w 236"/>
                <a:gd name="T15" fmla="*/ 54 h 475"/>
                <a:gd name="T16" fmla="*/ 91 w 236"/>
                <a:gd name="T17" fmla="*/ 32 h 475"/>
                <a:gd name="T18" fmla="*/ 119 w 236"/>
                <a:gd name="T19" fmla="*/ 0 h 475"/>
                <a:gd name="T20" fmla="*/ 147 w 236"/>
                <a:gd name="T21" fmla="*/ 32 h 475"/>
                <a:gd name="T22" fmla="*/ 162 w 236"/>
                <a:gd name="T23" fmla="*/ 54 h 475"/>
                <a:gd name="T24" fmla="*/ 228 w 236"/>
                <a:gd name="T25" fmla="*/ 144 h 475"/>
                <a:gd name="T26" fmla="*/ 205 w 236"/>
                <a:gd name="T27" fmla="*/ 182 h 475"/>
                <a:gd name="T28" fmla="*/ 173 w 236"/>
                <a:gd name="T29" fmla="*/ 152 h 475"/>
                <a:gd name="T30" fmla="*/ 129 w 236"/>
                <a:gd name="T31" fmla="*/ 102 h 475"/>
                <a:gd name="T32" fmla="*/ 74 w 236"/>
                <a:gd name="T33" fmla="*/ 127 h 475"/>
                <a:gd name="T34" fmla="*/ 78 w 236"/>
                <a:gd name="T35" fmla="*/ 186 h 475"/>
                <a:gd name="T36" fmla="*/ 121 w 236"/>
                <a:gd name="T37" fmla="*/ 207 h 475"/>
                <a:gd name="T38" fmla="*/ 227 w 236"/>
                <a:gd name="T39" fmla="*/ 299 h 475"/>
                <a:gd name="T40" fmla="*/ 161 w 236"/>
                <a:gd name="T41" fmla="*/ 418 h 475"/>
                <a:gd name="T42" fmla="*/ 147 w 236"/>
                <a:gd name="T43" fmla="*/ 438 h 475"/>
                <a:gd name="T44" fmla="*/ 120 w 236"/>
                <a:gd name="T45" fmla="*/ 475 h 475"/>
                <a:gd name="T46" fmla="*/ 91 w 236"/>
                <a:gd name="T47" fmla="*/ 439 h 475"/>
                <a:gd name="T48" fmla="*/ 77 w 236"/>
                <a:gd name="T49" fmla="*/ 417 h 475"/>
                <a:gd name="T50" fmla="*/ 10 w 236"/>
                <a:gd name="T51" fmla="*/ 326 h 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36" h="475">
                  <a:moveTo>
                    <a:pt x="10" y="326"/>
                  </a:moveTo>
                  <a:cubicBezTo>
                    <a:pt x="10" y="303"/>
                    <a:pt x="20" y="290"/>
                    <a:pt x="36" y="289"/>
                  </a:cubicBezTo>
                  <a:cubicBezTo>
                    <a:pt x="52" y="288"/>
                    <a:pt x="64" y="299"/>
                    <a:pt x="66" y="319"/>
                  </a:cubicBezTo>
                  <a:cubicBezTo>
                    <a:pt x="70" y="349"/>
                    <a:pt x="90" y="370"/>
                    <a:pt x="118" y="370"/>
                  </a:cubicBezTo>
                  <a:cubicBezTo>
                    <a:pt x="145" y="371"/>
                    <a:pt x="168" y="351"/>
                    <a:pt x="172" y="324"/>
                  </a:cubicBezTo>
                  <a:cubicBezTo>
                    <a:pt x="177" y="292"/>
                    <a:pt x="153" y="266"/>
                    <a:pt x="118" y="264"/>
                  </a:cubicBezTo>
                  <a:cubicBezTo>
                    <a:pt x="66" y="261"/>
                    <a:pt x="26" y="230"/>
                    <a:pt x="14" y="182"/>
                  </a:cubicBezTo>
                  <a:cubicBezTo>
                    <a:pt x="0" y="129"/>
                    <a:pt x="25" y="77"/>
                    <a:pt x="76" y="54"/>
                  </a:cubicBezTo>
                  <a:cubicBezTo>
                    <a:pt x="87" y="49"/>
                    <a:pt x="91" y="44"/>
                    <a:pt x="91" y="32"/>
                  </a:cubicBezTo>
                  <a:cubicBezTo>
                    <a:pt x="91" y="12"/>
                    <a:pt x="103" y="0"/>
                    <a:pt x="119" y="0"/>
                  </a:cubicBezTo>
                  <a:cubicBezTo>
                    <a:pt x="135" y="0"/>
                    <a:pt x="147" y="12"/>
                    <a:pt x="147" y="32"/>
                  </a:cubicBezTo>
                  <a:cubicBezTo>
                    <a:pt x="147" y="44"/>
                    <a:pt x="151" y="49"/>
                    <a:pt x="162" y="54"/>
                  </a:cubicBezTo>
                  <a:cubicBezTo>
                    <a:pt x="201" y="71"/>
                    <a:pt x="223" y="102"/>
                    <a:pt x="228" y="144"/>
                  </a:cubicBezTo>
                  <a:cubicBezTo>
                    <a:pt x="231" y="165"/>
                    <a:pt x="222" y="179"/>
                    <a:pt x="205" y="182"/>
                  </a:cubicBezTo>
                  <a:cubicBezTo>
                    <a:pt x="188" y="185"/>
                    <a:pt x="176" y="174"/>
                    <a:pt x="173" y="152"/>
                  </a:cubicBezTo>
                  <a:cubicBezTo>
                    <a:pt x="168" y="124"/>
                    <a:pt x="154" y="107"/>
                    <a:pt x="129" y="102"/>
                  </a:cubicBezTo>
                  <a:cubicBezTo>
                    <a:pt x="107" y="98"/>
                    <a:pt x="85" y="108"/>
                    <a:pt x="74" y="127"/>
                  </a:cubicBezTo>
                  <a:cubicBezTo>
                    <a:pt x="62" y="146"/>
                    <a:pt x="62" y="171"/>
                    <a:pt x="78" y="186"/>
                  </a:cubicBezTo>
                  <a:cubicBezTo>
                    <a:pt x="89" y="197"/>
                    <a:pt x="106" y="205"/>
                    <a:pt x="121" y="207"/>
                  </a:cubicBezTo>
                  <a:cubicBezTo>
                    <a:pt x="177" y="212"/>
                    <a:pt x="217" y="245"/>
                    <a:pt x="227" y="299"/>
                  </a:cubicBezTo>
                  <a:cubicBezTo>
                    <a:pt x="236" y="349"/>
                    <a:pt x="210" y="397"/>
                    <a:pt x="161" y="418"/>
                  </a:cubicBezTo>
                  <a:cubicBezTo>
                    <a:pt x="151" y="422"/>
                    <a:pt x="147" y="427"/>
                    <a:pt x="147" y="438"/>
                  </a:cubicBezTo>
                  <a:cubicBezTo>
                    <a:pt x="147" y="462"/>
                    <a:pt x="137" y="475"/>
                    <a:pt x="120" y="475"/>
                  </a:cubicBezTo>
                  <a:cubicBezTo>
                    <a:pt x="102" y="475"/>
                    <a:pt x="91" y="462"/>
                    <a:pt x="91" y="439"/>
                  </a:cubicBezTo>
                  <a:cubicBezTo>
                    <a:pt x="91" y="428"/>
                    <a:pt x="88" y="422"/>
                    <a:pt x="77" y="417"/>
                  </a:cubicBezTo>
                  <a:cubicBezTo>
                    <a:pt x="35" y="399"/>
                    <a:pt x="14" y="366"/>
                    <a:pt x="10" y="32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39">
                <a:defRPr/>
              </a:pPr>
              <a:endParaRPr lang="en-US" sz="2400" dirty="0">
                <a:solidFill>
                  <a:srgbClr val="000000"/>
                </a:solidFill>
                <a:latin typeface="Georgia"/>
              </a:endParaRPr>
            </a:p>
          </p:txBody>
        </p:sp>
      </p:grpSp>
      <p:sp>
        <p:nvSpPr>
          <p:cNvPr id="111" name="Rounded Rectangle 52">
            <a:extLst>
              <a:ext uri="{FF2B5EF4-FFF2-40B4-BE49-F238E27FC236}">
                <a16:creationId xmlns:a16="http://schemas.microsoft.com/office/drawing/2014/main" id="{7969C01F-8DA1-421C-B146-9E33981AA451}"/>
              </a:ext>
            </a:extLst>
          </p:cNvPr>
          <p:cNvSpPr/>
          <p:nvPr/>
        </p:nvSpPr>
        <p:spPr>
          <a:xfrm rot="16200000" flipH="1">
            <a:off x="1505973" y="456866"/>
            <a:ext cx="685800" cy="2691900"/>
          </a:xfrm>
          <a:prstGeom prst="round2SameRect">
            <a:avLst>
              <a:gd name="adj1" fmla="val 9923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IN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6F0616C-1687-4620-B588-3D94A306CA41}"/>
              </a:ext>
            </a:extLst>
          </p:cNvPr>
          <p:cNvSpPr/>
          <p:nvPr/>
        </p:nvSpPr>
        <p:spPr>
          <a:xfrm>
            <a:off x="3283270" y="1662706"/>
            <a:ext cx="280219" cy="2802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77DEB47-6F37-41D6-A5AE-0BA608F8DB30}"/>
              </a:ext>
            </a:extLst>
          </p:cNvPr>
          <p:cNvSpPr/>
          <p:nvPr/>
        </p:nvSpPr>
        <p:spPr>
          <a:xfrm>
            <a:off x="4669178" y="1662706"/>
            <a:ext cx="280219" cy="2802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6B9A7F91-DA24-4F98-9831-DBAB15CD1F85}"/>
              </a:ext>
            </a:extLst>
          </p:cNvPr>
          <p:cNvSpPr/>
          <p:nvPr/>
        </p:nvSpPr>
        <p:spPr>
          <a:xfrm>
            <a:off x="6055086" y="1662706"/>
            <a:ext cx="280219" cy="2802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AAEEACDB-C611-44D3-A202-1563ACA576E0}"/>
              </a:ext>
            </a:extLst>
          </p:cNvPr>
          <p:cNvSpPr/>
          <p:nvPr/>
        </p:nvSpPr>
        <p:spPr>
          <a:xfrm>
            <a:off x="7440993" y="1662706"/>
            <a:ext cx="280219" cy="2802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IN" sz="2400" dirty="0">
                <a:solidFill>
                  <a:prstClr val="white"/>
                </a:solidFill>
                <a:latin typeface="Georgia"/>
                <a:ea typeface="Yu Gothic" panose="020B0400000000000000" pitchFamily="34" charset="-128"/>
              </a:rPr>
              <a:t>✓</a:t>
            </a:r>
            <a:endParaRPr lang="en-IN" sz="240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53DA63-61CE-4734-A065-F8D85802D5BD}"/>
              </a:ext>
            </a:extLst>
          </p:cNvPr>
          <p:cNvSpPr txBox="1"/>
          <p:nvPr/>
        </p:nvSpPr>
        <p:spPr>
          <a:xfrm>
            <a:off x="1074420" y="1502733"/>
            <a:ext cx="1940243" cy="6001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800">
              <a:defRPr/>
            </a:pPr>
            <a:r>
              <a:rPr lang="en-US" sz="975" b="1" dirty="0">
                <a:solidFill>
                  <a:prstClr val="white"/>
                </a:solidFill>
                <a:latin typeface="Georgia" panose="02040502050405020303" pitchFamily="18" charset="0"/>
              </a:rPr>
              <a:t>Sales quotas and </a:t>
            </a:r>
            <a:br>
              <a:rPr lang="en-US" sz="975" b="1" dirty="0">
                <a:solidFill>
                  <a:prstClr val="white"/>
                </a:solidFill>
                <a:latin typeface="Georgia" panose="02040502050405020303" pitchFamily="18" charset="0"/>
              </a:rPr>
            </a:br>
            <a:r>
              <a:rPr lang="en-US" sz="975" b="1" dirty="0">
                <a:solidFill>
                  <a:prstClr val="white"/>
                </a:solidFill>
                <a:latin typeface="Georgia" panose="02040502050405020303" pitchFamily="18" charset="0"/>
              </a:rPr>
              <a:t>SFE KPIs targets setting </a:t>
            </a:r>
            <a:br>
              <a:rPr lang="en-US" sz="975" b="1" dirty="0">
                <a:solidFill>
                  <a:prstClr val="white"/>
                </a:solidFill>
                <a:latin typeface="Georgia" panose="02040502050405020303" pitchFamily="18" charset="0"/>
              </a:rPr>
            </a:br>
            <a:r>
              <a:rPr lang="en-US" sz="975" b="1" dirty="0">
                <a:solidFill>
                  <a:prstClr val="white"/>
                </a:solidFill>
                <a:latin typeface="Georgia" panose="02040502050405020303" pitchFamily="18" charset="0"/>
              </a:rPr>
              <a:t>&amp; communication </a:t>
            </a:r>
            <a:r>
              <a:rPr lang="en-US" sz="975" dirty="0">
                <a:solidFill>
                  <a:prstClr val="white"/>
                </a:solidFill>
                <a:latin typeface="Georgia" panose="02040502050405020303" pitchFamily="18" charset="0"/>
              </a:rPr>
              <a:t>(by the beginning of each QRT)</a:t>
            </a:r>
          </a:p>
        </p:txBody>
      </p:sp>
      <p:grpSp>
        <p:nvGrpSpPr>
          <p:cNvPr id="85" name="Group 25">
            <a:extLst>
              <a:ext uri="{FF2B5EF4-FFF2-40B4-BE49-F238E27FC236}">
                <a16:creationId xmlns:a16="http://schemas.microsoft.com/office/drawing/2014/main" id="{0FF04E43-630D-4A8B-89A0-16B0F077F15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3375" y="1675739"/>
            <a:ext cx="326900" cy="254153"/>
            <a:chOff x="973" y="122"/>
            <a:chExt cx="3851" cy="2994"/>
          </a:xfrm>
          <a:solidFill>
            <a:schemeClr val="bg1"/>
          </a:solidFill>
        </p:grpSpPr>
        <p:sp>
          <p:nvSpPr>
            <p:cNvPr id="86" name="Freeform 26">
              <a:extLst>
                <a:ext uri="{FF2B5EF4-FFF2-40B4-BE49-F238E27FC236}">
                  <a16:creationId xmlns:a16="http://schemas.microsoft.com/office/drawing/2014/main" id="{C00AE935-330E-4BE9-A2F8-BDAAB70380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3" y="1292"/>
              <a:ext cx="3851" cy="1824"/>
            </a:xfrm>
            <a:custGeom>
              <a:avLst/>
              <a:gdLst>
                <a:gd name="T0" fmla="*/ 405 w 1884"/>
                <a:gd name="T1" fmla="*/ 727 h 907"/>
                <a:gd name="T2" fmla="*/ 405 w 1884"/>
                <a:gd name="T3" fmla="*/ 848 h 907"/>
                <a:gd name="T4" fmla="*/ 346 w 1884"/>
                <a:gd name="T5" fmla="*/ 907 h 907"/>
                <a:gd name="T6" fmla="*/ 58 w 1884"/>
                <a:gd name="T7" fmla="*/ 907 h 907"/>
                <a:gd name="T8" fmla="*/ 0 w 1884"/>
                <a:gd name="T9" fmla="*/ 850 h 907"/>
                <a:gd name="T10" fmla="*/ 0 w 1884"/>
                <a:gd name="T11" fmla="*/ 56 h 907"/>
                <a:gd name="T12" fmla="*/ 57 w 1884"/>
                <a:gd name="T13" fmla="*/ 0 h 907"/>
                <a:gd name="T14" fmla="*/ 345 w 1884"/>
                <a:gd name="T15" fmla="*/ 0 h 907"/>
                <a:gd name="T16" fmla="*/ 402 w 1884"/>
                <a:gd name="T17" fmla="*/ 57 h 907"/>
                <a:gd name="T18" fmla="*/ 402 w 1884"/>
                <a:gd name="T19" fmla="*/ 124 h 907"/>
                <a:gd name="T20" fmla="*/ 460 w 1884"/>
                <a:gd name="T21" fmla="*/ 124 h 907"/>
                <a:gd name="T22" fmla="*/ 730 w 1884"/>
                <a:gd name="T23" fmla="*/ 190 h 907"/>
                <a:gd name="T24" fmla="*/ 766 w 1884"/>
                <a:gd name="T25" fmla="*/ 206 h 907"/>
                <a:gd name="T26" fmla="*/ 877 w 1884"/>
                <a:gd name="T27" fmla="*/ 210 h 907"/>
                <a:gd name="T28" fmla="*/ 1110 w 1884"/>
                <a:gd name="T29" fmla="*/ 149 h 907"/>
                <a:gd name="T30" fmla="*/ 1322 w 1884"/>
                <a:gd name="T31" fmla="*/ 195 h 907"/>
                <a:gd name="T32" fmla="*/ 1352 w 1884"/>
                <a:gd name="T33" fmla="*/ 200 h 907"/>
                <a:gd name="T34" fmla="*/ 1556 w 1884"/>
                <a:gd name="T35" fmla="*/ 131 h 907"/>
                <a:gd name="T36" fmla="*/ 1852 w 1884"/>
                <a:gd name="T37" fmla="*/ 253 h 907"/>
                <a:gd name="T38" fmla="*/ 1800 w 1884"/>
                <a:gd name="T39" fmla="*/ 408 h 907"/>
                <a:gd name="T40" fmla="*/ 1576 w 1884"/>
                <a:gd name="T41" fmla="*/ 517 h 907"/>
                <a:gd name="T42" fmla="*/ 1064 w 1884"/>
                <a:gd name="T43" fmla="*/ 767 h 907"/>
                <a:gd name="T44" fmla="*/ 685 w 1884"/>
                <a:gd name="T45" fmla="*/ 776 h 907"/>
                <a:gd name="T46" fmla="*/ 536 w 1884"/>
                <a:gd name="T47" fmla="*/ 728 h 907"/>
                <a:gd name="T48" fmla="*/ 405 w 1884"/>
                <a:gd name="T49" fmla="*/ 727 h 907"/>
                <a:gd name="T50" fmla="*/ 1301 w 1884"/>
                <a:gd name="T51" fmla="*/ 330 h 907"/>
                <a:gd name="T52" fmla="*/ 1295 w 1884"/>
                <a:gd name="T53" fmla="*/ 313 h 907"/>
                <a:gd name="T54" fmla="*/ 1135 w 1884"/>
                <a:gd name="T55" fmla="*/ 242 h 907"/>
                <a:gd name="T56" fmla="*/ 903 w 1884"/>
                <a:gd name="T57" fmla="*/ 302 h 907"/>
                <a:gd name="T58" fmla="*/ 681 w 1884"/>
                <a:gd name="T59" fmla="*/ 273 h 907"/>
                <a:gd name="T60" fmla="*/ 637 w 1884"/>
                <a:gd name="T61" fmla="*/ 250 h 907"/>
                <a:gd name="T62" fmla="*/ 403 w 1884"/>
                <a:gd name="T63" fmla="*/ 218 h 907"/>
                <a:gd name="T64" fmla="*/ 403 w 1884"/>
                <a:gd name="T65" fmla="*/ 622 h 907"/>
                <a:gd name="T66" fmla="*/ 475 w 1884"/>
                <a:gd name="T67" fmla="*/ 622 h 907"/>
                <a:gd name="T68" fmla="*/ 631 w 1884"/>
                <a:gd name="T69" fmla="*/ 648 h 907"/>
                <a:gd name="T70" fmla="*/ 748 w 1884"/>
                <a:gd name="T71" fmla="*/ 695 h 907"/>
                <a:gd name="T72" fmla="*/ 1017 w 1884"/>
                <a:gd name="T73" fmla="*/ 687 h 907"/>
                <a:gd name="T74" fmla="*/ 1757 w 1884"/>
                <a:gd name="T75" fmla="*/ 327 h 907"/>
                <a:gd name="T76" fmla="*/ 1769 w 1884"/>
                <a:gd name="T77" fmla="*/ 301 h 907"/>
                <a:gd name="T78" fmla="*/ 1588 w 1884"/>
                <a:gd name="T79" fmla="*/ 208 h 907"/>
                <a:gd name="T80" fmla="*/ 1395 w 1884"/>
                <a:gd name="T81" fmla="*/ 273 h 907"/>
                <a:gd name="T82" fmla="*/ 1384 w 1884"/>
                <a:gd name="T83" fmla="*/ 280 h 907"/>
                <a:gd name="T84" fmla="*/ 1401 w 1884"/>
                <a:gd name="T85" fmla="*/ 394 h 907"/>
                <a:gd name="T86" fmla="*/ 1367 w 1884"/>
                <a:gd name="T87" fmla="*/ 404 h 907"/>
                <a:gd name="T88" fmla="*/ 937 w 1884"/>
                <a:gd name="T89" fmla="*/ 576 h 907"/>
                <a:gd name="T90" fmla="*/ 870 w 1884"/>
                <a:gd name="T91" fmla="*/ 551 h 907"/>
                <a:gd name="T92" fmla="*/ 900 w 1884"/>
                <a:gd name="T93" fmla="*/ 489 h 907"/>
                <a:gd name="T94" fmla="*/ 931 w 1884"/>
                <a:gd name="T95" fmla="*/ 477 h 907"/>
                <a:gd name="T96" fmla="*/ 1301 w 1884"/>
                <a:gd name="T97" fmla="*/ 330 h 907"/>
                <a:gd name="T98" fmla="*/ 95 w 1884"/>
                <a:gd name="T99" fmla="*/ 94 h 907"/>
                <a:gd name="T100" fmla="*/ 95 w 1884"/>
                <a:gd name="T101" fmla="*/ 808 h 907"/>
                <a:gd name="T102" fmla="*/ 306 w 1884"/>
                <a:gd name="T103" fmla="*/ 808 h 907"/>
                <a:gd name="T104" fmla="*/ 306 w 1884"/>
                <a:gd name="T105" fmla="*/ 94 h 907"/>
                <a:gd name="T106" fmla="*/ 95 w 1884"/>
                <a:gd name="T107" fmla="*/ 94 h 9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884" h="907">
                  <a:moveTo>
                    <a:pt x="405" y="727"/>
                  </a:moveTo>
                  <a:cubicBezTo>
                    <a:pt x="405" y="767"/>
                    <a:pt x="405" y="808"/>
                    <a:pt x="405" y="848"/>
                  </a:cubicBezTo>
                  <a:cubicBezTo>
                    <a:pt x="405" y="888"/>
                    <a:pt x="386" y="907"/>
                    <a:pt x="346" y="907"/>
                  </a:cubicBezTo>
                  <a:cubicBezTo>
                    <a:pt x="250" y="907"/>
                    <a:pt x="154" y="907"/>
                    <a:pt x="58" y="907"/>
                  </a:cubicBezTo>
                  <a:cubicBezTo>
                    <a:pt x="19" y="907"/>
                    <a:pt x="0" y="889"/>
                    <a:pt x="0" y="850"/>
                  </a:cubicBezTo>
                  <a:cubicBezTo>
                    <a:pt x="0" y="585"/>
                    <a:pt x="0" y="321"/>
                    <a:pt x="0" y="56"/>
                  </a:cubicBezTo>
                  <a:cubicBezTo>
                    <a:pt x="0" y="18"/>
                    <a:pt x="19" y="0"/>
                    <a:pt x="57" y="0"/>
                  </a:cubicBezTo>
                  <a:cubicBezTo>
                    <a:pt x="153" y="0"/>
                    <a:pt x="249" y="0"/>
                    <a:pt x="345" y="0"/>
                  </a:cubicBezTo>
                  <a:cubicBezTo>
                    <a:pt x="383" y="0"/>
                    <a:pt x="401" y="19"/>
                    <a:pt x="402" y="57"/>
                  </a:cubicBezTo>
                  <a:cubicBezTo>
                    <a:pt x="402" y="78"/>
                    <a:pt x="402" y="99"/>
                    <a:pt x="402" y="124"/>
                  </a:cubicBezTo>
                  <a:cubicBezTo>
                    <a:pt x="422" y="124"/>
                    <a:pt x="441" y="124"/>
                    <a:pt x="460" y="124"/>
                  </a:cubicBezTo>
                  <a:cubicBezTo>
                    <a:pt x="556" y="120"/>
                    <a:pt x="646" y="143"/>
                    <a:pt x="730" y="190"/>
                  </a:cubicBezTo>
                  <a:cubicBezTo>
                    <a:pt x="741" y="197"/>
                    <a:pt x="754" y="202"/>
                    <a:pt x="766" y="206"/>
                  </a:cubicBezTo>
                  <a:cubicBezTo>
                    <a:pt x="803" y="218"/>
                    <a:pt x="839" y="220"/>
                    <a:pt x="877" y="210"/>
                  </a:cubicBezTo>
                  <a:cubicBezTo>
                    <a:pt x="954" y="189"/>
                    <a:pt x="1032" y="169"/>
                    <a:pt x="1110" y="149"/>
                  </a:cubicBezTo>
                  <a:cubicBezTo>
                    <a:pt x="1189" y="128"/>
                    <a:pt x="1259" y="145"/>
                    <a:pt x="1322" y="195"/>
                  </a:cubicBezTo>
                  <a:cubicBezTo>
                    <a:pt x="1332" y="203"/>
                    <a:pt x="1340" y="205"/>
                    <a:pt x="1352" y="200"/>
                  </a:cubicBezTo>
                  <a:cubicBezTo>
                    <a:pt x="1420" y="177"/>
                    <a:pt x="1488" y="153"/>
                    <a:pt x="1556" y="131"/>
                  </a:cubicBezTo>
                  <a:cubicBezTo>
                    <a:pt x="1674" y="92"/>
                    <a:pt x="1798" y="143"/>
                    <a:pt x="1852" y="253"/>
                  </a:cubicBezTo>
                  <a:cubicBezTo>
                    <a:pt x="1884" y="317"/>
                    <a:pt x="1864" y="376"/>
                    <a:pt x="1800" y="408"/>
                  </a:cubicBezTo>
                  <a:cubicBezTo>
                    <a:pt x="1725" y="445"/>
                    <a:pt x="1650" y="481"/>
                    <a:pt x="1576" y="517"/>
                  </a:cubicBezTo>
                  <a:cubicBezTo>
                    <a:pt x="1405" y="600"/>
                    <a:pt x="1234" y="682"/>
                    <a:pt x="1064" y="767"/>
                  </a:cubicBezTo>
                  <a:cubicBezTo>
                    <a:pt x="938" y="831"/>
                    <a:pt x="812" y="831"/>
                    <a:pt x="685" y="776"/>
                  </a:cubicBezTo>
                  <a:cubicBezTo>
                    <a:pt x="637" y="754"/>
                    <a:pt x="589" y="732"/>
                    <a:pt x="536" y="728"/>
                  </a:cubicBezTo>
                  <a:cubicBezTo>
                    <a:pt x="493" y="724"/>
                    <a:pt x="451" y="727"/>
                    <a:pt x="405" y="727"/>
                  </a:cubicBezTo>
                  <a:close/>
                  <a:moveTo>
                    <a:pt x="1301" y="330"/>
                  </a:moveTo>
                  <a:cubicBezTo>
                    <a:pt x="1299" y="323"/>
                    <a:pt x="1297" y="318"/>
                    <a:pt x="1295" y="313"/>
                  </a:cubicBezTo>
                  <a:cubicBezTo>
                    <a:pt x="1270" y="254"/>
                    <a:pt x="1203" y="224"/>
                    <a:pt x="1135" y="242"/>
                  </a:cubicBezTo>
                  <a:cubicBezTo>
                    <a:pt x="1057" y="262"/>
                    <a:pt x="980" y="282"/>
                    <a:pt x="903" y="302"/>
                  </a:cubicBezTo>
                  <a:cubicBezTo>
                    <a:pt x="825" y="322"/>
                    <a:pt x="751" y="312"/>
                    <a:pt x="681" y="273"/>
                  </a:cubicBezTo>
                  <a:cubicBezTo>
                    <a:pt x="666" y="265"/>
                    <a:pt x="652" y="257"/>
                    <a:pt x="637" y="250"/>
                  </a:cubicBezTo>
                  <a:cubicBezTo>
                    <a:pt x="562" y="215"/>
                    <a:pt x="483" y="214"/>
                    <a:pt x="403" y="218"/>
                  </a:cubicBezTo>
                  <a:cubicBezTo>
                    <a:pt x="403" y="354"/>
                    <a:pt x="403" y="487"/>
                    <a:pt x="403" y="622"/>
                  </a:cubicBezTo>
                  <a:cubicBezTo>
                    <a:pt x="428" y="622"/>
                    <a:pt x="451" y="622"/>
                    <a:pt x="475" y="622"/>
                  </a:cubicBezTo>
                  <a:cubicBezTo>
                    <a:pt x="528" y="622"/>
                    <a:pt x="581" y="629"/>
                    <a:pt x="631" y="648"/>
                  </a:cubicBezTo>
                  <a:cubicBezTo>
                    <a:pt x="671" y="663"/>
                    <a:pt x="709" y="680"/>
                    <a:pt x="748" y="695"/>
                  </a:cubicBezTo>
                  <a:cubicBezTo>
                    <a:pt x="839" y="730"/>
                    <a:pt x="929" y="730"/>
                    <a:pt x="1017" y="687"/>
                  </a:cubicBezTo>
                  <a:cubicBezTo>
                    <a:pt x="1264" y="567"/>
                    <a:pt x="1510" y="447"/>
                    <a:pt x="1757" y="327"/>
                  </a:cubicBezTo>
                  <a:cubicBezTo>
                    <a:pt x="1770" y="320"/>
                    <a:pt x="1773" y="314"/>
                    <a:pt x="1769" y="301"/>
                  </a:cubicBezTo>
                  <a:cubicBezTo>
                    <a:pt x="1746" y="227"/>
                    <a:pt x="1664" y="184"/>
                    <a:pt x="1588" y="208"/>
                  </a:cubicBezTo>
                  <a:cubicBezTo>
                    <a:pt x="1523" y="229"/>
                    <a:pt x="1459" y="252"/>
                    <a:pt x="1395" y="273"/>
                  </a:cubicBezTo>
                  <a:cubicBezTo>
                    <a:pt x="1391" y="275"/>
                    <a:pt x="1388" y="277"/>
                    <a:pt x="1384" y="280"/>
                  </a:cubicBezTo>
                  <a:cubicBezTo>
                    <a:pt x="1406" y="317"/>
                    <a:pt x="1404" y="356"/>
                    <a:pt x="1401" y="394"/>
                  </a:cubicBezTo>
                  <a:cubicBezTo>
                    <a:pt x="1388" y="398"/>
                    <a:pt x="1377" y="400"/>
                    <a:pt x="1367" y="404"/>
                  </a:cubicBezTo>
                  <a:cubicBezTo>
                    <a:pt x="1223" y="461"/>
                    <a:pt x="1080" y="519"/>
                    <a:pt x="937" y="576"/>
                  </a:cubicBezTo>
                  <a:cubicBezTo>
                    <a:pt x="909" y="587"/>
                    <a:pt x="881" y="576"/>
                    <a:pt x="870" y="551"/>
                  </a:cubicBezTo>
                  <a:cubicBezTo>
                    <a:pt x="860" y="527"/>
                    <a:pt x="872" y="501"/>
                    <a:pt x="900" y="489"/>
                  </a:cubicBezTo>
                  <a:cubicBezTo>
                    <a:pt x="910" y="485"/>
                    <a:pt x="921" y="481"/>
                    <a:pt x="931" y="477"/>
                  </a:cubicBezTo>
                  <a:cubicBezTo>
                    <a:pt x="1054" y="428"/>
                    <a:pt x="1176" y="379"/>
                    <a:pt x="1301" y="330"/>
                  </a:cubicBezTo>
                  <a:close/>
                  <a:moveTo>
                    <a:pt x="95" y="94"/>
                  </a:moveTo>
                  <a:cubicBezTo>
                    <a:pt x="95" y="333"/>
                    <a:pt x="95" y="570"/>
                    <a:pt x="95" y="808"/>
                  </a:cubicBezTo>
                  <a:cubicBezTo>
                    <a:pt x="166" y="808"/>
                    <a:pt x="236" y="808"/>
                    <a:pt x="306" y="808"/>
                  </a:cubicBezTo>
                  <a:cubicBezTo>
                    <a:pt x="306" y="569"/>
                    <a:pt x="306" y="332"/>
                    <a:pt x="306" y="94"/>
                  </a:cubicBezTo>
                  <a:cubicBezTo>
                    <a:pt x="235" y="94"/>
                    <a:pt x="166" y="94"/>
                    <a:pt x="95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39">
                <a:defRPr/>
              </a:pPr>
              <a:endParaRPr lang="en-US" sz="240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87" name="Freeform 27">
              <a:extLst>
                <a:ext uri="{FF2B5EF4-FFF2-40B4-BE49-F238E27FC236}">
                  <a16:creationId xmlns:a16="http://schemas.microsoft.com/office/drawing/2014/main" id="{6815F2AF-46C9-4EBE-A768-13B91D7ABB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77" y="122"/>
              <a:ext cx="1410" cy="1392"/>
            </a:xfrm>
            <a:custGeom>
              <a:avLst/>
              <a:gdLst>
                <a:gd name="T0" fmla="*/ 0 w 690"/>
                <a:gd name="T1" fmla="*/ 344 h 692"/>
                <a:gd name="T2" fmla="*/ 345 w 690"/>
                <a:gd name="T3" fmla="*/ 0 h 692"/>
                <a:gd name="T4" fmla="*/ 689 w 690"/>
                <a:gd name="T5" fmla="*/ 347 h 692"/>
                <a:gd name="T6" fmla="*/ 343 w 690"/>
                <a:gd name="T7" fmla="*/ 691 h 692"/>
                <a:gd name="T8" fmla="*/ 0 w 690"/>
                <a:gd name="T9" fmla="*/ 344 h 692"/>
                <a:gd name="T10" fmla="*/ 344 w 690"/>
                <a:gd name="T11" fmla="*/ 596 h 692"/>
                <a:gd name="T12" fmla="*/ 596 w 690"/>
                <a:gd name="T13" fmla="*/ 346 h 692"/>
                <a:gd name="T14" fmla="*/ 347 w 690"/>
                <a:gd name="T15" fmla="*/ 94 h 692"/>
                <a:gd name="T16" fmla="*/ 93 w 690"/>
                <a:gd name="T17" fmla="*/ 344 h 692"/>
                <a:gd name="T18" fmla="*/ 344 w 690"/>
                <a:gd name="T19" fmla="*/ 596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0" h="692">
                  <a:moveTo>
                    <a:pt x="0" y="344"/>
                  </a:moveTo>
                  <a:cubicBezTo>
                    <a:pt x="1" y="153"/>
                    <a:pt x="154" y="0"/>
                    <a:pt x="345" y="0"/>
                  </a:cubicBezTo>
                  <a:cubicBezTo>
                    <a:pt x="537" y="0"/>
                    <a:pt x="690" y="155"/>
                    <a:pt x="689" y="347"/>
                  </a:cubicBezTo>
                  <a:cubicBezTo>
                    <a:pt x="689" y="538"/>
                    <a:pt x="534" y="692"/>
                    <a:pt x="343" y="691"/>
                  </a:cubicBezTo>
                  <a:cubicBezTo>
                    <a:pt x="152" y="689"/>
                    <a:pt x="0" y="535"/>
                    <a:pt x="0" y="344"/>
                  </a:cubicBezTo>
                  <a:close/>
                  <a:moveTo>
                    <a:pt x="344" y="596"/>
                  </a:moveTo>
                  <a:cubicBezTo>
                    <a:pt x="483" y="597"/>
                    <a:pt x="596" y="484"/>
                    <a:pt x="596" y="346"/>
                  </a:cubicBezTo>
                  <a:cubicBezTo>
                    <a:pt x="596" y="208"/>
                    <a:pt x="484" y="95"/>
                    <a:pt x="347" y="94"/>
                  </a:cubicBezTo>
                  <a:cubicBezTo>
                    <a:pt x="207" y="94"/>
                    <a:pt x="94" y="205"/>
                    <a:pt x="93" y="344"/>
                  </a:cubicBezTo>
                  <a:cubicBezTo>
                    <a:pt x="93" y="483"/>
                    <a:pt x="205" y="596"/>
                    <a:pt x="344" y="5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39">
                <a:defRPr/>
              </a:pPr>
              <a:endParaRPr lang="en-US" sz="240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88" name="Freeform 28">
              <a:extLst>
                <a:ext uri="{FF2B5EF4-FFF2-40B4-BE49-F238E27FC236}">
                  <a16:creationId xmlns:a16="http://schemas.microsoft.com/office/drawing/2014/main" id="{B87AA9A6-B036-4AE6-90AC-73329A7EF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2437"/>
              <a:ext cx="231" cy="227"/>
            </a:xfrm>
            <a:custGeom>
              <a:avLst/>
              <a:gdLst>
                <a:gd name="T0" fmla="*/ 112 w 113"/>
                <a:gd name="T1" fmla="*/ 57 h 113"/>
                <a:gd name="T2" fmla="*/ 56 w 113"/>
                <a:gd name="T3" fmla="*/ 113 h 113"/>
                <a:gd name="T4" fmla="*/ 0 w 113"/>
                <a:gd name="T5" fmla="*/ 56 h 113"/>
                <a:gd name="T6" fmla="*/ 57 w 113"/>
                <a:gd name="T7" fmla="*/ 0 h 113"/>
                <a:gd name="T8" fmla="*/ 112 w 113"/>
                <a:gd name="T9" fmla="*/ 57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113">
                  <a:moveTo>
                    <a:pt x="112" y="57"/>
                  </a:moveTo>
                  <a:cubicBezTo>
                    <a:pt x="112" y="88"/>
                    <a:pt x="87" y="113"/>
                    <a:pt x="56" y="113"/>
                  </a:cubicBezTo>
                  <a:cubicBezTo>
                    <a:pt x="26" y="112"/>
                    <a:pt x="0" y="86"/>
                    <a:pt x="0" y="56"/>
                  </a:cubicBezTo>
                  <a:cubicBezTo>
                    <a:pt x="1" y="27"/>
                    <a:pt x="28" y="0"/>
                    <a:pt x="57" y="0"/>
                  </a:cubicBezTo>
                  <a:cubicBezTo>
                    <a:pt x="87" y="1"/>
                    <a:pt x="113" y="27"/>
                    <a:pt x="112" y="5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39">
                <a:defRPr/>
              </a:pPr>
              <a:endParaRPr lang="en-US" sz="240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90" name="Freeform 29">
              <a:extLst>
                <a:ext uri="{FF2B5EF4-FFF2-40B4-BE49-F238E27FC236}">
                  <a16:creationId xmlns:a16="http://schemas.microsoft.com/office/drawing/2014/main" id="{BDBB135B-6F9A-4969-A9AC-A6E1FDECA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420"/>
              <a:ext cx="466" cy="808"/>
            </a:xfrm>
            <a:custGeom>
              <a:avLst/>
              <a:gdLst>
                <a:gd name="T0" fmla="*/ 107 w 228"/>
                <a:gd name="T1" fmla="*/ 42 h 402"/>
                <a:gd name="T2" fmla="*/ 107 w 228"/>
                <a:gd name="T3" fmla="*/ 0 h 402"/>
                <a:gd name="T4" fmla="*/ 142 w 228"/>
                <a:gd name="T5" fmla="*/ 0 h 402"/>
                <a:gd name="T6" fmla="*/ 180 w 228"/>
                <a:gd name="T7" fmla="*/ 56 h 402"/>
                <a:gd name="T8" fmla="*/ 226 w 228"/>
                <a:gd name="T9" fmla="*/ 136 h 402"/>
                <a:gd name="T10" fmla="*/ 154 w 228"/>
                <a:gd name="T11" fmla="*/ 136 h 402"/>
                <a:gd name="T12" fmla="*/ 150 w 228"/>
                <a:gd name="T13" fmla="*/ 119 h 402"/>
                <a:gd name="T14" fmla="*/ 110 w 228"/>
                <a:gd name="T15" fmla="*/ 92 h 402"/>
                <a:gd name="T16" fmla="*/ 83 w 228"/>
                <a:gd name="T17" fmla="*/ 113 h 402"/>
                <a:gd name="T18" fmla="*/ 102 w 228"/>
                <a:gd name="T19" fmla="*/ 156 h 402"/>
                <a:gd name="T20" fmla="*/ 175 w 228"/>
                <a:gd name="T21" fmla="*/ 192 h 402"/>
                <a:gd name="T22" fmla="*/ 223 w 228"/>
                <a:gd name="T23" fmla="*/ 277 h 402"/>
                <a:gd name="T24" fmla="*/ 173 w 228"/>
                <a:gd name="T25" fmla="*/ 348 h 402"/>
                <a:gd name="T26" fmla="*/ 134 w 228"/>
                <a:gd name="T27" fmla="*/ 360 h 402"/>
                <a:gd name="T28" fmla="*/ 134 w 228"/>
                <a:gd name="T29" fmla="*/ 402 h 402"/>
                <a:gd name="T30" fmla="*/ 100 w 228"/>
                <a:gd name="T31" fmla="*/ 402 h 402"/>
                <a:gd name="T32" fmla="*/ 100 w 228"/>
                <a:gd name="T33" fmla="*/ 361 h 402"/>
                <a:gd name="T34" fmla="*/ 4 w 228"/>
                <a:gd name="T35" fmla="*/ 263 h 402"/>
                <a:gd name="T36" fmla="*/ 72 w 228"/>
                <a:gd name="T37" fmla="*/ 263 h 402"/>
                <a:gd name="T38" fmla="*/ 75 w 228"/>
                <a:gd name="T39" fmla="*/ 278 h 402"/>
                <a:gd name="T40" fmla="*/ 140 w 228"/>
                <a:gd name="T41" fmla="*/ 307 h 402"/>
                <a:gd name="T42" fmla="*/ 133 w 228"/>
                <a:gd name="T43" fmla="*/ 246 h 402"/>
                <a:gd name="T44" fmla="*/ 58 w 228"/>
                <a:gd name="T45" fmla="*/ 209 h 402"/>
                <a:gd name="T46" fmla="*/ 14 w 228"/>
                <a:gd name="T47" fmla="*/ 138 h 402"/>
                <a:gd name="T48" fmla="*/ 78 w 228"/>
                <a:gd name="T49" fmla="*/ 50 h 402"/>
                <a:gd name="T50" fmla="*/ 107 w 228"/>
                <a:gd name="T51" fmla="*/ 42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8" h="402">
                  <a:moveTo>
                    <a:pt x="107" y="42"/>
                  </a:moveTo>
                  <a:cubicBezTo>
                    <a:pt x="107" y="28"/>
                    <a:pt x="107" y="15"/>
                    <a:pt x="107" y="0"/>
                  </a:cubicBezTo>
                  <a:cubicBezTo>
                    <a:pt x="119" y="0"/>
                    <a:pt x="129" y="0"/>
                    <a:pt x="142" y="0"/>
                  </a:cubicBezTo>
                  <a:cubicBezTo>
                    <a:pt x="131" y="35"/>
                    <a:pt x="151" y="46"/>
                    <a:pt x="180" y="56"/>
                  </a:cubicBezTo>
                  <a:cubicBezTo>
                    <a:pt x="212" y="66"/>
                    <a:pt x="228" y="100"/>
                    <a:pt x="226" y="136"/>
                  </a:cubicBezTo>
                  <a:cubicBezTo>
                    <a:pt x="202" y="136"/>
                    <a:pt x="179" y="136"/>
                    <a:pt x="154" y="136"/>
                  </a:cubicBezTo>
                  <a:cubicBezTo>
                    <a:pt x="153" y="131"/>
                    <a:pt x="152" y="125"/>
                    <a:pt x="150" y="119"/>
                  </a:cubicBezTo>
                  <a:cubicBezTo>
                    <a:pt x="144" y="101"/>
                    <a:pt x="130" y="92"/>
                    <a:pt x="110" y="92"/>
                  </a:cubicBezTo>
                  <a:cubicBezTo>
                    <a:pt x="96" y="92"/>
                    <a:pt x="86" y="98"/>
                    <a:pt x="83" y="113"/>
                  </a:cubicBezTo>
                  <a:cubicBezTo>
                    <a:pt x="79" y="131"/>
                    <a:pt x="82" y="147"/>
                    <a:pt x="102" y="156"/>
                  </a:cubicBezTo>
                  <a:cubicBezTo>
                    <a:pt x="126" y="168"/>
                    <a:pt x="151" y="178"/>
                    <a:pt x="175" y="192"/>
                  </a:cubicBezTo>
                  <a:cubicBezTo>
                    <a:pt x="208" y="210"/>
                    <a:pt x="226" y="237"/>
                    <a:pt x="223" y="277"/>
                  </a:cubicBezTo>
                  <a:cubicBezTo>
                    <a:pt x="221" y="311"/>
                    <a:pt x="206" y="336"/>
                    <a:pt x="173" y="348"/>
                  </a:cubicBezTo>
                  <a:cubicBezTo>
                    <a:pt x="161" y="353"/>
                    <a:pt x="148" y="356"/>
                    <a:pt x="134" y="360"/>
                  </a:cubicBezTo>
                  <a:cubicBezTo>
                    <a:pt x="134" y="374"/>
                    <a:pt x="134" y="387"/>
                    <a:pt x="134" y="402"/>
                  </a:cubicBezTo>
                  <a:cubicBezTo>
                    <a:pt x="122" y="402"/>
                    <a:pt x="112" y="402"/>
                    <a:pt x="100" y="402"/>
                  </a:cubicBezTo>
                  <a:cubicBezTo>
                    <a:pt x="100" y="388"/>
                    <a:pt x="100" y="374"/>
                    <a:pt x="100" y="361"/>
                  </a:cubicBezTo>
                  <a:cubicBezTo>
                    <a:pt x="27" y="345"/>
                    <a:pt x="0" y="318"/>
                    <a:pt x="4" y="263"/>
                  </a:cubicBezTo>
                  <a:cubicBezTo>
                    <a:pt x="26" y="263"/>
                    <a:pt x="48" y="263"/>
                    <a:pt x="72" y="263"/>
                  </a:cubicBezTo>
                  <a:cubicBezTo>
                    <a:pt x="73" y="268"/>
                    <a:pt x="74" y="273"/>
                    <a:pt x="75" y="278"/>
                  </a:cubicBezTo>
                  <a:cubicBezTo>
                    <a:pt x="80" y="304"/>
                    <a:pt x="117" y="320"/>
                    <a:pt x="140" y="307"/>
                  </a:cubicBezTo>
                  <a:cubicBezTo>
                    <a:pt x="159" y="295"/>
                    <a:pt x="155" y="257"/>
                    <a:pt x="133" y="246"/>
                  </a:cubicBezTo>
                  <a:cubicBezTo>
                    <a:pt x="109" y="233"/>
                    <a:pt x="83" y="222"/>
                    <a:pt x="58" y="209"/>
                  </a:cubicBezTo>
                  <a:cubicBezTo>
                    <a:pt x="29" y="195"/>
                    <a:pt x="16" y="170"/>
                    <a:pt x="14" y="138"/>
                  </a:cubicBezTo>
                  <a:cubicBezTo>
                    <a:pt x="12" y="92"/>
                    <a:pt x="33" y="62"/>
                    <a:pt x="78" y="50"/>
                  </a:cubicBezTo>
                  <a:cubicBezTo>
                    <a:pt x="87" y="47"/>
                    <a:pt x="96" y="45"/>
                    <a:pt x="107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pPr defTabSz="1219139">
                <a:defRPr/>
              </a:pPr>
              <a:endParaRPr lang="en-US" sz="2400" dirty="0">
                <a:solidFill>
                  <a:srgbClr val="000000"/>
                </a:solidFill>
                <a:latin typeface="Georgi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8171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901A00E-5DE6-4506-92C6-D69D53824E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353" imgH="359" progId="TCLayout.ActiveDocument.1">
                  <p:embed/>
                </p:oleObj>
              </mc:Choice>
              <mc:Fallback>
                <p:oleObj name="think-cell Slide" r:id="rId42" imgW="353" imgH="35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901A00E-5DE6-4506-92C6-D69D53824E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CB2B5A2-8AED-47C8-BE4C-A4174D6CD1EC}"/>
              </a:ext>
            </a:extLst>
          </p:cNvPr>
          <p:cNvSpPr/>
          <p:nvPr/>
        </p:nvSpPr>
        <p:spPr>
          <a:xfrm>
            <a:off x="0" y="1010264"/>
            <a:ext cx="3943350" cy="3771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B8977F4-EFC6-4F72-A846-0E21A0A2F41A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15B07-0FC7-405B-9BC9-830FEDAE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>
                <a:solidFill>
                  <a:schemeClr val="bg1"/>
                </a:solidFill>
              </a:rPr>
              <a:t>Composition analysis – Overview &amp; best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F70DB-B346-4EA3-A7CC-CFDC7BBE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2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49F635A-5119-D4DC-3995-7AB912D86A27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792266" y="2082404"/>
          <a:ext cx="4004072" cy="2263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88A8F98-AD7D-4A58-A99D-0EE23FAEF8D8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349354" y="3776664"/>
            <a:ext cx="3726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7AF6BC04-0D9C-4368-8664-541703000B52}" type="datetime'''1''''''0,''00''''''''''''''''''''''''''''0''''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10,000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FAA908E2-996D-4301-AD17-E9D234A9A36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349354" y="3348039"/>
            <a:ext cx="3726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C58EFF60-74F9-4754-9258-01C4830637BA}" type="datetime'''''''''''2''0'''''''''''''''',0''''0''''''0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20,000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38E4775F-5A29-4915-9A4B-E7EAAA313E9B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4349354" y="2920605"/>
            <a:ext cx="3726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7757E400-42FC-4494-8526-9215A9241874}" type="datetime'3''0'''',''''''0''''''''''''''''''''0''0''''''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30,000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1F488A51-187F-4214-B97F-C69E345C1733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4349354" y="2491980"/>
            <a:ext cx="3726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F9B9D8E0-52CA-46B4-873C-3548DE92603B}" type="datetime'''4''''''''''0'''''''''''''''''''''''''''''',''''0''00''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40,000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B4390626-B634-4E51-B2DA-4E838F64AAB8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4349354" y="2064545"/>
            <a:ext cx="3726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149EFA01-F0DB-48B5-A701-1A5D9AA49165}" type="datetime'5''''''''''0'''''''',0''''''0''''''''0''''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50,000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17B50319-E787-4BD9-9B55-B8F7632A364C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4654154" y="4204098"/>
            <a:ext cx="678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DFB90024-E7CC-4CE2-B0F3-24D98F8B76B0}" type="datetime'''''''''''''''''''''''''''''''''''''0''''''''''''''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0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56EB8721-8E50-48D7-BC9D-E387E9B0C8EB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4349354" y="1797844"/>
            <a:ext cx="145851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b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Average Variable Pay ($)</a:t>
            </a:r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5305ADB3-0ED4-478B-86E6-D83903C9D170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5069681" y="3202782"/>
            <a:ext cx="342900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9920233C-D3DB-454A-B4C2-BEF5C90F18FE}" type="datetime'''4'''''''''''''''''''',''''''''''''3''9''''''4''''''''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4,394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B4B7898-EFB8-4621-9CB3-5E7CE9C78473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5069681" y="3374232"/>
            <a:ext cx="342900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DFBE1B41-CE6B-4906-AD23-0E164F009AFE}" type="datetime'''''''3'''''''',''''''''''''''6''3''''''''3'''''''''''''''''''">
              <a:rPr lang="en-US" altLang="en-US" sz="105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3,633</a:t>
            </a:fld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89DF4BD8-B0D9-48A2-ADAB-CB4581E27092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5036344" y="3827861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5F28495D-D817-4775-9BC2-19696CA49081}" type="datetime'''''''''1''7'',5''''''''''''''''''''''''''''6''''9'">
              <a:rPr lang="en-US" altLang="en-US" sz="105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17,569</a:t>
            </a:fld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6C90C14-2D03-441A-B2E8-96112F88E39E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4994673" y="4327922"/>
            <a:ext cx="49411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4</a:t>
            </a:r>
            <a:r>
              <a:rPr lang="en-IN" altLang="en-US" sz="1050" baseline="30000" dirty="0">
                <a:solidFill>
                  <a:srgbClr val="000000"/>
                </a:solidFill>
                <a:latin typeface="Georgia"/>
              </a:rPr>
              <a:t>th</a:t>
            </a:r>
            <a:endParaRPr lang="en-IN" altLang="en-US" sz="1050" dirty="0">
              <a:solidFill>
                <a:srgbClr val="000000"/>
              </a:solidFill>
              <a:latin typeface="Georgia"/>
            </a:endParaRPr>
          </a:p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Quartile</a:t>
            </a:r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6EF91205-A617-4F55-AEA3-4F3BC3F57F72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gray">
          <a:xfrm>
            <a:off x="5845969" y="2972992"/>
            <a:ext cx="342900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1CF2ACA0-9059-4411-A1F8-C14D79647EFD}" type="datetime'''''''''''6'''''''''''''''''''''',''''8''''''''''''8''8''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6,888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380B3A57-4003-4FFE-B0AC-1DA9762D52BF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gray">
          <a:xfrm>
            <a:off x="5845969" y="3250407"/>
            <a:ext cx="342900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A119221F-FB36-42BE-856B-F9179A3CD1D3}" type="datetime'''''''''''''''''''''''''''''6,''''''''1''''''''06'">
              <a:rPr lang="en-US" altLang="en-US" sz="105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6,106</a:t>
            </a:fld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8D6B5ADE-EEF1-4D35-9E9E-12E6BE73B9F9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gray">
          <a:xfrm>
            <a:off x="5812631" y="3792142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7BC240D1-9ED3-46BD-B261-F9B9FE4A37D2}" type="datetime'''''''''19'''''''''',''''''''2''''''''''''''27'''''''''''''">
              <a:rPr lang="en-US" altLang="en-US" sz="105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19,227</a:t>
            </a:fld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921DAA92-A7F3-4842-BAFE-D2F5E10568BB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5770960" y="4327922"/>
            <a:ext cx="49411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3</a:t>
            </a:r>
            <a:r>
              <a:rPr lang="en-IN" altLang="en-US" sz="1050" baseline="30000" dirty="0">
                <a:solidFill>
                  <a:srgbClr val="000000"/>
                </a:solidFill>
                <a:latin typeface="Georgia"/>
              </a:rPr>
              <a:t>rd</a:t>
            </a:r>
            <a:endParaRPr lang="en-IN" altLang="en-US" sz="1050" dirty="0">
              <a:solidFill>
                <a:srgbClr val="000000"/>
              </a:solidFill>
              <a:latin typeface="Georgia"/>
            </a:endParaRPr>
          </a:p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Quartile</a:t>
            </a:r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7FF536D-987C-44FB-9834-082FE4CFD231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gray">
          <a:xfrm>
            <a:off x="6622256" y="2817020"/>
            <a:ext cx="342900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BC183D5E-499B-4F84-829A-757DD7A63B49}" type="datetime'''''8,''''6''''''''''0''''''''''''''''''''''''''''''''''4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8,604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D7A8D27-4096-4344-A56B-E9F6916B3E4A}"/>
              </a:ext>
            </a:extLst>
          </p:cNvPr>
          <p:cNvSpPr>
            <a:spLocks noGrp="1"/>
          </p:cNvSpPr>
          <p:nvPr>
            <p:custDataLst>
              <p:tags r:id="rId19"/>
            </p:custDataLst>
          </p:nvPr>
        </p:nvSpPr>
        <p:spPr bwMode="gray">
          <a:xfrm>
            <a:off x="6588919" y="3768330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27C88F5D-B20F-4F78-B391-0960050F43C0}" type="datetime'''''''''''''2''''''''''0,''''''3''''''''''''2''''''''''''9'">
              <a:rPr lang="en-US" altLang="en-US" sz="105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20,329</a:t>
            </a:fld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AAA6C19-DC08-466C-BBE7-54B4B3BDDD0D}"/>
              </a:ext>
            </a:extLst>
          </p:cNvPr>
          <p:cNvSpPr>
            <a:spLocks noGrp="1"/>
          </p:cNvSpPr>
          <p:nvPr>
            <p:custDataLst>
              <p:tags r:id="rId20"/>
            </p:custDataLst>
          </p:nvPr>
        </p:nvSpPr>
        <p:spPr bwMode="auto">
          <a:xfrm>
            <a:off x="6547248" y="4327922"/>
            <a:ext cx="49411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2</a:t>
            </a:r>
            <a:r>
              <a:rPr lang="en-IN" altLang="en-US" sz="1050" baseline="30000" dirty="0">
                <a:solidFill>
                  <a:srgbClr val="000000"/>
                </a:solidFill>
                <a:latin typeface="Georgia"/>
              </a:rPr>
              <a:t>nd</a:t>
            </a:r>
            <a:endParaRPr lang="en-IN" altLang="en-US" sz="1050" dirty="0">
              <a:solidFill>
                <a:srgbClr val="000000"/>
              </a:solidFill>
              <a:latin typeface="Georgia"/>
            </a:endParaRPr>
          </a:p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Quartile</a:t>
            </a:r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BA78E112-3DBF-4DDD-8B50-07DEE0EA94A7}"/>
              </a:ext>
            </a:extLst>
          </p:cNvPr>
          <p:cNvSpPr>
            <a:spLocks noGrp="1"/>
          </p:cNvSpPr>
          <p:nvPr>
            <p:custDataLst>
              <p:tags r:id="rId21"/>
            </p:custDataLst>
          </p:nvPr>
        </p:nvSpPr>
        <p:spPr bwMode="gray">
          <a:xfrm>
            <a:off x="7364016" y="2447926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BBEE9633-FD9C-44F8-86B2-400662EE8B2E}" type="datetime'''''1''''''2,''0''''7''''''''''''''''''''''''''''''''''''''2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12,072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33B5D21A-F790-4634-B03A-83DF465A3632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gray">
          <a:xfrm>
            <a:off x="7364016" y="2969420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B76397ED-5ED0-47BD-8F29-21F390B94170}" type="datetime'''''''''''1''''''''''''2'''''',''''''3''''''0''''''5'''''">
              <a:rPr lang="en-US" altLang="en-US" sz="105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12,305</a:t>
            </a:fld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76141EB-011A-47EB-98AA-583AB13757A7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gray">
          <a:xfrm>
            <a:off x="7364016" y="3718323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3BFA795B-4DB2-44CA-9F11-C1A530337D0A}" type="datetime'''''''''''''''2''''2'',''6''''''''''8''''''''5'''">
              <a:rPr lang="en-US" altLang="en-US" sz="105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22,685</a:t>
            </a:fld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DBA067EC-AD9E-43CB-A51C-FC4AAD163E57}"/>
              </a:ext>
            </a:extLst>
          </p:cNvPr>
          <p:cNvSpPr>
            <a:spLocks noGrp="1"/>
          </p:cNvSpPr>
          <p:nvPr>
            <p:custDataLst>
              <p:tags r:id="rId24"/>
            </p:custDataLst>
          </p:nvPr>
        </p:nvSpPr>
        <p:spPr bwMode="auto">
          <a:xfrm>
            <a:off x="7322344" y="4327922"/>
            <a:ext cx="49411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sz="1050" dirty="0">
                <a:solidFill>
                  <a:srgbClr val="000000"/>
                </a:solidFill>
                <a:latin typeface="Georgia" panose="02040502050405020303" pitchFamily="18" charset="0"/>
              </a:rPr>
              <a:t>1</a:t>
            </a:r>
            <a:r>
              <a:rPr lang="en-IN" sz="1050" baseline="30000" dirty="0">
                <a:solidFill>
                  <a:srgbClr val="000000"/>
                </a:solidFill>
                <a:latin typeface="Georgia" panose="02040502050405020303" pitchFamily="18" charset="0"/>
              </a:rPr>
              <a:t>st</a:t>
            </a:r>
            <a:endParaRPr lang="en-IN" sz="1050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sz="1050" dirty="0">
                <a:solidFill>
                  <a:srgbClr val="000000"/>
                </a:solidFill>
                <a:latin typeface="Georgia" panose="02040502050405020303" pitchFamily="18" charset="0"/>
              </a:rPr>
              <a:t>Quartile</a:t>
            </a:r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8CB69B44-510B-4B2D-A9E0-8B461E260450}"/>
              </a:ext>
            </a:extLst>
          </p:cNvPr>
          <p:cNvSpPr>
            <a:spLocks noGrp="1"/>
          </p:cNvSpPr>
          <p:nvPr>
            <p:custDataLst>
              <p:tags r:id="rId25"/>
            </p:custDataLst>
          </p:nvPr>
        </p:nvSpPr>
        <p:spPr bwMode="gray">
          <a:xfrm>
            <a:off x="8173641" y="2859882"/>
            <a:ext cx="342900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8C1D21D9-072F-407D-BC44-6E6FACD19834}" type="datetime'''''''7'''''''''''''''''''''''''''',''''''''9''''86''''''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7,986</a:t>
            </a:fld>
            <a:endParaRPr lang="en-US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9E6899B-599D-402F-954E-D9365E34D897}"/>
              </a:ext>
            </a:extLst>
          </p:cNvPr>
          <p:cNvSpPr>
            <a:spLocks noGrp="1"/>
          </p:cNvSpPr>
          <p:nvPr>
            <p:custDataLst>
              <p:tags r:id="rId26"/>
            </p:custDataLst>
          </p:nvPr>
        </p:nvSpPr>
        <p:spPr bwMode="gray">
          <a:xfrm>
            <a:off x="8173641" y="3190876"/>
            <a:ext cx="342900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FC289325-7BD1-4895-848B-2312BD5B9F6C}" type="datetime'''''7,''4''''''''''''''''5''''''''''2'">
              <a:rPr lang="en-US" altLang="en-US" sz="105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7,452</a:t>
            </a:fld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8140F2F2-E1F4-4A01-85B6-548F3E322ED1}"/>
              </a:ext>
            </a:extLst>
          </p:cNvPr>
          <p:cNvSpPr>
            <a:spLocks noGrp="1"/>
          </p:cNvSpPr>
          <p:nvPr>
            <p:custDataLst>
              <p:tags r:id="rId27"/>
            </p:custDataLst>
          </p:nvPr>
        </p:nvSpPr>
        <p:spPr bwMode="gray">
          <a:xfrm>
            <a:off x="8140304" y="3776664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E8C27B15-F11F-4DA4-AC18-6FB1BD568A02}" type="datetime'''''''''''1''''''9,''9''''''''5''''''0'''">
              <a:rPr lang="en-US" altLang="en-US" sz="105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19,950</a:t>
            </a:fld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994B640B-F563-4A3F-9122-E4EB7B8CA2B3}"/>
              </a:ext>
            </a:extLst>
          </p:cNvPr>
          <p:cNvSpPr>
            <a:spLocks noGrp="1"/>
          </p:cNvSpPr>
          <p:nvPr>
            <p:custDataLst>
              <p:tags r:id="rId28"/>
            </p:custDataLst>
          </p:nvPr>
        </p:nvSpPr>
        <p:spPr bwMode="auto">
          <a:xfrm>
            <a:off x="8071247" y="4327922"/>
            <a:ext cx="547688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39AF9BAD-BBDF-4903-949C-26FFD510A0EB}" type="datetime'''T''''ar''''''ge''t'''''' ''''i''n''c''e''''''ntiv''e'''">
              <a:rPr lang="en-IN" altLang="en-US" sz="1050">
                <a:solidFill>
                  <a:srgbClr val="000000"/>
                </a:solidFill>
                <a:latin typeface="Georgia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Target incentive</a:t>
            </a:fld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BA5BA9F4-D183-47BD-A8C2-DB72DF830F89}"/>
              </a:ext>
            </a:extLst>
          </p:cNvPr>
          <p:cNvSpPr>
            <a:spLocks noGrp="1"/>
          </p:cNvSpPr>
          <p:nvPr>
            <p:custDataLst>
              <p:tags r:id="rId29"/>
            </p:custDataLst>
          </p:nvPr>
        </p:nvSpPr>
        <p:spPr bwMode="gray">
          <a:xfrm>
            <a:off x="5036344" y="3009900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b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6FCE6594-D172-4AC1-956D-00A43B26FDE0}" type="datetime'''''''''''''2''''''5,''''''''''5''''''9''''''6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25,596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310801E4-6F0B-4D1D-9715-280E85454B42}"/>
              </a:ext>
            </a:extLst>
          </p:cNvPr>
          <p:cNvSpPr>
            <a:spLocks noGrp="1"/>
          </p:cNvSpPr>
          <p:nvPr>
            <p:custDataLst>
              <p:tags r:id="rId30"/>
            </p:custDataLst>
          </p:nvPr>
        </p:nvSpPr>
        <p:spPr bwMode="gray">
          <a:xfrm>
            <a:off x="5812631" y="2726532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b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89B8278B-E81C-4B0C-B7F2-52619410F618}" type="datetime'''''''''32,''2''''''''2''''''''''''''''''''''''''''''1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32,221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9BE2745-4D92-4AF3-B365-6D4CEBD63DA4}"/>
              </a:ext>
            </a:extLst>
          </p:cNvPr>
          <p:cNvSpPr>
            <a:spLocks noGrp="1"/>
          </p:cNvSpPr>
          <p:nvPr>
            <p:custDataLst>
              <p:tags r:id="rId31"/>
            </p:custDataLst>
          </p:nvPr>
        </p:nvSpPr>
        <p:spPr bwMode="gray">
          <a:xfrm>
            <a:off x="6588919" y="2534841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b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0898928E-E8CA-4921-9043-8E2D5D92B888}" type="datetime'3''''''''''''6'''''''',''''''7''''''0''''''3''''''''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36,703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6968AD54-21CF-47E9-BDA0-DAD3149D7AC0}"/>
              </a:ext>
            </a:extLst>
          </p:cNvPr>
          <p:cNvSpPr>
            <a:spLocks noGrp="1"/>
          </p:cNvSpPr>
          <p:nvPr>
            <p:custDataLst>
              <p:tags r:id="rId32"/>
            </p:custDataLst>
          </p:nvPr>
        </p:nvSpPr>
        <p:spPr bwMode="gray">
          <a:xfrm>
            <a:off x="7364016" y="2091929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b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80C303AB-ADFA-416F-9619-C4F6AEFCBE88}" type="datetime'4''7,0''''''''''''''6''''''''''''''2''''''''''''''''''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47,062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B6E17C47-090A-4800-B62A-111622FAF1AF}"/>
              </a:ext>
            </a:extLst>
          </p:cNvPr>
          <p:cNvSpPr>
            <a:spLocks noGrp="1"/>
          </p:cNvSpPr>
          <p:nvPr>
            <p:custDataLst>
              <p:tags r:id="rId33"/>
            </p:custDataLst>
          </p:nvPr>
        </p:nvSpPr>
        <p:spPr bwMode="gray">
          <a:xfrm>
            <a:off x="8140304" y="2590800"/>
            <a:ext cx="41076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b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C9019E1C-9ADD-4DA2-8A1E-04DE693B6DC2}" type="datetime'''''''''3''''''''''''''''5'''',''''3''''''''''88'''''">
              <a:rPr lang="en-US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35,388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3C62E5E9-6E24-4E3F-A643-81DC67ED0FD2}"/>
              </a:ext>
            </a:extLst>
          </p:cNvPr>
          <p:cNvSpPr>
            <a:spLocks noGrp="1"/>
          </p:cNvSpPr>
          <p:nvPr>
            <p:custDataLst>
              <p:tags r:id="rId34"/>
            </p:custDataLst>
          </p:nvPr>
        </p:nvSpPr>
        <p:spPr bwMode="gray">
          <a:xfrm>
            <a:off x="6622256" y="3167064"/>
            <a:ext cx="342900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9050" tIns="0" rIns="1905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3B9FBC5F-E874-405C-AC98-513C0972AD4A}" type="datetime'7,''''''''''''''''''7''70'''''''''''''''">
              <a:rPr lang="en-US" altLang="en-US" sz="1050">
                <a:solidFill>
                  <a:prstClr val="white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7,770</a:t>
            </a:fld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91896AC-1FBD-42D2-9A5F-424F68CD7BEE}"/>
              </a:ext>
            </a:extLst>
          </p:cNvPr>
          <p:cNvSpPr txBox="1"/>
          <p:nvPr/>
        </p:nvSpPr>
        <p:spPr>
          <a:xfrm>
            <a:off x="1175657" y="1990609"/>
            <a:ext cx="2674620" cy="272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75"/>
              </a:spcBef>
              <a:buClr>
                <a:srgbClr val="000000"/>
              </a:buClr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How to conduct the analysis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Separate incumbents into four quartiles based upon total incentive earnings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Chart the average variable pay  by performance measure (by quartile) on y-axis and quartiles on x-axis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Use only incumbents in position for full year within the same position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Analysis can be done (depending on number of incumbents)</a:t>
            </a:r>
            <a:br>
              <a:rPr lang="en-US" sz="1200" dirty="0">
                <a:solidFill>
                  <a:srgbClr val="000000"/>
                </a:solidFill>
                <a:latin typeface="Georgia"/>
              </a:rPr>
            </a:br>
            <a:r>
              <a:rPr lang="en-US" sz="1200" dirty="0">
                <a:solidFill>
                  <a:srgbClr val="000000"/>
                </a:solidFill>
                <a:latin typeface="Georgia"/>
              </a:rPr>
              <a:t>by various business units and channels</a:t>
            </a: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089DAF30-66A2-4CD3-A83B-5F81D62262A6}"/>
              </a:ext>
            </a:extLst>
          </p:cNvPr>
          <p:cNvSpPr/>
          <p:nvPr/>
        </p:nvSpPr>
        <p:spPr>
          <a:xfrm>
            <a:off x="371383" y="1979793"/>
            <a:ext cx="824345" cy="476399"/>
          </a:xfrm>
          <a:custGeom>
            <a:avLst/>
            <a:gdLst>
              <a:gd name="connsiteX0" fmla="*/ 648352 w 934309"/>
              <a:gd name="connsiteY0" fmla="*/ 0 h 539949"/>
              <a:gd name="connsiteX1" fmla="*/ 934309 w 934309"/>
              <a:gd name="connsiteY1" fmla="*/ 269975 h 539949"/>
              <a:gd name="connsiteX2" fmla="*/ 648352 w 934309"/>
              <a:gd name="connsiteY2" fmla="*/ 539949 h 539949"/>
              <a:gd name="connsiteX3" fmla="*/ 648352 w 934309"/>
              <a:gd name="connsiteY3" fmla="*/ 481899 h 539949"/>
              <a:gd name="connsiteX4" fmla="*/ 0 w 934309"/>
              <a:gd name="connsiteY4" fmla="*/ 481899 h 539949"/>
              <a:gd name="connsiteX5" fmla="*/ 405700 w 934309"/>
              <a:gd name="connsiteY5" fmla="*/ 58050 h 539949"/>
              <a:gd name="connsiteX6" fmla="*/ 648352 w 934309"/>
              <a:gd name="connsiteY6" fmla="*/ 58050 h 53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4309" h="539949">
                <a:moveTo>
                  <a:pt x="648352" y="0"/>
                </a:moveTo>
                <a:lnTo>
                  <a:pt x="934309" y="269975"/>
                </a:lnTo>
                <a:lnTo>
                  <a:pt x="648352" y="539949"/>
                </a:lnTo>
                <a:lnTo>
                  <a:pt x="648352" y="481899"/>
                </a:lnTo>
                <a:lnTo>
                  <a:pt x="0" y="481899"/>
                </a:lnTo>
                <a:lnTo>
                  <a:pt x="405700" y="58050"/>
                </a:lnTo>
                <a:lnTo>
                  <a:pt x="648352" y="580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151" name="Right Triangle 90">
            <a:extLst>
              <a:ext uri="{FF2B5EF4-FFF2-40B4-BE49-F238E27FC236}">
                <a16:creationId xmlns:a16="http://schemas.microsoft.com/office/drawing/2014/main" id="{49A590B3-998C-44F5-BF1D-A7911E3FB405}"/>
              </a:ext>
            </a:extLst>
          </p:cNvPr>
          <p:cNvSpPr/>
          <p:nvPr/>
        </p:nvSpPr>
        <p:spPr>
          <a:xfrm rot="8122787">
            <a:off x="276237" y="2160056"/>
            <a:ext cx="521814" cy="63549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788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AFE786A-6F5C-4921-8BAA-0CC5DA15B828}"/>
              </a:ext>
            </a:extLst>
          </p:cNvPr>
          <p:cNvSpPr txBox="1"/>
          <p:nvPr/>
        </p:nvSpPr>
        <p:spPr>
          <a:xfrm>
            <a:off x="1175657" y="1091142"/>
            <a:ext cx="2674620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75"/>
              </a:spcBef>
              <a:buClr>
                <a:srgbClr val="000000"/>
              </a:buClr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What this tells us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Composition analyses will tell you how your sales force is earning their incentive dollars</a:t>
            </a:r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59CDB9D2-9044-4BB4-A485-18843C743BF4}"/>
              </a:ext>
            </a:extLst>
          </p:cNvPr>
          <p:cNvSpPr/>
          <p:nvPr/>
        </p:nvSpPr>
        <p:spPr>
          <a:xfrm>
            <a:off x="371383" y="1091142"/>
            <a:ext cx="824345" cy="476399"/>
          </a:xfrm>
          <a:custGeom>
            <a:avLst/>
            <a:gdLst>
              <a:gd name="connsiteX0" fmla="*/ 648352 w 934309"/>
              <a:gd name="connsiteY0" fmla="*/ 0 h 539949"/>
              <a:gd name="connsiteX1" fmla="*/ 934309 w 934309"/>
              <a:gd name="connsiteY1" fmla="*/ 269975 h 539949"/>
              <a:gd name="connsiteX2" fmla="*/ 648352 w 934309"/>
              <a:gd name="connsiteY2" fmla="*/ 539949 h 539949"/>
              <a:gd name="connsiteX3" fmla="*/ 648352 w 934309"/>
              <a:gd name="connsiteY3" fmla="*/ 481899 h 539949"/>
              <a:gd name="connsiteX4" fmla="*/ 0 w 934309"/>
              <a:gd name="connsiteY4" fmla="*/ 481899 h 539949"/>
              <a:gd name="connsiteX5" fmla="*/ 405700 w 934309"/>
              <a:gd name="connsiteY5" fmla="*/ 58050 h 539949"/>
              <a:gd name="connsiteX6" fmla="*/ 648352 w 934309"/>
              <a:gd name="connsiteY6" fmla="*/ 58050 h 53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4309" h="539949">
                <a:moveTo>
                  <a:pt x="648352" y="0"/>
                </a:moveTo>
                <a:lnTo>
                  <a:pt x="934309" y="269975"/>
                </a:lnTo>
                <a:lnTo>
                  <a:pt x="648352" y="539949"/>
                </a:lnTo>
                <a:lnTo>
                  <a:pt x="648352" y="481899"/>
                </a:lnTo>
                <a:lnTo>
                  <a:pt x="0" y="481899"/>
                </a:lnTo>
                <a:lnTo>
                  <a:pt x="405700" y="58050"/>
                </a:lnTo>
                <a:lnTo>
                  <a:pt x="648352" y="580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157" name="Right Triangle 90">
            <a:extLst>
              <a:ext uri="{FF2B5EF4-FFF2-40B4-BE49-F238E27FC236}">
                <a16:creationId xmlns:a16="http://schemas.microsoft.com/office/drawing/2014/main" id="{B3897678-BB52-48E9-81E8-A077B97CE790}"/>
              </a:ext>
            </a:extLst>
          </p:cNvPr>
          <p:cNvSpPr/>
          <p:nvPr/>
        </p:nvSpPr>
        <p:spPr>
          <a:xfrm rot="8122787">
            <a:off x="276237" y="1271405"/>
            <a:ext cx="521814" cy="63549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788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4E6C043-33CD-4C5E-B1CA-3270ADC1CFAC}"/>
              </a:ext>
            </a:extLst>
          </p:cNvPr>
          <p:cNvCxnSpPr>
            <a:cxnSpLocks/>
          </p:cNvCxnSpPr>
          <p:nvPr/>
        </p:nvCxnSpPr>
        <p:spPr>
          <a:xfrm>
            <a:off x="1175657" y="1949641"/>
            <a:ext cx="26746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Graphic 157">
            <a:extLst>
              <a:ext uri="{FF2B5EF4-FFF2-40B4-BE49-F238E27FC236}">
                <a16:creationId xmlns:a16="http://schemas.microsoft.com/office/drawing/2014/main" id="{ABE925BB-4082-4321-8DA4-1EBB31CECE95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53793" y="2114682"/>
            <a:ext cx="206621" cy="206621"/>
          </a:xfrm>
          <a:prstGeom prst="rect">
            <a:avLst/>
          </a:prstGeom>
        </p:spPr>
      </p:pic>
      <p:pic>
        <p:nvPicPr>
          <p:cNvPr id="159" name="Graphic 158">
            <a:extLst>
              <a:ext uri="{FF2B5EF4-FFF2-40B4-BE49-F238E27FC236}">
                <a16:creationId xmlns:a16="http://schemas.microsoft.com/office/drawing/2014/main" id="{FDBDCCCE-FA4B-46B7-981F-E637C9060118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748581" y="1219365"/>
            <a:ext cx="219952" cy="219952"/>
          </a:xfrm>
          <a:prstGeom prst="rect">
            <a:avLst/>
          </a:prstGeom>
        </p:spPr>
      </p:pic>
      <p:sp>
        <p:nvSpPr>
          <p:cNvPr id="50" name="Right Triangle 90">
            <a:extLst>
              <a:ext uri="{FF2B5EF4-FFF2-40B4-BE49-F238E27FC236}">
                <a16:creationId xmlns:a16="http://schemas.microsoft.com/office/drawing/2014/main" id="{082C9100-116B-4F94-94C4-C8FE05BC807B}"/>
              </a:ext>
            </a:extLst>
          </p:cNvPr>
          <p:cNvSpPr/>
          <p:nvPr/>
        </p:nvSpPr>
        <p:spPr>
          <a:xfrm>
            <a:off x="4255294" y="1356410"/>
            <a:ext cx="4479131" cy="157980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1200" b="1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74115A4-CDFA-4FA6-B8A4-9771A2EC8FE9}"/>
              </a:ext>
            </a:extLst>
          </p:cNvPr>
          <p:cNvSpPr/>
          <p:nvPr/>
        </p:nvSpPr>
        <p:spPr>
          <a:xfrm>
            <a:off x="4255295" y="1010264"/>
            <a:ext cx="4479129" cy="3794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defRPr/>
            </a:pPr>
            <a:r>
              <a:rPr lang="en-US" sz="1200" b="1" dirty="0">
                <a:solidFill>
                  <a:prstClr val="white"/>
                </a:solidFill>
                <a:latin typeface="Georgia"/>
              </a:rPr>
              <a:t>Pay Composition by Quartile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71AC03-EDA0-4116-9348-AE7E569D9E0B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6025754" y="1595438"/>
            <a:ext cx="188119" cy="1404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D53B22-3B97-4B29-886A-E3A9F6A687E3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41344" y="1595438"/>
            <a:ext cx="188119" cy="14049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4E1A51-2F73-4A84-B869-4D946AB9AFF7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7858125" y="1595438"/>
            <a:ext cx="188119" cy="1404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DD0DB3B3-7B5D-4244-AD74-433355B99F66}"/>
              </a:ext>
            </a:extLst>
          </p:cNvPr>
          <p:cNvSpPr>
            <a:spLocks noGrp="1"/>
          </p:cNvSpPr>
          <p:nvPr>
            <p:custDataLst>
              <p:tags r:id="rId38"/>
            </p:custDataLst>
          </p:nvPr>
        </p:nvSpPr>
        <p:spPr bwMode="auto">
          <a:xfrm>
            <a:off x="6251973" y="1591866"/>
            <a:ext cx="613172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9E4C1B6D-74AD-4E20-A323-A0A53AB35DF6}" type="datetime'M''''e''''''''as''''''''u''''''''''''re'''' ''3'''''''''''''''">
              <a:rPr lang="en-US" altLang="en-US" sz="1050">
                <a:solidFill>
                  <a:srgbClr val="000000"/>
                </a:solidFill>
                <a:latin typeface="Georgia"/>
                <a:cs typeface="Calibri" panose="020F0502020204030204" pitchFamily="34" charset="0"/>
              </a:rPr>
              <a:pPr marL="0" indent="0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Measure 3</a:t>
            </a:fld>
            <a:endParaRPr lang="en-US" sz="1050" dirty="0">
              <a:solidFill>
                <a:srgbClr val="000000"/>
              </a:solidFill>
              <a:latin typeface="Georgia"/>
              <a:cs typeface="Calibri" panose="020F0502020204030204" pitchFamily="34" charset="0"/>
            </a:endParaRP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7FE975BF-175F-4243-8233-195266B5C319}"/>
              </a:ext>
            </a:extLst>
          </p:cNvPr>
          <p:cNvSpPr>
            <a:spLocks noGrp="1"/>
          </p:cNvSpPr>
          <p:nvPr>
            <p:custDataLst>
              <p:tags r:id="rId39"/>
            </p:custDataLst>
          </p:nvPr>
        </p:nvSpPr>
        <p:spPr bwMode="auto">
          <a:xfrm>
            <a:off x="7167562" y="1591866"/>
            <a:ext cx="614363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C740DB4D-CA6C-45CB-AADC-A85EAAB5D835}" type="datetime'''''''M''''e''a''''''''s''''''''''u''''re'' 2'''''''''''">
              <a:rPr lang="en-US" altLang="en-US" sz="1050">
                <a:solidFill>
                  <a:srgbClr val="000000"/>
                </a:solidFill>
                <a:latin typeface="Georgia"/>
                <a:cs typeface="Calibri" panose="020F0502020204030204" pitchFamily="34" charset="0"/>
              </a:rPr>
              <a:pPr marL="0" indent="0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Measure 2</a:t>
            </a:fld>
            <a:endParaRPr lang="en-US" sz="1050" dirty="0">
              <a:solidFill>
                <a:srgbClr val="000000"/>
              </a:solidFill>
              <a:latin typeface="Georgia"/>
              <a:cs typeface="Calibri" panose="020F0502020204030204" pitchFamily="34" charset="0"/>
            </a:endParaRP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EB0F319D-68AD-41EB-82FD-4FE573ACA75E}"/>
              </a:ext>
            </a:extLst>
          </p:cNvPr>
          <p:cNvSpPr>
            <a:spLocks noGrp="1"/>
          </p:cNvSpPr>
          <p:nvPr>
            <p:custDataLst>
              <p:tags r:id="rId40"/>
            </p:custDataLst>
          </p:nvPr>
        </p:nvSpPr>
        <p:spPr bwMode="auto">
          <a:xfrm>
            <a:off x="8084344" y="1591866"/>
            <a:ext cx="596504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F06BDB2F-BF78-4E5F-BE20-F7DA34CA643A}" type="datetime'''''M''''''''''''''ea''s''u''''r''e'''''''' ''1'''''''''''">
              <a:rPr lang="en-US" altLang="en-US" sz="1050">
                <a:solidFill>
                  <a:srgbClr val="000000"/>
                </a:solidFill>
                <a:latin typeface="Georgia"/>
                <a:cs typeface="Calibri" panose="020F0502020204030204" pitchFamily="34" charset="0"/>
              </a:rPr>
              <a:pPr marL="0" indent="0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Measure 1</a:t>
            </a:fld>
            <a:endParaRPr lang="en-US" sz="1050" dirty="0">
              <a:solidFill>
                <a:srgbClr val="000000"/>
              </a:solidFill>
              <a:latin typeface="Georgi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87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901A00E-5DE6-4506-92C6-D69D53824E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9" progId="TCLayout.ActiveDocument.1">
                  <p:embed/>
                </p:oleObj>
              </mc:Choice>
              <mc:Fallback>
                <p:oleObj name="think-cell Slide" r:id="rId3" imgW="353" imgH="35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901A00E-5DE6-4506-92C6-D69D53824E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>
            <a:extLst>
              <a:ext uri="{FF2B5EF4-FFF2-40B4-BE49-F238E27FC236}">
                <a16:creationId xmlns:a16="http://schemas.microsoft.com/office/drawing/2014/main" id="{0EB2531C-B770-4926-954A-C247A3E22C88}"/>
              </a:ext>
            </a:extLst>
          </p:cNvPr>
          <p:cNvSpPr/>
          <p:nvPr/>
        </p:nvSpPr>
        <p:spPr>
          <a:xfrm>
            <a:off x="0" y="1010264"/>
            <a:ext cx="3943350" cy="3771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E6413BA-D80A-4DA5-A2C4-39C961446779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15B07-0FC7-405B-9BC9-830FEDAE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>
                <a:solidFill>
                  <a:schemeClr val="bg1"/>
                </a:solidFill>
              </a:rPr>
              <a:t>Regression analysis – Overview &amp; best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F70DB-B346-4EA3-A7CC-CFDC7BBE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3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F2D3A7F-0858-41C3-B2AB-F72E6AF3C309}"/>
              </a:ext>
            </a:extLst>
          </p:cNvPr>
          <p:cNvSpPr/>
          <p:nvPr/>
        </p:nvSpPr>
        <p:spPr>
          <a:xfrm>
            <a:off x="371383" y="2835658"/>
            <a:ext cx="824345" cy="476399"/>
          </a:xfrm>
          <a:custGeom>
            <a:avLst/>
            <a:gdLst>
              <a:gd name="connsiteX0" fmla="*/ 648352 w 934309"/>
              <a:gd name="connsiteY0" fmla="*/ 0 h 539949"/>
              <a:gd name="connsiteX1" fmla="*/ 934309 w 934309"/>
              <a:gd name="connsiteY1" fmla="*/ 269975 h 539949"/>
              <a:gd name="connsiteX2" fmla="*/ 648352 w 934309"/>
              <a:gd name="connsiteY2" fmla="*/ 539949 h 539949"/>
              <a:gd name="connsiteX3" fmla="*/ 648352 w 934309"/>
              <a:gd name="connsiteY3" fmla="*/ 481899 h 539949"/>
              <a:gd name="connsiteX4" fmla="*/ 0 w 934309"/>
              <a:gd name="connsiteY4" fmla="*/ 481899 h 539949"/>
              <a:gd name="connsiteX5" fmla="*/ 405700 w 934309"/>
              <a:gd name="connsiteY5" fmla="*/ 58050 h 539949"/>
              <a:gd name="connsiteX6" fmla="*/ 648352 w 934309"/>
              <a:gd name="connsiteY6" fmla="*/ 58050 h 53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4309" h="539949">
                <a:moveTo>
                  <a:pt x="648352" y="0"/>
                </a:moveTo>
                <a:lnTo>
                  <a:pt x="934309" y="269975"/>
                </a:lnTo>
                <a:lnTo>
                  <a:pt x="648352" y="539949"/>
                </a:lnTo>
                <a:lnTo>
                  <a:pt x="648352" y="481899"/>
                </a:lnTo>
                <a:lnTo>
                  <a:pt x="0" y="481899"/>
                </a:lnTo>
                <a:lnTo>
                  <a:pt x="405700" y="58050"/>
                </a:lnTo>
                <a:lnTo>
                  <a:pt x="648352" y="580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53" name="Right Triangle 90">
            <a:extLst>
              <a:ext uri="{FF2B5EF4-FFF2-40B4-BE49-F238E27FC236}">
                <a16:creationId xmlns:a16="http://schemas.microsoft.com/office/drawing/2014/main" id="{ADF61167-7E7D-4E39-80FA-1D0041AA905A}"/>
              </a:ext>
            </a:extLst>
          </p:cNvPr>
          <p:cNvSpPr/>
          <p:nvPr/>
        </p:nvSpPr>
        <p:spPr>
          <a:xfrm rot="8122787">
            <a:off x="276237" y="3015921"/>
            <a:ext cx="521814" cy="63549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788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C421FD-ADD0-4CC0-8E82-77DBD481BEB1}"/>
              </a:ext>
            </a:extLst>
          </p:cNvPr>
          <p:cNvSpPr txBox="1"/>
          <p:nvPr/>
        </p:nvSpPr>
        <p:spPr>
          <a:xfrm>
            <a:off x="1175657" y="1091142"/>
            <a:ext cx="2674620" cy="159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75"/>
              </a:spcBef>
              <a:buClr>
                <a:srgbClr val="000000"/>
              </a:buClr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What this tells us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Regression analysis provides an indication of how tightly correlated incentive pay is to performance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It also illustrates if individuals are being paid “outside of the plan parameters”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FCCE794-7BDE-4730-96F0-73AEEB312AA4}"/>
              </a:ext>
            </a:extLst>
          </p:cNvPr>
          <p:cNvSpPr/>
          <p:nvPr/>
        </p:nvSpPr>
        <p:spPr>
          <a:xfrm>
            <a:off x="371383" y="1091142"/>
            <a:ext cx="824345" cy="476399"/>
          </a:xfrm>
          <a:custGeom>
            <a:avLst/>
            <a:gdLst>
              <a:gd name="connsiteX0" fmla="*/ 648352 w 934309"/>
              <a:gd name="connsiteY0" fmla="*/ 0 h 539949"/>
              <a:gd name="connsiteX1" fmla="*/ 934309 w 934309"/>
              <a:gd name="connsiteY1" fmla="*/ 269975 h 539949"/>
              <a:gd name="connsiteX2" fmla="*/ 648352 w 934309"/>
              <a:gd name="connsiteY2" fmla="*/ 539949 h 539949"/>
              <a:gd name="connsiteX3" fmla="*/ 648352 w 934309"/>
              <a:gd name="connsiteY3" fmla="*/ 481899 h 539949"/>
              <a:gd name="connsiteX4" fmla="*/ 0 w 934309"/>
              <a:gd name="connsiteY4" fmla="*/ 481899 h 539949"/>
              <a:gd name="connsiteX5" fmla="*/ 405700 w 934309"/>
              <a:gd name="connsiteY5" fmla="*/ 58050 h 539949"/>
              <a:gd name="connsiteX6" fmla="*/ 648352 w 934309"/>
              <a:gd name="connsiteY6" fmla="*/ 58050 h 53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4309" h="539949">
                <a:moveTo>
                  <a:pt x="648352" y="0"/>
                </a:moveTo>
                <a:lnTo>
                  <a:pt x="934309" y="269975"/>
                </a:lnTo>
                <a:lnTo>
                  <a:pt x="648352" y="539949"/>
                </a:lnTo>
                <a:lnTo>
                  <a:pt x="648352" y="481899"/>
                </a:lnTo>
                <a:lnTo>
                  <a:pt x="0" y="481899"/>
                </a:lnTo>
                <a:lnTo>
                  <a:pt x="405700" y="58050"/>
                </a:lnTo>
                <a:lnTo>
                  <a:pt x="648352" y="580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76" name="Right Triangle 90">
            <a:extLst>
              <a:ext uri="{FF2B5EF4-FFF2-40B4-BE49-F238E27FC236}">
                <a16:creationId xmlns:a16="http://schemas.microsoft.com/office/drawing/2014/main" id="{EF84008B-334C-47AE-916D-DBDA7F1D8BE3}"/>
              </a:ext>
            </a:extLst>
          </p:cNvPr>
          <p:cNvSpPr/>
          <p:nvPr/>
        </p:nvSpPr>
        <p:spPr>
          <a:xfrm rot="8122787">
            <a:off x="276237" y="1271405"/>
            <a:ext cx="521814" cy="63549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788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C18756B-8E3A-496F-A228-4698D98CB9A8}"/>
              </a:ext>
            </a:extLst>
          </p:cNvPr>
          <p:cNvCxnSpPr>
            <a:cxnSpLocks/>
          </p:cNvCxnSpPr>
          <p:nvPr/>
        </p:nvCxnSpPr>
        <p:spPr>
          <a:xfrm>
            <a:off x="1175657" y="2751714"/>
            <a:ext cx="26746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EA5FC87-4477-4370-81BB-3174BDDFB1CD}"/>
              </a:ext>
            </a:extLst>
          </p:cNvPr>
          <p:cNvSpPr txBox="1"/>
          <p:nvPr/>
        </p:nvSpPr>
        <p:spPr>
          <a:xfrm>
            <a:off x="1175657" y="2846474"/>
            <a:ext cx="2674620" cy="159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75"/>
              </a:spcBef>
              <a:buClr>
                <a:srgbClr val="000000"/>
              </a:buClr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How to conduct the analysis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Chart  results (performance to target for bonus plans; revenues for commission plans) against incentive payments.  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This should be completed by position and for every performance measure</a:t>
            </a:r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8874B57-94E3-4E0F-948C-9797578A82C7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692" y="1222884"/>
            <a:ext cx="212914" cy="212914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D9943203-4A31-4D53-BA5B-2B9C4FB2D78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752" y="2978857"/>
            <a:ext cx="240791" cy="18999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27A3D2DD-96CF-42A9-9308-50FAAEFB4970}"/>
              </a:ext>
            </a:extLst>
          </p:cNvPr>
          <p:cNvSpPr/>
          <p:nvPr/>
        </p:nvSpPr>
        <p:spPr>
          <a:xfrm>
            <a:off x="4072132" y="4072722"/>
            <a:ext cx="4614668" cy="51654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1200" dirty="0">
                <a:solidFill>
                  <a:prstClr val="white"/>
                </a:solidFill>
                <a:latin typeface="Georgia"/>
              </a:rPr>
              <a:t>Points should be cluster in a linear fashion (like above); </a:t>
            </a:r>
            <a:br>
              <a:rPr lang="en-US" sz="1200" dirty="0">
                <a:solidFill>
                  <a:prstClr val="white"/>
                </a:solidFill>
                <a:latin typeface="Georgia"/>
              </a:rPr>
            </a:br>
            <a:r>
              <a:rPr lang="en-US" sz="1200" dirty="0">
                <a:solidFill>
                  <a:prstClr val="white"/>
                </a:solidFill>
                <a:latin typeface="Georgia"/>
              </a:rPr>
              <a:t>any data points that are “off the line” should be investigated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1C94E80-F65A-4B3D-A2BE-9C359A8F22D0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6310" y="996548"/>
            <a:ext cx="4409768" cy="301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57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901A00E-5DE6-4506-92C6-D69D53824E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53" imgH="359" progId="TCLayout.ActiveDocument.1">
                  <p:embed/>
                </p:oleObj>
              </mc:Choice>
              <mc:Fallback>
                <p:oleObj name="think-cell Slide" r:id="rId20" imgW="353" imgH="35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901A00E-5DE6-4506-92C6-D69D53824E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Rectangle 58">
            <a:extLst>
              <a:ext uri="{FF2B5EF4-FFF2-40B4-BE49-F238E27FC236}">
                <a16:creationId xmlns:a16="http://schemas.microsoft.com/office/drawing/2014/main" id="{7D3AA337-46AA-4116-B489-165AAF4859B9}"/>
              </a:ext>
            </a:extLst>
          </p:cNvPr>
          <p:cNvSpPr/>
          <p:nvPr/>
        </p:nvSpPr>
        <p:spPr>
          <a:xfrm>
            <a:off x="0" y="1010264"/>
            <a:ext cx="3943350" cy="3771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E9C898-0A31-46D3-A499-F52070008A1E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15B07-0FC7-405B-9BC9-830FEDAE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>
                <a:solidFill>
                  <a:schemeClr val="bg1"/>
                </a:solidFill>
              </a:rPr>
              <a:t>Performance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F70DB-B346-4EA3-A7CC-CFDC7BBE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4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FF2D3A7F-0858-41C3-B2AB-F72E6AF3C309}"/>
              </a:ext>
            </a:extLst>
          </p:cNvPr>
          <p:cNvSpPr/>
          <p:nvPr/>
        </p:nvSpPr>
        <p:spPr>
          <a:xfrm>
            <a:off x="371383" y="2835658"/>
            <a:ext cx="824345" cy="476399"/>
          </a:xfrm>
          <a:custGeom>
            <a:avLst/>
            <a:gdLst>
              <a:gd name="connsiteX0" fmla="*/ 648352 w 934309"/>
              <a:gd name="connsiteY0" fmla="*/ 0 h 539949"/>
              <a:gd name="connsiteX1" fmla="*/ 934309 w 934309"/>
              <a:gd name="connsiteY1" fmla="*/ 269975 h 539949"/>
              <a:gd name="connsiteX2" fmla="*/ 648352 w 934309"/>
              <a:gd name="connsiteY2" fmla="*/ 539949 h 539949"/>
              <a:gd name="connsiteX3" fmla="*/ 648352 w 934309"/>
              <a:gd name="connsiteY3" fmla="*/ 481899 h 539949"/>
              <a:gd name="connsiteX4" fmla="*/ 0 w 934309"/>
              <a:gd name="connsiteY4" fmla="*/ 481899 h 539949"/>
              <a:gd name="connsiteX5" fmla="*/ 405700 w 934309"/>
              <a:gd name="connsiteY5" fmla="*/ 58050 h 539949"/>
              <a:gd name="connsiteX6" fmla="*/ 648352 w 934309"/>
              <a:gd name="connsiteY6" fmla="*/ 58050 h 53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4309" h="539949">
                <a:moveTo>
                  <a:pt x="648352" y="0"/>
                </a:moveTo>
                <a:lnTo>
                  <a:pt x="934309" y="269975"/>
                </a:lnTo>
                <a:lnTo>
                  <a:pt x="648352" y="539949"/>
                </a:lnTo>
                <a:lnTo>
                  <a:pt x="648352" y="481899"/>
                </a:lnTo>
                <a:lnTo>
                  <a:pt x="0" y="481899"/>
                </a:lnTo>
                <a:lnTo>
                  <a:pt x="405700" y="58050"/>
                </a:lnTo>
                <a:lnTo>
                  <a:pt x="648352" y="580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53" name="Right Triangle 90">
            <a:extLst>
              <a:ext uri="{FF2B5EF4-FFF2-40B4-BE49-F238E27FC236}">
                <a16:creationId xmlns:a16="http://schemas.microsoft.com/office/drawing/2014/main" id="{ADF61167-7E7D-4E39-80FA-1D0041AA905A}"/>
              </a:ext>
            </a:extLst>
          </p:cNvPr>
          <p:cNvSpPr/>
          <p:nvPr/>
        </p:nvSpPr>
        <p:spPr>
          <a:xfrm rot="8122787">
            <a:off x="276237" y="3015921"/>
            <a:ext cx="521814" cy="63549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788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C421FD-ADD0-4CC0-8E82-77DBD481BEB1}"/>
              </a:ext>
            </a:extLst>
          </p:cNvPr>
          <p:cNvSpPr txBox="1"/>
          <p:nvPr/>
        </p:nvSpPr>
        <p:spPr>
          <a:xfrm>
            <a:off x="1175657" y="1091142"/>
            <a:ext cx="2674620" cy="1608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75"/>
              </a:spcBef>
              <a:buClr>
                <a:srgbClr val="000000"/>
              </a:buClr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What this tells us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Performance Distribution provides you with insight into your target setting accuracy </a:t>
            </a:r>
          </a:p>
          <a:p>
            <a:pPr marL="27432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Is the performance distribution bell shaped?</a:t>
            </a:r>
          </a:p>
          <a:p>
            <a:pPr marL="27432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How wide is the performance distribution?</a:t>
            </a: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BFCCE794-7BDE-4730-96F0-73AEEB312AA4}"/>
              </a:ext>
            </a:extLst>
          </p:cNvPr>
          <p:cNvSpPr/>
          <p:nvPr/>
        </p:nvSpPr>
        <p:spPr>
          <a:xfrm>
            <a:off x="371383" y="1091142"/>
            <a:ext cx="824345" cy="476399"/>
          </a:xfrm>
          <a:custGeom>
            <a:avLst/>
            <a:gdLst>
              <a:gd name="connsiteX0" fmla="*/ 648352 w 934309"/>
              <a:gd name="connsiteY0" fmla="*/ 0 h 539949"/>
              <a:gd name="connsiteX1" fmla="*/ 934309 w 934309"/>
              <a:gd name="connsiteY1" fmla="*/ 269975 h 539949"/>
              <a:gd name="connsiteX2" fmla="*/ 648352 w 934309"/>
              <a:gd name="connsiteY2" fmla="*/ 539949 h 539949"/>
              <a:gd name="connsiteX3" fmla="*/ 648352 w 934309"/>
              <a:gd name="connsiteY3" fmla="*/ 481899 h 539949"/>
              <a:gd name="connsiteX4" fmla="*/ 0 w 934309"/>
              <a:gd name="connsiteY4" fmla="*/ 481899 h 539949"/>
              <a:gd name="connsiteX5" fmla="*/ 405700 w 934309"/>
              <a:gd name="connsiteY5" fmla="*/ 58050 h 539949"/>
              <a:gd name="connsiteX6" fmla="*/ 648352 w 934309"/>
              <a:gd name="connsiteY6" fmla="*/ 58050 h 53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4309" h="539949">
                <a:moveTo>
                  <a:pt x="648352" y="0"/>
                </a:moveTo>
                <a:lnTo>
                  <a:pt x="934309" y="269975"/>
                </a:lnTo>
                <a:lnTo>
                  <a:pt x="648352" y="539949"/>
                </a:lnTo>
                <a:lnTo>
                  <a:pt x="648352" y="481899"/>
                </a:lnTo>
                <a:lnTo>
                  <a:pt x="0" y="481899"/>
                </a:lnTo>
                <a:lnTo>
                  <a:pt x="405700" y="58050"/>
                </a:lnTo>
                <a:lnTo>
                  <a:pt x="648352" y="580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76" name="Right Triangle 90">
            <a:extLst>
              <a:ext uri="{FF2B5EF4-FFF2-40B4-BE49-F238E27FC236}">
                <a16:creationId xmlns:a16="http://schemas.microsoft.com/office/drawing/2014/main" id="{EF84008B-334C-47AE-916D-DBDA7F1D8BE3}"/>
              </a:ext>
            </a:extLst>
          </p:cNvPr>
          <p:cNvSpPr/>
          <p:nvPr/>
        </p:nvSpPr>
        <p:spPr>
          <a:xfrm rot="8122787">
            <a:off x="276237" y="1271405"/>
            <a:ext cx="521814" cy="63549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788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C18756B-8E3A-496F-A228-4698D98CB9A8}"/>
              </a:ext>
            </a:extLst>
          </p:cNvPr>
          <p:cNvCxnSpPr>
            <a:cxnSpLocks/>
          </p:cNvCxnSpPr>
          <p:nvPr/>
        </p:nvCxnSpPr>
        <p:spPr>
          <a:xfrm>
            <a:off x="1223443" y="2751714"/>
            <a:ext cx="26746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EA5FC87-4477-4370-81BB-3174BDDFB1CD}"/>
              </a:ext>
            </a:extLst>
          </p:cNvPr>
          <p:cNvSpPr txBox="1"/>
          <p:nvPr/>
        </p:nvSpPr>
        <p:spPr>
          <a:xfrm>
            <a:off x="1175657" y="2846474"/>
            <a:ext cx="2674620" cy="179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75"/>
              </a:spcBef>
              <a:buClr>
                <a:srgbClr val="000000"/>
              </a:buClr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How to conduct the analysis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Chart number of individuals within performance to target ranges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Analysis should initially be done</a:t>
            </a:r>
            <a:br>
              <a:rPr lang="en-US" sz="1200" dirty="0">
                <a:solidFill>
                  <a:srgbClr val="000000"/>
                </a:solidFill>
                <a:latin typeface="Georgia"/>
              </a:rPr>
            </a:br>
            <a:r>
              <a:rPr lang="en-US" sz="1200" dirty="0">
                <a:solidFill>
                  <a:srgbClr val="000000"/>
                </a:solidFill>
                <a:latin typeface="Georgia"/>
              </a:rPr>
              <a:t>by position  </a:t>
            </a:r>
          </a:p>
          <a:p>
            <a:pPr marL="137160" indent="-137160" defTabSz="685800">
              <a:spcBef>
                <a:spcPts val="7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Note where the 90th percentile ranks and note the % of people at or above 100% of target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280B286-0254-A070-1948-E181B8ACE13D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965972" y="1629966"/>
          <a:ext cx="4861322" cy="2085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D7CA4B4-E677-49B5-89D8-EBB32F9AB6CA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7253287" y="3871913"/>
            <a:ext cx="1148954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Quota Performance</a:t>
            </a:r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240B17C-C319-4068-BDE2-80F001CC6D3B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4058841" y="1278731"/>
            <a:ext cx="691754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b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Number of</a:t>
            </a:r>
            <a:br>
              <a:rPr lang="en-IN" altLang="en-US" sz="1050" dirty="0">
                <a:solidFill>
                  <a:srgbClr val="000000"/>
                </a:solidFill>
                <a:latin typeface="Georgia"/>
              </a:rPr>
            </a:b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Salespeople</a:t>
            </a:r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C639B49E-7A72-4996-9798-8EB3B1B873A3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8085535" y="1278731"/>
            <a:ext cx="62746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b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Percent of</a:t>
            </a:r>
            <a:br>
              <a:rPr lang="en-IN" altLang="en-US" sz="1050" dirty="0">
                <a:solidFill>
                  <a:srgbClr val="000000"/>
                </a:solidFill>
                <a:latin typeface="Georgia"/>
              </a:rPr>
            </a:br>
            <a:r>
              <a:rPr lang="en-IN" altLang="en-US" sz="1050" dirty="0">
                <a:solidFill>
                  <a:srgbClr val="000000"/>
                </a:solidFill>
                <a:latin typeface="Georgia"/>
              </a:rPr>
              <a:t>Sales force</a:t>
            </a:r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F0E83EBA-6AF4-4ADD-B1DA-212B24F9470C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496992" y="3605213"/>
            <a:ext cx="240506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D41C73EA-9F62-4C6C-8528-2C6376D74378}" type="datetime'''''''''''9''''''''''''''''''''''''''''5''%'''''''''">
              <a:rPr lang="en-IN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95%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5B31B19F-B597-4A9B-90CA-7F7840212D10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907757" y="3605213"/>
            <a:ext cx="308372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AAE5F4BE-EFA5-4730-9630-F8D8DEDF7D46}" type="datetime'''1''0''''''''''''''''''''''''0%'''''''">
              <a:rPr lang="en-IN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100%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F941071-3DBB-46C1-AE7B-DEA1AF8C37E6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5353051" y="3605213"/>
            <a:ext cx="308372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10752468-41DE-4E84-999C-5517119CA33C}" type="datetime'''10''''''5''''''''''%'''''''''''''''">
              <a:rPr lang="en-IN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105%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EE5FA4F-2E02-45FA-AD66-F69FB50F3907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5798344" y="3605213"/>
            <a:ext cx="308372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26F082F5-4EB3-4836-AFBA-193553E1110C}" type="datetime'''''''''''''''''''''1''1''''''''''''''''''0%'''''''''''''''">
              <a:rPr lang="en-IN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110%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FD5E6C00-D244-4438-9ED6-4489BADDA32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6242448" y="3605213"/>
            <a:ext cx="308372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E53B9C7A-7D83-42D0-90A7-2F54451D144C}" type="datetime'''''1''''1''''''''5''''''''%'''''''''''''">
              <a:rPr lang="en-IN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115%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A73A042-5668-4B64-8A9C-81E77FB0BC47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6687742" y="3605213"/>
            <a:ext cx="308372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CE4C8B80-E424-41CB-BE8C-17D0AFE16EF8}" type="datetime'''''12''''''''''''0''%'''''''''">
              <a:rPr lang="en-IN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120%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FDFDD5F9-5BA1-4C17-AB74-5E453D99DA8D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7133035" y="3605213"/>
            <a:ext cx="308372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70DBA81D-8907-4B21-A779-EE03BB6BC956}" type="datetime'''''''''''''''1''''''''''''''''''''2''5%'''''''''">
              <a:rPr lang="en-IN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125%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7E4DF72C-47F5-44A3-A942-BA5ABAA6DC35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7577138" y="3605213"/>
            <a:ext cx="308372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301FAE8D-42C3-40EA-8AC5-C942F1ABE171}" type="datetime'''''''''1''''''3''''''''''''''0%'''''''''''">
              <a:rPr lang="en-IN" altLang="en-US" sz="105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130%</a:t>
            </a:fld>
            <a:endParaRPr lang="en-IN" sz="105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E3B420DD-C718-47BD-AAA1-9C0CF5F927AB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8014097" y="3605213"/>
            <a:ext cx="323850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108C656B-BA88-49F5-A161-BB07C36E02B6}" type="datetime'''''''''''''''''M''''''''o''''''''''''''''''r''''''''e'''''''">
              <a:rPr lang="en-IN" altLang="en-US" sz="1050">
                <a:solidFill>
                  <a:srgbClr val="000000"/>
                </a:solidFill>
                <a:latin typeface="Georgia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More</a:t>
            </a:fld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8B65AF1-8C13-4A4A-BDB3-FB25F8EF9F5A}"/>
              </a:ext>
            </a:extLst>
          </p:cNvPr>
          <p:cNvCxnSpPr/>
          <p:nvPr>
            <p:custDataLst>
              <p:tags r:id="rId15"/>
            </p:custDataLst>
          </p:nvPr>
        </p:nvCxnSpPr>
        <p:spPr bwMode="gray">
          <a:xfrm>
            <a:off x="5199460" y="1138238"/>
            <a:ext cx="166688" cy="0"/>
          </a:xfrm>
          <a:prstGeom prst="line">
            <a:avLst/>
          </a:prstGeom>
          <a:ln w="28575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161A9B1-7443-43EC-93D3-92C5AA6729F9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6410325" y="1067991"/>
            <a:ext cx="188119" cy="140494"/>
          </a:xfrm>
          <a:prstGeom prst="rect">
            <a:avLst/>
          </a:prstGeom>
          <a:solidFill>
            <a:schemeClr val="tx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IN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819B4FEB-47C2-465E-86A7-97313B922169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5414962" y="1064419"/>
            <a:ext cx="919163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51CC8E53-F7B1-43CC-A18B-70F080F91DA1}" type="datetime'''C''umu''''''''''''l''a''t''''''i''''''ve'' ''''(''''''%)'''">
              <a:rPr lang="en-IN" altLang="en-US" sz="1050">
                <a:solidFill>
                  <a:srgbClr val="000000"/>
                </a:solidFill>
                <a:latin typeface="Georgia"/>
              </a:rPr>
              <a:pPr marL="0" lvl="1" indent="0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Cumulative (%)</a:t>
            </a:fld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D2B5B8A-7FCD-4A02-BF8E-C3A7EED0B480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6636544" y="1064419"/>
            <a:ext cx="619125" cy="159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D1685E14-4394-49AC-9540-1C7E0388DE08}" type="datetime'''''F''''''''re''''''''q''u''''''''e''n''''''cy'''''''''''">
              <a:rPr lang="en-IN" altLang="en-US" sz="1050">
                <a:solidFill>
                  <a:srgbClr val="000000"/>
                </a:solidFill>
                <a:latin typeface="Georgia"/>
              </a:rPr>
              <a:pPr marL="0" lvl="1" indent="0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Frequency</a:t>
            </a:fld>
            <a:endParaRPr lang="en-IN" sz="10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0" name="Rectangle 19" hidden="1">
            <a:extLst>
              <a:ext uri="{FF2B5EF4-FFF2-40B4-BE49-F238E27FC236}">
                <a16:creationId xmlns:a16="http://schemas.microsoft.com/office/drawing/2014/main" id="{00DDAB43-C38E-4493-8346-E2DEE0E1D523}"/>
              </a:ext>
            </a:extLst>
          </p:cNvPr>
          <p:cNvSpPr/>
          <p:nvPr/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685800">
              <a:defRPr/>
            </a:pPr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00DFCD-C0AB-45D9-99D9-94BEBBC4B842}"/>
              </a:ext>
            </a:extLst>
          </p:cNvPr>
          <p:cNvGrpSpPr/>
          <p:nvPr/>
        </p:nvGrpSpPr>
        <p:grpSpPr>
          <a:xfrm>
            <a:off x="4070554" y="4121806"/>
            <a:ext cx="4661966" cy="582930"/>
            <a:chOff x="5311774" y="5593728"/>
            <a:chExt cx="6331586" cy="793237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5B915E4-7AD6-40AC-99B5-B6C8B03F0590}"/>
                </a:ext>
              </a:extLst>
            </p:cNvPr>
            <p:cNvSpPr/>
            <p:nvPr/>
          </p:nvSpPr>
          <p:spPr>
            <a:xfrm>
              <a:off x="7461652" y="5593728"/>
              <a:ext cx="2031830" cy="79323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gradFill>
                  <a:gsLst>
                    <a:gs pos="20000">
                      <a:srgbClr val="64CCC9">
                        <a:lumMod val="75000"/>
                      </a:srgbClr>
                    </a:gs>
                    <a:gs pos="90000">
                      <a:srgbClr val="009CDE">
                        <a:lumMod val="75000"/>
                      </a:srgbClr>
                    </a:gs>
                  </a:gsLst>
                  <a:lin ang="8100000" scaled="1"/>
                </a:gradFill>
                <a:latin typeface="Georgia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1379C40-5367-4D31-BECE-730271A2430D}"/>
                </a:ext>
              </a:extLst>
            </p:cNvPr>
            <p:cNvSpPr/>
            <p:nvPr/>
          </p:nvSpPr>
          <p:spPr>
            <a:xfrm>
              <a:off x="9611530" y="5593728"/>
              <a:ext cx="2031830" cy="79323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gradFill>
                  <a:gsLst>
                    <a:gs pos="20000">
                      <a:srgbClr val="64CCC9">
                        <a:lumMod val="75000"/>
                      </a:srgbClr>
                    </a:gs>
                    <a:gs pos="90000">
                      <a:srgbClr val="009CDE">
                        <a:lumMod val="75000"/>
                      </a:srgbClr>
                    </a:gs>
                  </a:gsLst>
                  <a:lin ang="8100000" scaled="1"/>
                </a:gradFill>
                <a:latin typeface="Georgia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6342BFE-13BD-44A7-AB4E-DC988743BB99}"/>
                </a:ext>
              </a:extLst>
            </p:cNvPr>
            <p:cNvSpPr/>
            <p:nvPr/>
          </p:nvSpPr>
          <p:spPr>
            <a:xfrm>
              <a:off x="5311774" y="5593728"/>
              <a:ext cx="2031830" cy="79323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gradFill>
                  <a:gsLst>
                    <a:gs pos="20000">
                      <a:srgbClr val="64CCC9">
                        <a:lumMod val="75000"/>
                      </a:srgbClr>
                    </a:gs>
                    <a:gs pos="90000">
                      <a:srgbClr val="009CDE">
                        <a:lumMod val="75000"/>
                      </a:srgbClr>
                    </a:gs>
                  </a:gsLst>
                  <a:lin ang="8100000" scaled="1"/>
                </a:gradFill>
                <a:latin typeface="Georgia"/>
              </a:endParaRPr>
            </a:p>
          </p:txBody>
        </p:sp>
        <p:sp>
          <p:nvSpPr>
            <p:cNvPr id="106" name="Text Box 145">
              <a:extLst>
                <a:ext uri="{FF2B5EF4-FFF2-40B4-BE49-F238E27FC236}">
                  <a16:creationId xmlns:a16="http://schemas.microsoft.com/office/drawing/2014/main" id="{543F210B-9448-4067-B937-C8D487833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2959" y="5805680"/>
              <a:ext cx="1309461" cy="36933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spcBef>
                  <a:spcPct val="20000"/>
                </a:spcBef>
                <a:spcAft>
                  <a:spcPts val="600"/>
                </a:spcAft>
                <a:buClr>
                  <a:srgbClr val="E6503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989898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E65032"/>
                </a:buClr>
                <a:buSzPct val="90000"/>
                <a:buFont typeface="Arial" panose="020B0604020202020204" pitchFamily="34" charset="0"/>
                <a:buChar char="—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999999"/>
                </a:buClr>
                <a:buFont typeface="Arial" panose="020B0604020202020204" pitchFamily="34" charset="0"/>
                <a:buChar char="–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zh-CN" sz="1200" dirty="0">
                  <a:solidFill>
                    <a:prstClr val="white"/>
                  </a:solidFill>
                  <a:latin typeface="Georgia"/>
                  <a:ea typeface="SimSun" panose="02010600030101010101" pitchFamily="2" charset="-122"/>
                </a:rPr>
                <a:t>N=</a:t>
              </a:r>
              <a:r>
                <a:rPr lang="en-US" altLang="zh-CN" sz="180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140</a:t>
              </a:r>
            </a:p>
          </p:txBody>
        </p:sp>
        <p:sp>
          <p:nvSpPr>
            <p:cNvPr id="107" name="Text Box 145">
              <a:extLst>
                <a:ext uri="{FF2B5EF4-FFF2-40B4-BE49-F238E27FC236}">
                  <a16:creationId xmlns:a16="http://schemas.microsoft.com/office/drawing/2014/main" id="{A5BFF671-62B4-4EE7-BA69-36C41CC403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4994" y="5621014"/>
              <a:ext cx="1745146" cy="73866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spcBef>
                  <a:spcPct val="20000"/>
                </a:spcBef>
                <a:spcAft>
                  <a:spcPts val="600"/>
                </a:spcAft>
                <a:buClr>
                  <a:srgbClr val="E6503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989898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E65032"/>
                </a:buClr>
                <a:buSzPct val="90000"/>
                <a:buFont typeface="Arial" panose="020B0604020202020204" pitchFamily="34" charset="0"/>
                <a:buChar char="—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999999"/>
                </a:buClr>
                <a:buFont typeface="Arial" panose="020B0604020202020204" pitchFamily="34" charset="0"/>
                <a:buChar char="–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zh-CN" sz="180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90</a:t>
              </a:r>
              <a:r>
                <a:rPr lang="en-US" altLang="zh-CN" sz="1800" b="1" baseline="30000" dirty="0">
                  <a:solidFill>
                    <a:prstClr val="white"/>
                  </a:solidFill>
                  <a:latin typeface="Georgia"/>
                  <a:cs typeface="Calibri" panose="020F0502020204030204" pitchFamily="34" charset="0"/>
                </a:rPr>
                <a:t>th</a:t>
              </a:r>
              <a:r>
                <a:rPr lang="en-US" altLang="zh-CN" sz="1200" b="1" baseline="30000" dirty="0">
                  <a:solidFill>
                    <a:prstClr val="white"/>
                  </a:solidFill>
                  <a:latin typeface="Georgia"/>
                  <a:ea typeface="SimSun" panose="02010600030101010101" pitchFamily="2" charset="-122"/>
                  <a:cs typeface="Calibri" panose="020F0502020204030204" pitchFamily="34" charset="0"/>
                </a:rPr>
                <a:t> </a:t>
              </a:r>
              <a:r>
                <a:rPr lang="en-US" altLang="zh-CN" sz="1200" dirty="0">
                  <a:solidFill>
                    <a:prstClr val="white"/>
                  </a:solidFill>
                  <a:latin typeface="Georgia"/>
                  <a:ea typeface="SimSun" panose="02010600030101010101" pitchFamily="2" charset="-122"/>
                </a:rPr>
                <a:t>percentile </a:t>
              </a:r>
              <a:r>
                <a:rPr lang="en-US" altLang="zh-CN" sz="180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140</a:t>
              </a:r>
              <a:r>
                <a:rPr lang="en-US" altLang="zh-CN" sz="1800" b="1" dirty="0">
                  <a:solidFill>
                    <a:prstClr val="white"/>
                  </a:solidFill>
                  <a:latin typeface="Georgia"/>
                  <a:cs typeface="Calibri" panose="020F0502020204030204" pitchFamily="34" charset="0"/>
                </a:rPr>
                <a:t>%</a:t>
              </a:r>
            </a:p>
          </p:txBody>
        </p:sp>
        <p:sp>
          <p:nvSpPr>
            <p:cNvPr id="108" name="Text Box 145">
              <a:extLst>
                <a:ext uri="{FF2B5EF4-FFF2-40B4-BE49-F238E27FC236}">
                  <a16:creationId xmlns:a16="http://schemas.microsoft.com/office/drawing/2014/main" id="{C91471E1-AAC9-4671-A292-5C18859B9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34475" y="5682570"/>
              <a:ext cx="1585941" cy="615553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lvl1pPr eaLnBrk="0" hangingPunct="0">
                <a:spcBef>
                  <a:spcPct val="20000"/>
                </a:spcBef>
                <a:spcAft>
                  <a:spcPts val="600"/>
                </a:spcAft>
                <a:buClr>
                  <a:srgbClr val="E6503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989898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E65032"/>
                </a:buClr>
                <a:buSzPct val="90000"/>
                <a:buFont typeface="Arial" panose="020B0604020202020204" pitchFamily="34" charset="0"/>
                <a:buChar char="—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999999"/>
                </a:buClr>
                <a:buFont typeface="Arial" panose="020B0604020202020204" pitchFamily="34" charset="0"/>
                <a:buChar char="–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defTabSz="685800" ea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  <a:defRPr/>
              </a:pPr>
              <a:r>
                <a:rPr lang="en-US" altLang="zh-CN" sz="1800" b="1" dirty="0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65</a:t>
              </a:r>
              <a:r>
                <a:rPr lang="en-US" altLang="zh-CN" sz="1800" b="1" dirty="0">
                  <a:solidFill>
                    <a:prstClr val="white"/>
                  </a:solidFill>
                  <a:latin typeface="Georgia"/>
                  <a:cs typeface="Calibri" panose="020F0502020204030204" pitchFamily="34" charset="0"/>
                </a:rPr>
                <a:t>% </a:t>
              </a:r>
              <a:r>
                <a:rPr lang="en-US" altLang="zh-CN" sz="1200" dirty="0">
                  <a:solidFill>
                    <a:prstClr val="white"/>
                  </a:solidFill>
                  <a:latin typeface="Georgia"/>
                  <a:ea typeface="SimSun" panose="02010600030101010101" pitchFamily="2" charset="-122"/>
                </a:rPr>
                <a:t>meet or</a:t>
              </a:r>
              <a:br>
                <a:rPr lang="en-US" altLang="zh-CN" sz="1200" dirty="0">
                  <a:solidFill>
                    <a:prstClr val="white"/>
                  </a:solidFill>
                  <a:latin typeface="Georgia"/>
                  <a:ea typeface="SimSun" panose="02010600030101010101" pitchFamily="2" charset="-122"/>
                </a:rPr>
              </a:br>
              <a:r>
                <a:rPr lang="en-US" altLang="zh-CN" sz="1200" dirty="0">
                  <a:solidFill>
                    <a:prstClr val="white"/>
                  </a:solidFill>
                  <a:latin typeface="Georgia"/>
                  <a:ea typeface="SimSun" panose="02010600030101010101" pitchFamily="2" charset="-122"/>
                </a:rPr>
                <a:t>exceed quota</a:t>
              </a:r>
            </a:p>
          </p:txBody>
        </p:sp>
      </p:grpSp>
      <p:pic>
        <p:nvPicPr>
          <p:cNvPr id="112" name="Graphic 111">
            <a:extLst>
              <a:ext uri="{FF2B5EF4-FFF2-40B4-BE49-F238E27FC236}">
                <a16:creationId xmlns:a16="http://schemas.microsoft.com/office/drawing/2014/main" id="{B1CB665B-BED6-4E02-A203-4BB57295359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08895" y="1205401"/>
            <a:ext cx="247880" cy="247880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920F7384-C86C-4191-88B3-8CC090645228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22859" y="2967453"/>
            <a:ext cx="219952" cy="219952"/>
          </a:xfrm>
          <a:prstGeom prst="rect">
            <a:avLst/>
          </a:prstGeom>
        </p:spPr>
      </p:pic>
      <p:sp>
        <p:nvSpPr>
          <p:cNvPr id="115" name="Rectangle 114" hidden="1">
            <a:extLst>
              <a:ext uri="{FF2B5EF4-FFF2-40B4-BE49-F238E27FC236}">
                <a16:creationId xmlns:a16="http://schemas.microsoft.com/office/drawing/2014/main" id="{705A9233-B818-4BFB-907A-AA70D31E90E3}"/>
              </a:ext>
            </a:extLst>
          </p:cNvPr>
          <p:cNvSpPr/>
          <p:nvPr/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685800">
              <a:defRPr/>
            </a:pPr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EE17CE5B-A6D6-46BE-A888-EB11ED698BEE}"/>
              </a:ext>
            </a:extLst>
          </p:cNvPr>
          <p:cNvSpPr/>
          <p:nvPr/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685800">
              <a:defRPr/>
            </a:pPr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501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C678CF6-C9C3-406C-8AFE-3942E7658E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9" progId="TCLayout.ActiveDocument.1">
                  <p:embed/>
                </p:oleObj>
              </mc:Choice>
              <mc:Fallback>
                <p:oleObj name="think-cell Slide" r:id="rId3" imgW="353" imgH="359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C678CF6-C9C3-406C-8AFE-3942E7658E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90F6F9CF-6B35-4CA5-8053-FBAB4587AA1E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7FE48-E8DF-40CE-AB70-1A91EC2B4E7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 vert="horz"/>
          <a:lstStyle/>
          <a:p>
            <a:r>
              <a:rPr lang="en-US" dirty="0">
                <a:solidFill>
                  <a:schemeClr val="bg1"/>
                </a:solidFill>
              </a:rPr>
              <a:t>Performance distribution – Best practice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8C696-FD58-4D4B-BA21-328EF9B6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5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Freeform 168" descr="Wide downward diagonal">
            <a:extLst>
              <a:ext uri="{FF2B5EF4-FFF2-40B4-BE49-F238E27FC236}">
                <a16:creationId xmlns:a16="http://schemas.microsoft.com/office/drawing/2014/main" id="{BC7BD8D8-958A-40FD-A460-63754703326A}"/>
              </a:ext>
            </a:extLst>
          </p:cNvPr>
          <p:cNvSpPr>
            <a:spLocks/>
          </p:cNvSpPr>
          <p:nvPr/>
        </p:nvSpPr>
        <p:spPr bwMode="auto">
          <a:xfrm>
            <a:off x="5975461" y="3768851"/>
            <a:ext cx="2298178" cy="545817"/>
          </a:xfrm>
          <a:custGeom>
            <a:avLst/>
            <a:gdLst>
              <a:gd name="T0" fmla="*/ 0 w 1440"/>
              <a:gd name="T1" fmla="*/ 0 h 336"/>
              <a:gd name="T2" fmla="*/ 0 w 1440"/>
              <a:gd name="T3" fmla="*/ 2147483647 h 336"/>
              <a:gd name="T4" fmla="*/ 2147483647 w 1440"/>
              <a:gd name="T5" fmla="*/ 2147483647 h 336"/>
              <a:gd name="T6" fmla="*/ 2147483647 w 1440"/>
              <a:gd name="T7" fmla="*/ 2147483647 h 336"/>
              <a:gd name="T8" fmla="*/ 2147483647 w 1440"/>
              <a:gd name="T9" fmla="*/ 2147483647 h 336"/>
              <a:gd name="T10" fmla="*/ 2147483647 w 1440"/>
              <a:gd name="T11" fmla="*/ 2147483647 h 336"/>
              <a:gd name="T12" fmla="*/ 2147483647 w 1440"/>
              <a:gd name="T13" fmla="*/ 2147483647 h 336"/>
              <a:gd name="T14" fmla="*/ 0 w 1440"/>
              <a:gd name="T15" fmla="*/ 0 h 3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440"/>
              <a:gd name="T25" fmla="*/ 0 h 336"/>
              <a:gd name="T26" fmla="*/ 1440 w 1440"/>
              <a:gd name="T27" fmla="*/ 336 h 3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440" h="336">
                <a:moveTo>
                  <a:pt x="0" y="0"/>
                </a:moveTo>
                <a:lnTo>
                  <a:pt x="0" y="336"/>
                </a:lnTo>
                <a:lnTo>
                  <a:pt x="1440" y="336"/>
                </a:lnTo>
                <a:lnTo>
                  <a:pt x="1092" y="318"/>
                </a:lnTo>
                <a:lnTo>
                  <a:pt x="780" y="288"/>
                </a:lnTo>
                <a:lnTo>
                  <a:pt x="420" y="204"/>
                </a:lnTo>
                <a:lnTo>
                  <a:pt x="132" y="84"/>
                </a:lnTo>
                <a:lnTo>
                  <a:pt x="0" y="0"/>
                </a:lnTo>
                <a:close/>
              </a:path>
            </a:pathLst>
          </a:custGeom>
          <a:pattFill prst="wdDnDiag">
            <a:fgClr>
              <a:schemeClr val="tx2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7" name="Freeform 167">
            <a:extLst>
              <a:ext uri="{FF2B5EF4-FFF2-40B4-BE49-F238E27FC236}">
                <a16:creationId xmlns:a16="http://schemas.microsoft.com/office/drawing/2014/main" id="{E1B1FEDA-7193-4C0D-A8CF-0DE17C3ABFA0}"/>
              </a:ext>
            </a:extLst>
          </p:cNvPr>
          <p:cNvSpPr>
            <a:spLocks/>
          </p:cNvSpPr>
          <p:nvPr/>
        </p:nvSpPr>
        <p:spPr bwMode="auto">
          <a:xfrm>
            <a:off x="4270979" y="1547279"/>
            <a:ext cx="1704482" cy="2767388"/>
          </a:xfrm>
          <a:custGeom>
            <a:avLst/>
            <a:gdLst>
              <a:gd name="T0" fmla="*/ 0 w 1068"/>
              <a:gd name="T1" fmla="*/ 0 h 1734"/>
              <a:gd name="T2" fmla="*/ 0 w 1068"/>
              <a:gd name="T3" fmla="*/ 2147483647 h 1734"/>
              <a:gd name="T4" fmla="*/ 2147483647 w 1068"/>
              <a:gd name="T5" fmla="*/ 2147483647 h 1734"/>
              <a:gd name="T6" fmla="*/ 2147483647 w 1068"/>
              <a:gd name="T7" fmla="*/ 2147483647 h 1734"/>
              <a:gd name="T8" fmla="*/ 2147483647 w 1068"/>
              <a:gd name="T9" fmla="*/ 2147483647 h 1734"/>
              <a:gd name="T10" fmla="*/ 2147483647 w 1068"/>
              <a:gd name="T11" fmla="*/ 2147483647 h 1734"/>
              <a:gd name="T12" fmla="*/ 2147483647 w 1068"/>
              <a:gd name="T13" fmla="*/ 2147483647 h 1734"/>
              <a:gd name="T14" fmla="*/ 2147483647 w 1068"/>
              <a:gd name="T15" fmla="*/ 2147483647 h 1734"/>
              <a:gd name="T16" fmla="*/ 2147483647 w 1068"/>
              <a:gd name="T17" fmla="*/ 2147483647 h 1734"/>
              <a:gd name="T18" fmla="*/ 0 w 1068"/>
              <a:gd name="T19" fmla="*/ 0 h 173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68"/>
              <a:gd name="T31" fmla="*/ 0 h 1734"/>
              <a:gd name="T32" fmla="*/ 1068 w 1068"/>
              <a:gd name="T33" fmla="*/ 1734 h 173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68" h="1734">
                <a:moveTo>
                  <a:pt x="0" y="0"/>
                </a:moveTo>
                <a:lnTo>
                  <a:pt x="0" y="1734"/>
                </a:lnTo>
                <a:lnTo>
                  <a:pt x="1068" y="1734"/>
                </a:lnTo>
                <a:lnTo>
                  <a:pt x="1068" y="1392"/>
                </a:lnTo>
                <a:lnTo>
                  <a:pt x="900" y="1242"/>
                </a:lnTo>
                <a:lnTo>
                  <a:pt x="660" y="894"/>
                </a:lnTo>
                <a:lnTo>
                  <a:pt x="318" y="312"/>
                </a:lnTo>
                <a:lnTo>
                  <a:pt x="198" y="138"/>
                </a:lnTo>
                <a:lnTo>
                  <a:pt x="108" y="6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38" name="Freeform 49">
            <a:extLst>
              <a:ext uri="{FF2B5EF4-FFF2-40B4-BE49-F238E27FC236}">
                <a16:creationId xmlns:a16="http://schemas.microsoft.com/office/drawing/2014/main" id="{82AD2C5D-5107-4C0D-9B13-A2FD9844B852}"/>
              </a:ext>
            </a:extLst>
          </p:cNvPr>
          <p:cNvSpPr>
            <a:spLocks/>
          </p:cNvSpPr>
          <p:nvPr/>
        </p:nvSpPr>
        <p:spPr bwMode="auto">
          <a:xfrm>
            <a:off x="2812276" y="1531319"/>
            <a:ext cx="1455512" cy="2783348"/>
          </a:xfrm>
          <a:custGeom>
            <a:avLst/>
            <a:gdLst>
              <a:gd name="T0" fmla="*/ 0 w 904"/>
              <a:gd name="T1" fmla="*/ 2147483647 h 1736"/>
              <a:gd name="T2" fmla="*/ 0 w 904"/>
              <a:gd name="T3" fmla="*/ 2147483647 h 1736"/>
              <a:gd name="T4" fmla="*/ 2147483647 w 904"/>
              <a:gd name="T5" fmla="*/ 2147483647 h 1736"/>
              <a:gd name="T6" fmla="*/ 2147483647 w 904"/>
              <a:gd name="T7" fmla="*/ 0 h 1736"/>
              <a:gd name="T8" fmla="*/ 2147483647 w 904"/>
              <a:gd name="T9" fmla="*/ 2147483647 h 1736"/>
              <a:gd name="T10" fmla="*/ 2147483647 w 904"/>
              <a:gd name="T11" fmla="*/ 2147483647 h 1736"/>
              <a:gd name="T12" fmla="*/ 2147483647 w 904"/>
              <a:gd name="T13" fmla="*/ 2147483647 h 1736"/>
              <a:gd name="T14" fmla="*/ 2147483647 w 904"/>
              <a:gd name="T15" fmla="*/ 2147483647 h 1736"/>
              <a:gd name="T16" fmla="*/ 2147483647 w 904"/>
              <a:gd name="T17" fmla="*/ 2147483647 h 1736"/>
              <a:gd name="T18" fmla="*/ 0 w 904"/>
              <a:gd name="T19" fmla="*/ 2147483647 h 17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904"/>
              <a:gd name="T31" fmla="*/ 0 h 1736"/>
              <a:gd name="T32" fmla="*/ 904 w 904"/>
              <a:gd name="T33" fmla="*/ 1736 h 1736"/>
              <a:gd name="connsiteX0" fmla="*/ 0 w 10000"/>
              <a:gd name="connsiteY0" fmla="*/ 7650 h 10000"/>
              <a:gd name="connsiteX1" fmla="*/ 0 w 10000"/>
              <a:gd name="connsiteY1" fmla="*/ 10000 h 10000"/>
              <a:gd name="connsiteX2" fmla="*/ 10000 w 10000"/>
              <a:gd name="connsiteY2" fmla="*/ 10000 h 10000"/>
              <a:gd name="connsiteX3" fmla="*/ 10000 w 10000"/>
              <a:gd name="connsiteY3" fmla="*/ 0 h 10000"/>
              <a:gd name="connsiteX4" fmla="*/ 8938 w 10000"/>
              <a:gd name="connsiteY4" fmla="*/ 92 h 10000"/>
              <a:gd name="connsiteX5" fmla="*/ 6814 w 10000"/>
              <a:gd name="connsiteY5" fmla="*/ 1244 h 10000"/>
              <a:gd name="connsiteX6" fmla="*/ 4071 w 10000"/>
              <a:gd name="connsiteY6" fmla="*/ 4101 h 10000"/>
              <a:gd name="connsiteX7" fmla="*/ 2478 w 10000"/>
              <a:gd name="connsiteY7" fmla="*/ 5945 h 10000"/>
              <a:gd name="connsiteX8" fmla="*/ 973 w 10000"/>
              <a:gd name="connsiteY8" fmla="*/ 7143 h 10000"/>
              <a:gd name="connsiteX9" fmla="*/ 0 w 10000"/>
              <a:gd name="connsiteY9" fmla="*/ 765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00" h="10000">
                <a:moveTo>
                  <a:pt x="0" y="7650"/>
                </a:moveTo>
                <a:lnTo>
                  <a:pt x="0" y="10000"/>
                </a:lnTo>
                <a:lnTo>
                  <a:pt x="10000" y="10000"/>
                </a:lnTo>
                <a:lnTo>
                  <a:pt x="10000" y="0"/>
                </a:lnTo>
                <a:lnTo>
                  <a:pt x="8938" y="92"/>
                </a:lnTo>
                <a:cubicBezTo>
                  <a:pt x="8097" y="445"/>
                  <a:pt x="7522" y="860"/>
                  <a:pt x="6814" y="1244"/>
                </a:cubicBezTo>
                <a:lnTo>
                  <a:pt x="4071" y="4101"/>
                </a:lnTo>
                <a:lnTo>
                  <a:pt x="2478" y="5945"/>
                </a:lnTo>
                <a:lnTo>
                  <a:pt x="973" y="7143"/>
                </a:lnTo>
                <a:lnTo>
                  <a:pt x="0" y="76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>
              <a:defRPr/>
            </a:pPr>
            <a:endParaRPr lang="en-US" sz="1350" b="1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39" name="Freeform 48" descr="Wide upward diagonal">
            <a:extLst>
              <a:ext uri="{FF2B5EF4-FFF2-40B4-BE49-F238E27FC236}">
                <a16:creationId xmlns:a16="http://schemas.microsoft.com/office/drawing/2014/main" id="{822AC165-1A28-4D63-A2B7-A1F0A8AF2124}"/>
              </a:ext>
            </a:extLst>
          </p:cNvPr>
          <p:cNvSpPr>
            <a:spLocks/>
          </p:cNvSpPr>
          <p:nvPr/>
        </p:nvSpPr>
        <p:spPr bwMode="auto">
          <a:xfrm>
            <a:off x="1139713" y="3663516"/>
            <a:ext cx="1672562" cy="663918"/>
          </a:xfrm>
          <a:custGeom>
            <a:avLst/>
            <a:gdLst>
              <a:gd name="T0" fmla="*/ 0 w 1048"/>
              <a:gd name="T1" fmla="*/ 2147483647 h 416"/>
              <a:gd name="T2" fmla="*/ 2147483647 w 1048"/>
              <a:gd name="T3" fmla="*/ 2147483647 h 416"/>
              <a:gd name="T4" fmla="*/ 2147483647 w 1048"/>
              <a:gd name="T5" fmla="*/ 2147483647 h 416"/>
              <a:gd name="T6" fmla="*/ 2147483647 w 1048"/>
              <a:gd name="T7" fmla="*/ 2147483647 h 416"/>
              <a:gd name="T8" fmla="*/ 2147483647 w 1048"/>
              <a:gd name="T9" fmla="*/ 0 h 416"/>
              <a:gd name="T10" fmla="*/ 2147483647 w 1048"/>
              <a:gd name="T11" fmla="*/ 2147483647 h 416"/>
              <a:gd name="T12" fmla="*/ 0 w 1048"/>
              <a:gd name="T13" fmla="*/ 2147483647 h 4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48"/>
              <a:gd name="T22" fmla="*/ 0 h 416"/>
              <a:gd name="T23" fmla="*/ 1048 w 1048"/>
              <a:gd name="T24" fmla="*/ 416 h 4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48" h="416">
                <a:moveTo>
                  <a:pt x="0" y="416"/>
                </a:moveTo>
                <a:lnTo>
                  <a:pt x="320" y="352"/>
                </a:lnTo>
                <a:lnTo>
                  <a:pt x="632" y="256"/>
                </a:lnTo>
                <a:lnTo>
                  <a:pt x="936" y="96"/>
                </a:lnTo>
                <a:lnTo>
                  <a:pt x="1048" y="0"/>
                </a:lnTo>
                <a:lnTo>
                  <a:pt x="1048" y="408"/>
                </a:lnTo>
                <a:lnTo>
                  <a:pt x="0" y="416"/>
                </a:lnTo>
                <a:close/>
              </a:path>
            </a:pathLst>
          </a:custGeom>
          <a:pattFill prst="wdUpDiag">
            <a:fgClr>
              <a:schemeClr val="tx2"/>
            </a:fgClr>
            <a:bgClr>
              <a:srgbClr val="FFFFFF"/>
            </a:bgClr>
          </a:pattFill>
          <a:ln>
            <a:noFill/>
          </a:ln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0" name="Line 35">
            <a:extLst>
              <a:ext uri="{FF2B5EF4-FFF2-40B4-BE49-F238E27FC236}">
                <a16:creationId xmlns:a16="http://schemas.microsoft.com/office/drawing/2014/main" id="{1DC26F24-2DAA-42D5-A8A1-31FA4E116B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9384" y="939219"/>
            <a:ext cx="0" cy="337544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3" name="Line 36">
            <a:extLst>
              <a:ext uri="{FF2B5EF4-FFF2-40B4-BE49-F238E27FC236}">
                <a16:creationId xmlns:a16="http://schemas.microsoft.com/office/drawing/2014/main" id="{2EE78613-6FCB-4DA9-9103-DF913587FC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3872" y="3701819"/>
            <a:ext cx="0" cy="61284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44" name="Line 37">
            <a:extLst>
              <a:ext uri="{FF2B5EF4-FFF2-40B4-BE49-F238E27FC236}">
                <a16:creationId xmlns:a16="http://schemas.microsoft.com/office/drawing/2014/main" id="{5D938AC1-086E-4EAC-9A1B-AE40A92729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3865" y="3791193"/>
            <a:ext cx="0" cy="52347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1" name="Line 149">
            <a:extLst>
              <a:ext uri="{FF2B5EF4-FFF2-40B4-BE49-F238E27FC236}">
                <a16:creationId xmlns:a16="http://schemas.microsoft.com/office/drawing/2014/main" id="{FEF3D7CC-338B-45A3-AE18-B8C344FB6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8441" y="3199094"/>
            <a:ext cx="0" cy="272908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2" name="Line 150">
            <a:extLst>
              <a:ext uri="{FF2B5EF4-FFF2-40B4-BE49-F238E27FC236}">
                <a16:creationId xmlns:a16="http://schemas.microsoft.com/office/drawing/2014/main" id="{451EFD03-2412-4976-9B34-68B82BD765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8437" y="3199094"/>
            <a:ext cx="0" cy="272908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5" name="Line 151">
            <a:extLst>
              <a:ext uri="{FF2B5EF4-FFF2-40B4-BE49-F238E27FC236}">
                <a16:creationId xmlns:a16="http://schemas.microsoft.com/office/drawing/2014/main" id="{607C9E00-929E-4B6F-88BD-96C45CD9B9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68441" y="3335548"/>
            <a:ext cx="1579997" cy="0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8" name="Line 154">
            <a:extLst>
              <a:ext uri="{FF2B5EF4-FFF2-40B4-BE49-F238E27FC236}">
                <a16:creationId xmlns:a16="http://schemas.microsoft.com/office/drawing/2014/main" id="{F55738B2-11B8-4C0A-8B0B-DD031ABE3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6743" y="1254963"/>
            <a:ext cx="0" cy="245777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9" name="Line 155">
            <a:extLst>
              <a:ext uri="{FF2B5EF4-FFF2-40B4-BE49-F238E27FC236}">
                <a16:creationId xmlns:a16="http://schemas.microsoft.com/office/drawing/2014/main" id="{6D350998-6E3F-4927-9E3A-457DE52EC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7990" y="1254963"/>
            <a:ext cx="0" cy="245777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0" name="Line 156">
            <a:extLst>
              <a:ext uri="{FF2B5EF4-FFF2-40B4-BE49-F238E27FC236}">
                <a16:creationId xmlns:a16="http://schemas.microsoft.com/office/drawing/2014/main" id="{1400AB55-B2E5-41FB-BD5A-DBE1B6D26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6744" y="1377851"/>
            <a:ext cx="2981246" cy="0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5" name="Line 158">
            <a:extLst>
              <a:ext uri="{FF2B5EF4-FFF2-40B4-BE49-F238E27FC236}">
                <a16:creationId xmlns:a16="http://schemas.microsoft.com/office/drawing/2014/main" id="{E5E6C991-DD1E-49CD-8B29-E227B2CF0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8010" y="1272775"/>
            <a:ext cx="0" cy="245777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6" name="Line 159">
            <a:extLst>
              <a:ext uri="{FF2B5EF4-FFF2-40B4-BE49-F238E27FC236}">
                <a16:creationId xmlns:a16="http://schemas.microsoft.com/office/drawing/2014/main" id="{F1510B5B-F920-41E2-A428-3D9EBB887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40668" y="1272775"/>
            <a:ext cx="0" cy="245777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7" name="Line 160">
            <a:extLst>
              <a:ext uri="{FF2B5EF4-FFF2-40B4-BE49-F238E27FC236}">
                <a16:creationId xmlns:a16="http://schemas.microsoft.com/office/drawing/2014/main" id="{35A45DE2-A72E-47F5-8034-B1FD435BB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8010" y="1395664"/>
            <a:ext cx="4002659" cy="0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2" name="Line 162">
            <a:extLst>
              <a:ext uri="{FF2B5EF4-FFF2-40B4-BE49-F238E27FC236}">
                <a16:creationId xmlns:a16="http://schemas.microsoft.com/office/drawing/2014/main" id="{4A6789EA-29C1-40EC-AFCE-72176B2B8A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3341" y="3342730"/>
            <a:ext cx="0" cy="229818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3" name="Line 163">
            <a:extLst>
              <a:ext uri="{FF2B5EF4-FFF2-40B4-BE49-F238E27FC236}">
                <a16:creationId xmlns:a16="http://schemas.microsoft.com/office/drawing/2014/main" id="{6ABB2825-6433-49D6-8B98-53D7F355708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50245" y="3342730"/>
            <a:ext cx="0" cy="229818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74" name="Line 164">
            <a:extLst>
              <a:ext uri="{FF2B5EF4-FFF2-40B4-BE49-F238E27FC236}">
                <a16:creationId xmlns:a16="http://schemas.microsoft.com/office/drawing/2014/main" id="{2A8A6CFB-21DA-4344-8CD9-4423EFC75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3341" y="3457639"/>
            <a:ext cx="2326904" cy="0"/>
          </a:xfrm>
          <a:prstGeom prst="line">
            <a:avLst/>
          </a:prstGeom>
          <a:noFill/>
          <a:ln w="3175">
            <a:solidFill>
              <a:schemeClr val="accent3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3" name="Freeform 166">
            <a:extLst>
              <a:ext uri="{FF2B5EF4-FFF2-40B4-BE49-F238E27FC236}">
                <a16:creationId xmlns:a16="http://schemas.microsoft.com/office/drawing/2014/main" id="{DC239E84-C7AF-4925-AC26-E27BA266580F}"/>
              </a:ext>
            </a:extLst>
          </p:cNvPr>
          <p:cNvSpPr>
            <a:spLocks/>
          </p:cNvSpPr>
          <p:nvPr/>
        </p:nvSpPr>
        <p:spPr bwMode="auto">
          <a:xfrm>
            <a:off x="2323115" y="1198015"/>
            <a:ext cx="7196167" cy="2776964"/>
          </a:xfrm>
          <a:custGeom>
            <a:avLst/>
            <a:gdLst>
              <a:gd name="T0" fmla="*/ 0 w 4509"/>
              <a:gd name="T1" fmla="*/ 2147483647 h 1740"/>
              <a:gd name="T2" fmla="*/ 2147483647 w 4509"/>
              <a:gd name="T3" fmla="*/ 2147483647 h 1740"/>
              <a:gd name="T4" fmla="*/ 2147483647 w 4509"/>
              <a:gd name="T5" fmla="*/ 2147483647 h 1740"/>
              <a:gd name="T6" fmla="*/ 2147483647 w 4509"/>
              <a:gd name="T7" fmla="*/ 2147483647 h 1740"/>
              <a:gd name="T8" fmla="*/ 2147483647 w 4509"/>
              <a:gd name="T9" fmla="*/ 2147483647 h 17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09"/>
              <a:gd name="T16" fmla="*/ 0 h 1740"/>
              <a:gd name="T17" fmla="*/ 4509 w 4509"/>
              <a:gd name="T18" fmla="*/ 1740 h 17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09" h="1740">
                <a:moveTo>
                  <a:pt x="0" y="1740"/>
                </a:moveTo>
                <a:cubicBezTo>
                  <a:pt x="360" y="1681"/>
                  <a:pt x="721" y="1623"/>
                  <a:pt x="1044" y="1335"/>
                </a:cubicBezTo>
                <a:cubicBezTo>
                  <a:pt x="1367" y="1047"/>
                  <a:pt x="1605" y="0"/>
                  <a:pt x="1935" y="12"/>
                </a:cubicBezTo>
                <a:cubicBezTo>
                  <a:pt x="2265" y="24"/>
                  <a:pt x="2595" y="1119"/>
                  <a:pt x="3024" y="1407"/>
                </a:cubicBezTo>
                <a:cubicBezTo>
                  <a:pt x="3453" y="1695"/>
                  <a:pt x="3981" y="1717"/>
                  <a:pt x="4509" y="1740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4" name="Rectangle 172">
            <a:extLst>
              <a:ext uri="{FF2B5EF4-FFF2-40B4-BE49-F238E27FC236}">
                <a16:creationId xmlns:a16="http://schemas.microsoft.com/office/drawing/2014/main" id="{25A2EEA5-831E-4AC4-B5AC-18C2F96E6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00" y="1168522"/>
            <a:ext cx="1129937" cy="43350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1200" b="1" dirty="0">
                <a:latin typeface="Georgia"/>
                <a:ea typeface="SimSun" panose="02010600030101010101" pitchFamily="2" charset="-122"/>
              </a:rPr>
              <a:t>30-40% of sales force</a:t>
            </a:r>
          </a:p>
        </p:txBody>
      </p:sp>
      <p:sp>
        <p:nvSpPr>
          <p:cNvPr id="55" name="Rectangle 174">
            <a:extLst>
              <a:ext uri="{FF2B5EF4-FFF2-40B4-BE49-F238E27FC236}">
                <a16:creationId xmlns:a16="http://schemas.microsoft.com/office/drawing/2014/main" id="{00299722-9B43-4695-A11C-EE26A4E1E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0996" y="3171962"/>
            <a:ext cx="791594" cy="57454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1200" b="1" dirty="0">
                <a:latin typeface="Georgia"/>
                <a:ea typeface="SimSun" panose="02010600030101010101" pitchFamily="2" charset="-122"/>
              </a:rPr>
              <a:t>Top 10% of sellers</a:t>
            </a:r>
          </a:p>
        </p:txBody>
      </p:sp>
      <p:sp>
        <p:nvSpPr>
          <p:cNvPr id="56" name="Rectangle 175">
            <a:extLst>
              <a:ext uri="{FF2B5EF4-FFF2-40B4-BE49-F238E27FC236}">
                <a16:creationId xmlns:a16="http://schemas.microsoft.com/office/drawing/2014/main" id="{FFAA0251-760D-4DE1-BD56-316477507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830" y="3069821"/>
            <a:ext cx="973220" cy="57454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1200" b="1" dirty="0">
                <a:latin typeface="Georgia"/>
                <a:ea typeface="SimSun" panose="02010600030101010101" pitchFamily="2" charset="-122"/>
              </a:rPr>
              <a:t>Bottom10% of sellers</a:t>
            </a:r>
          </a:p>
        </p:txBody>
      </p:sp>
      <p:sp>
        <p:nvSpPr>
          <p:cNvPr id="57" name="Rectangle 177">
            <a:extLst>
              <a:ext uri="{FF2B5EF4-FFF2-40B4-BE49-F238E27FC236}">
                <a16:creationId xmlns:a16="http://schemas.microsoft.com/office/drawing/2014/main" id="{2C226A54-EAC1-423F-8A0C-004B78CE2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198" y="1168522"/>
            <a:ext cx="1129937" cy="43350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1200" b="1" dirty="0">
                <a:latin typeface="Georgia"/>
                <a:ea typeface="SimSun" panose="02010600030101010101" pitchFamily="2" charset="-122"/>
              </a:rPr>
              <a:t>60-70% of sales force</a:t>
            </a:r>
          </a:p>
        </p:txBody>
      </p:sp>
      <p:sp>
        <p:nvSpPr>
          <p:cNvPr id="58" name="Rectangle 178">
            <a:extLst>
              <a:ext uri="{FF2B5EF4-FFF2-40B4-BE49-F238E27FC236}">
                <a16:creationId xmlns:a16="http://schemas.microsoft.com/office/drawing/2014/main" id="{58F4EB6F-882D-4174-B534-12F05C601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601" y="950390"/>
            <a:ext cx="7315865" cy="3383427"/>
          </a:xfrm>
          <a:prstGeom prst="rect">
            <a:avLst/>
          </a:prstGeom>
          <a:noFill/>
          <a:ln w="635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endParaRPr lang="zh-CN" altLang="en-US" sz="1200" dirty="0">
              <a:latin typeface="Georgia"/>
              <a:ea typeface="SimSun" panose="02010600030101010101" pitchFamily="2" charset="-122"/>
            </a:endParaRPr>
          </a:p>
        </p:txBody>
      </p:sp>
      <p:sp>
        <p:nvSpPr>
          <p:cNvPr id="59" name="Text Box 179">
            <a:extLst>
              <a:ext uri="{FF2B5EF4-FFF2-40B4-BE49-F238E27FC236}">
                <a16:creationId xmlns:a16="http://schemas.microsoft.com/office/drawing/2014/main" id="{2E407C04-B1BC-400D-88C6-69FBC2C14BD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40045" y="2486847"/>
            <a:ext cx="201529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58775" indent="-358775"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69081" indent="-269081" algn="ctr"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1200" b="1" dirty="0">
                <a:latin typeface="Georgia"/>
                <a:ea typeface="SimSun" panose="02010600030101010101" pitchFamily="2" charset="-122"/>
              </a:rPr>
              <a:t>Number of incumbents</a:t>
            </a:r>
          </a:p>
        </p:txBody>
      </p:sp>
      <p:sp>
        <p:nvSpPr>
          <p:cNvPr id="60" name="Text Box 182">
            <a:extLst>
              <a:ext uri="{FF2B5EF4-FFF2-40B4-BE49-F238E27FC236}">
                <a16:creationId xmlns:a16="http://schemas.microsoft.com/office/drawing/2014/main" id="{BE2B5C86-D744-4ADC-9FA3-06ADF0124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695" y="4320503"/>
            <a:ext cx="99899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58775" indent="-358775"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69081" indent="-269081" algn="ctr"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1200" b="1" dirty="0">
                <a:latin typeface="Georgia"/>
                <a:ea typeface="SimSun" panose="02010600030101010101" pitchFamily="2" charset="-122"/>
              </a:rPr>
              <a:t>Threshold</a:t>
            </a:r>
          </a:p>
        </p:txBody>
      </p:sp>
      <p:sp>
        <p:nvSpPr>
          <p:cNvPr id="61" name="Text Box 183">
            <a:extLst>
              <a:ext uri="{FF2B5EF4-FFF2-40B4-BE49-F238E27FC236}">
                <a16:creationId xmlns:a16="http://schemas.microsoft.com/office/drawing/2014/main" id="{63ECB9AD-C3C9-4886-ACB5-9BACFB1A35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4760" y="4320503"/>
            <a:ext cx="8237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58775" indent="-358775"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69081" indent="-269081" algn="ctr"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1200" b="1" dirty="0">
                <a:latin typeface="Georgia"/>
                <a:ea typeface="SimSun" panose="02010600030101010101" pitchFamily="2" charset="-122"/>
              </a:rPr>
              <a:t>Target</a:t>
            </a:r>
          </a:p>
        </p:txBody>
      </p:sp>
      <p:sp>
        <p:nvSpPr>
          <p:cNvPr id="68" name="Text Box 184">
            <a:extLst>
              <a:ext uri="{FF2B5EF4-FFF2-40B4-BE49-F238E27FC236}">
                <a16:creationId xmlns:a16="http://schemas.microsoft.com/office/drawing/2014/main" id="{61F57393-08BF-456F-83EF-39754DC3D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796" y="4320503"/>
            <a:ext cx="141256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58775" indent="-358775"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69081" indent="-269081" algn="ctr"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1200" b="1" dirty="0">
                <a:latin typeface="Georgia"/>
                <a:ea typeface="SimSun" panose="02010600030101010101" pitchFamily="2" charset="-122"/>
              </a:rPr>
              <a:t>Max/excellence</a:t>
            </a:r>
          </a:p>
        </p:txBody>
      </p:sp>
      <p:sp>
        <p:nvSpPr>
          <p:cNvPr id="69" name="Text Box 185">
            <a:extLst>
              <a:ext uri="{FF2B5EF4-FFF2-40B4-BE49-F238E27FC236}">
                <a16:creationId xmlns:a16="http://schemas.microsoft.com/office/drawing/2014/main" id="{0413C6BB-B546-4453-BD23-2813DF06D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6681" y="4527599"/>
            <a:ext cx="18871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 eaLnBrk="1" hangingPunct="1">
              <a:spcBef>
                <a:spcPts val="0"/>
              </a:spcBef>
              <a:spcAft>
                <a:spcPct val="0"/>
              </a:spcAft>
              <a:buClr>
                <a:srgbClr val="204090"/>
              </a:buClr>
              <a:buSzTx/>
              <a:buNone/>
              <a:defRPr/>
            </a:pPr>
            <a:r>
              <a:rPr lang="en-US" altLang="zh-CN" sz="900" dirty="0">
                <a:latin typeface="Georgia"/>
                <a:ea typeface="SimSun" panose="02010600030101010101" pitchFamily="2" charset="-122"/>
              </a:rPr>
              <a:t>Peak performance; may continue or cap</a:t>
            </a:r>
          </a:p>
        </p:txBody>
      </p:sp>
      <p:sp>
        <p:nvSpPr>
          <p:cNvPr id="70" name="Text Box 186">
            <a:extLst>
              <a:ext uri="{FF2B5EF4-FFF2-40B4-BE49-F238E27FC236}">
                <a16:creationId xmlns:a16="http://schemas.microsoft.com/office/drawing/2014/main" id="{4DD7AC04-BB81-4DDF-8001-6D566A451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767" y="4527599"/>
            <a:ext cx="218575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685800" eaLnBrk="1" hangingPunct="1">
              <a:spcBef>
                <a:spcPts val="0"/>
              </a:spcBef>
              <a:spcAft>
                <a:spcPct val="0"/>
              </a:spcAft>
              <a:buClr>
                <a:srgbClr val="204090"/>
              </a:buClr>
              <a:buSzTx/>
              <a:buNone/>
              <a:defRPr/>
            </a:pPr>
            <a:r>
              <a:rPr lang="en-US" altLang="zh-CN" sz="900" dirty="0">
                <a:latin typeface="Georgia"/>
                <a:ea typeface="SimSun" panose="02010600030101010101" pitchFamily="2" charset="-122"/>
              </a:rPr>
              <a:t>Expected performance</a:t>
            </a:r>
          </a:p>
          <a:p>
            <a:pPr algn="ctr" defTabSz="685800" eaLnBrk="1" hangingPunct="1">
              <a:spcBef>
                <a:spcPts val="0"/>
              </a:spcBef>
              <a:spcAft>
                <a:spcPct val="0"/>
              </a:spcAft>
              <a:buClr>
                <a:srgbClr val="204090"/>
              </a:buClr>
              <a:buSzTx/>
              <a:buNone/>
              <a:defRPr/>
            </a:pPr>
            <a:r>
              <a:rPr lang="en-US" altLang="zh-CN" sz="900" dirty="0">
                <a:latin typeface="Georgia"/>
                <a:ea typeface="SimSun" panose="02010600030101010101" pitchFamily="2" charset="-122"/>
              </a:rPr>
              <a:t>Stretch to achieve, not a walk-over</a:t>
            </a:r>
          </a:p>
        </p:txBody>
      </p:sp>
      <p:sp>
        <p:nvSpPr>
          <p:cNvPr id="71" name="Text Box 187">
            <a:extLst>
              <a:ext uri="{FF2B5EF4-FFF2-40B4-BE49-F238E27FC236}">
                <a16:creationId xmlns:a16="http://schemas.microsoft.com/office/drawing/2014/main" id="{B6CE3ECE-2473-4442-8D4F-52E920B03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9121" y="4527599"/>
            <a:ext cx="13828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r" defTabSz="685800" eaLnBrk="1" hangingPunct="1">
              <a:spcBef>
                <a:spcPts val="230"/>
              </a:spcBef>
              <a:spcAft>
                <a:spcPct val="0"/>
              </a:spcAft>
              <a:buClr>
                <a:srgbClr val="204090"/>
              </a:buClr>
              <a:buSzTx/>
              <a:buNone/>
              <a:defRPr/>
            </a:pPr>
            <a:r>
              <a:rPr lang="en-US" altLang="zh-CN" sz="900" dirty="0">
                <a:latin typeface="Georgia"/>
                <a:ea typeface="SimSun" panose="02010600030101010101" pitchFamily="2" charset="-122"/>
              </a:rPr>
              <a:t>Minimum acceptable level of achievement</a:t>
            </a:r>
          </a:p>
        </p:txBody>
      </p:sp>
    </p:spTree>
    <p:extLst>
      <p:ext uri="{BB962C8B-B14F-4D97-AF65-F5344CB8AC3E}">
        <p14:creationId xmlns:p14="http://schemas.microsoft.com/office/powerpoint/2010/main" val="385692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85" grpId="0" animBg="1"/>
      <p:bldP spid="78" grpId="0" animBg="1"/>
      <p:bldP spid="79" grpId="0" animBg="1"/>
      <p:bldP spid="80" grpId="0" animBg="1"/>
      <p:bldP spid="75" grpId="0" animBg="1"/>
      <p:bldP spid="76" grpId="0" animBg="1"/>
      <p:bldP spid="77" grpId="0" animBg="1"/>
      <p:bldP spid="72" grpId="0" animBg="1"/>
      <p:bldP spid="73" grpId="0" animBg="1"/>
      <p:bldP spid="74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4C678CF6-C9C3-406C-8AFE-3942E7658E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9" progId="TCLayout.ActiveDocument.1">
                  <p:embed/>
                </p:oleObj>
              </mc:Choice>
              <mc:Fallback>
                <p:oleObj name="think-cell Slide" r:id="rId3" imgW="353" imgH="359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4C678CF6-C9C3-406C-8AFE-3942E7658E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59AB52E7-65C0-4864-AF2D-EA1C4F60C95B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7FE48-E8DF-40CE-AB70-1A91EC2B4E7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 vert="horz"/>
          <a:lstStyle/>
          <a:p>
            <a:r>
              <a:rPr lang="en-US" dirty="0">
                <a:solidFill>
                  <a:schemeClr val="bg1"/>
                </a:solidFill>
              </a:rPr>
              <a:t>Performance distribution – Common issues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8C696-FD58-4D4B-BA21-328EF9B62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6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ounded Rectangle 52">
            <a:extLst>
              <a:ext uri="{FF2B5EF4-FFF2-40B4-BE49-F238E27FC236}">
                <a16:creationId xmlns:a16="http://schemas.microsoft.com/office/drawing/2014/main" id="{B828E5F1-15AC-4BCE-BCC1-9EF739837B2E}"/>
              </a:ext>
            </a:extLst>
          </p:cNvPr>
          <p:cNvSpPr/>
          <p:nvPr/>
        </p:nvSpPr>
        <p:spPr>
          <a:xfrm rot="16200000" flipH="1">
            <a:off x="792812" y="687315"/>
            <a:ext cx="1124712" cy="1697356"/>
          </a:xfrm>
          <a:prstGeom prst="round2SameRect">
            <a:avLst>
              <a:gd name="adj1" fmla="val 9923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>
              <a:defRPr/>
            </a:pPr>
            <a:r>
              <a:rPr lang="en-IN" sz="1200" b="1" dirty="0">
                <a:solidFill>
                  <a:prstClr val="white"/>
                </a:solidFill>
                <a:latin typeface="Georgia"/>
              </a:rPr>
              <a:t>Skewed Below </a:t>
            </a:r>
          </a:p>
          <a:p>
            <a:pPr algn="ctr" defTabSz="685800">
              <a:defRPr/>
            </a:pPr>
            <a:r>
              <a:rPr lang="en-IN" sz="1200" b="1" dirty="0">
                <a:solidFill>
                  <a:prstClr val="white"/>
                </a:solidFill>
                <a:latin typeface="Georgia"/>
              </a:rPr>
              <a:t>Quota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BC68ED-C6B7-4D66-8838-4A7B1D028DD9}"/>
              </a:ext>
            </a:extLst>
          </p:cNvPr>
          <p:cNvCxnSpPr>
            <a:cxnSpLocks/>
          </p:cNvCxnSpPr>
          <p:nvPr/>
        </p:nvCxnSpPr>
        <p:spPr>
          <a:xfrm>
            <a:off x="2191705" y="973636"/>
            <a:ext cx="0" cy="112471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FE9224BB-3C22-455B-8195-D86109135FAC}"/>
              </a:ext>
            </a:extLst>
          </p:cNvPr>
          <p:cNvSpPr/>
          <p:nvPr/>
        </p:nvSpPr>
        <p:spPr>
          <a:xfrm>
            <a:off x="2123836" y="1467412"/>
            <a:ext cx="137160" cy="1371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F026072-6A30-4741-88AD-B073BC5F7F2E}"/>
              </a:ext>
            </a:extLst>
          </p:cNvPr>
          <p:cNvSpPr txBox="1"/>
          <p:nvPr/>
        </p:nvSpPr>
        <p:spPr>
          <a:xfrm>
            <a:off x="4680858" y="1045473"/>
            <a:ext cx="4038599" cy="9746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137700" indent="-137700" defTabSz="685800">
              <a:spcBef>
                <a:spcPts val="225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Quotas may be too high so individuals may not be earning competitive pay levels</a:t>
            </a:r>
          </a:p>
          <a:p>
            <a:pPr marL="137700" indent="-137700" defTabSz="685800">
              <a:spcBef>
                <a:spcPts val="225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May look like sales compensation plan is </a:t>
            </a:r>
            <a:br>
              <a:rPr lang="en-US" sz="1200" dirty="0">
                <a:solidFill>
                  <a:srgbClr val="000000"/>
                </a:solidFill>
                <a:latin typeface="Georgia"/>
              </a:rPr>
            </a:br>
            <a:r>
              <a:rPr lang="en-US" sz="1200" dirty="0">
                <a:solidFill>
                  <a:srgbClr val="000000"/>
                </a:solidFill>
                <a:latin typeface="Georgia"/>
              </a:rPr>
              <a:t>not competitive</a:t>
            </a:r>
          </a:p>
          <a:p>
            <a:pPr marL="137700" indent="-137700" defTabSz="685800">
              <a:spcBef>
                <a:spcPts val="225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Need to reassess if business plans are realistic</a:t>
            </a:r>
          </a:p>
        </p:txBody>
      </p:sp>
      <p:sp>
        <p:nvSpPr>
          <p:cNvPr id="88" name="Line 3">
            <a:extLst>
              <a:ext uri="{FF2B5EF4-FFF2-40B4-BE49-F238E27FC236}">
                <a16:creationId xmlns:a16="http://schemas.microsoft.com/office/drawing/2014/main" id="{8C2EDACE-5CF9-4413-B5C6-8E2C5456E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981" y="999469"/>
            <a:ext cx="0" cy="815579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89" name="Line 4">
            <a:extLst>
              <a:ext uri="{FF2B5EF4-FFF2-40B4-BE49-F238E27FC236}">
                <a16:creationId xmlns:a16="http://schemas.microsoft.com/office/drawing/2014/main" id="{46737676-61B2-491A-B031-CF43E12137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6981" y="1815048"/>
            <a:ext cx="185737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90" name="Line 5">
            <a:extLst>
              <a:ext uri="{FF2B5EF4-FFF2-40B4-BE49-F238E27FC236}">
                <a16:creationId xmlns:a16="http://schemas.microsoft.com/office/drawing/2014/main" id="{14728AFC-3D0A-4DAD-BE1F-9195CD6EB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534" y="1750754"/>
            <a:ext cx="0" cy="142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grpSp>
        <p:nvGrpSpPr>
          <p:cNvPr id="91" name="Group 6">
            <a:extLst>
              <a:ext uri="{FF2B5EF4-FFF2-40B4-BE49-F238E27FC236}">
                <a16:creationId xmlns:a16="http://schemas.microsoft.com/office/drawing/2014/main" id="{6882CBCC-1B92-4715-B098-D77C7F385362}"/>
              </a:ext>
            </a:extLst>
          </p:cNvPr>
          <p:cNvGrpSpPr>
            <a:grpSpLocks/>
          </p:cNvGrpSpPr>
          <p:nvPr/>
        </p:nvGrpSpPr>
        <p:grpSpPr bwMode="auto">
          <a:xfrm>
            <a:off x="3014664" y="1750756"/>
            <a:ext cx="996553" cy="135731"/>
            <a:chOff x="864" y="1920"/>
            <a:chExt cx="1056" cy="200"/>
          </a:xfrm>
        </p:grpSpPr>
        <p:sp>
          <p:nvSpPr>
            <p:cNvPr id="96" name="Line 7">
              <a:extLst>
                <a:ext uri="{FF2B5EF4-FFF2-40B4-BE49-F238E27FC236}">
                  <a16:creationId xmlns:a16="http://schemas.microsoft.com/office/drawing/2014/main" id="{3C048F90-FCBC-4345-93C8-FAAA39B53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92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97" name="Line 8">
              <a:extLst>
                <a:ext uri="{FF2B5EF4-FFF2-40B4-BE49-F238E27FC236}">
                  <a16:creationId xmlns:a16="http://schemas.microsoft.com/office/drawing/2014/main" id="{12F0C795-24B4-4E52-B263-B44977663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92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98" name="Line 9">
              <a:extLst>
                <a:ext uri="{FF2B5EF4-FFF2-40B4-BE49-F238E27FC236}">
                  <a16:creationId xmlns:a16="http://schemas.microsoft.com/office/drawing/2014/main" id="{726DBD28-9983-4013-9C10-4E37BBF49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92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  <a:latin typeface="Georgia"/>
              </a:endParaRPr>
            </a:p>
          </p:txBody>
        </p:sp>
      </p:grpSp>
      <p:sp>
        <p:nvSpPr>
          <p:cNvPr id="92" name="Text Box 11">
            <a:extLst>
              <a:ext uri="{FF2B5EF4-FFF2-40B4-BE49-F238E27FC236}">
                <a16:creationId xmlns:a16="http://schemas.microsoft.com/office/drawing/2014/main" id="{ACA8EFF7-306B-43B0-93EF-3F7BBB1BE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925" y="1848461"/>
            <a:ext cx="38343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9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75%</a:t>
            </a:r>
          </a:p>
        </p:txBody>
      </p:sp>
      <p:sp>
        <p:nvSpPr>
          <p:cNvPr id="93" name="Text Box 12">
            <a:extLst>
              <a:ext uri="{FF2B5EF4-FFF2-40B4-BE49-F238E27FC236}">
                <a16:creationId xmlns:a16="http://schemas.microsoft.com/office/drawing/2014/main" id="{3FEB1D15-7F0C-4966-AD4C-3820E1860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366" y="1853223"/>
            <a:ext cx="44114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9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100%</a:t>
            </a:r>
          </a:p>
        </p:txBody>
      </p:sp>
      <p:sp>
        <p:nvSpPr>
          <p:cNvPr id="94" name="Text Box 13">
            <a:extLst>
              <a:ext uri="{FF2B5EF4-FFF2-40B4-BE49-F238E27FC236}">
                <a16:creationId xmlns:a16="http://schemas.microsoft.com/office/drawing/2014/main" id="{D087C992-7A1A-471A-96E6-EC3A95B1F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476" y="1853223"/>
            <a:ext cx="44114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9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125%</a:t>
            </a:r>
          </a:p>
        </p:txBody>
      </p:sp>
      <p:sp>
        <p:nvSpPr>
          <p:cNvPr id="95" name="Freeform 45">
            <a:extLst>
              <a:ext uri="{FF2B5EF4-FFF2-40B4-BE49-F238E27FC236}">
                <a16:creationId xmlns:a16="http://schemas.microsoft.com/office/drawing/2014/main" id="{24B293A8-AF1E-459A-9C16-03AFCC3AF263}"/>
              </a:ext>
            </a:extLst>
          </p:cNvPr>
          <p:cNvSpPr>
            <a:spLocks/>
          </p:cNvSpPr>
          <p:nvPr/>
        </p:nvSpPr>
        <p:spPr bwMode="auto">
          <a:xfrm>
            <a:off x="2522934" y="1041142"/>
            <a:ext cx="1876425" cy="798909"/>
          </a:xfrm>
          <a:custGeom>
            <a:avLst/>
            <a:gdLst>
              <a:gd name="T0" fmla="*/ 0 w 1216"/>
              <a:gd name="T1" fmla="*/ 2147483647 h 671"/>
              <a:gd name="T2" fmla="*/ 2147483647 w 1216"/>
              <a:gd name="T3" fmla="*/ 2147483647 h 671"/>
              <a:gd name="T4" fmla="*/ 2147483647 w 1216"/>
              <a:gd name="T5" fmla="*/ 2147483647 h 671"/>
              <a:gd name="T6" fmla="*/ 2147483647 w 1216"/>
              <a:gd name="T7" fmla="*/ 2147483647 h 671"/>
              <a:gd name="T8" fmla="*/ 2147483647 w 1216"/>
              <a:gd name="T9" fmla="*/ 2147483647 h 6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16"/>
              <a:gd name="T16" fmla="*/ 0 h 671"/>
              <a:gd name="T17" fmla="*/ 1216 w 1216"/>
              <a:gd name="T18" fmla="*/ 671 h 67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16" h="671">
                <a:moveTo>
                  <a:pt x="0" y="639"/>
                </a:moveTo>
                <a:cubicBezTo>
                  <a:pt x="32" y="611"/>
                  <a:pt x="65" y="583"/>
                  <a:pt x="128" y="479"/>
                </a:cubicBezTo>
                <a:cubicBezTo>
                  <a:pt x="191" y="375"/>
                  <a:pt x="277" y="0"/>
                  <a:pt x="376" y="15"/>
                </a:cubicBezTo>
                <a:cubicBezTo>
                  <a:pt x="475" y="30"/>
                  <a:pt x="580" y="463"/>
                  <a:pt x="720" y="567"/>
                </a:cubicBezTo>
                <a:cubicBezTo>
                  <a:pt x="860" y="671"/>
                  <a:pt x="1038" y="655"/>
                  <a:pt x="1216" y="639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>
              <a:defRPr/>
            </a:pPr>
            <a:endParaRPr lang="en-US" sz="1350" b="1" dirty="0">
              <a:solidFill>
                <a:prstClr val="white"/>
              </a:solidFill>
              <a:latin typeface="Georgia"/>
            </a:endParaRP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4C847FDB-B451-4150-9EEB-9E439C932C03}"/>
              </a:ext>
            </a:extLst>
          </p:cNvPr>
          <p:cNvCxnSpPr>
            <a:cxnSpLocks/>
          </p:cNvCxnSpPr>
          <p:nvPr/>
        </p:nvCxnSpPr>
        <p:spPr>
          <a:xfrm>
            <a:off x="503573" y="2185495"/>
            <a:ext cx="82158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02E0BB2A-A0B6-4A28-A81D-82447FA4846C}"/>
              </a:ext>
            </a:extLst>
          </p:cNvPr>
          <p:cNvCxnSpPr>
            <a:cxnSpLocks/>
          </p:cNvCxnSpPr>
          <p:nvPr/>
        </p:nvCxnSpPr>
        <p:spPr>
          <a:xfrm>
            <a:off x="503573" y="3484500"/>
            <a:ext cx="82158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Line 15">
            <a:extLst>
              <a:ext uri="{FF2B5EF4-FFF2-40B4-BE49-F238E27FC236}">
                <a16:creationId xmlns:a16="http://schemas.microsoft.com/office/drawing/2014/main" id="{B955F6A9-AB9F-4A1A-8472-AE8F22752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981" y="2297880"/>
            <a:ext cx="0" cy="816769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1" name="Line 16">
            <a:extLst>
              <a:ext uri="{FF2B5EF4-FFF2-40B4-BE49-F238E27FC236}">
                <a16:creationId xmlns:a16="http://schemas.microsoft.com/office/drawing/2014/main" id="{2D20787E-53FC-45F3-A018-6D4C76C63D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6981" y="3114648"/>
            <a:ext cx="185737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02" name="Line 17">
            <a:extLst>
              <a:ext uri="{FF2B5EF4-FFF2-40B4-BE49-F238E27FC236}">
                <a16:creationId xmlns:a16="http://schemas.microsoft.com/office/drawing/2014/main" id="{80A6D1B6-81CF-4888-A215-3C04C7811F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534" y="3049165"/>
            <a:ext cx="0" cy="14406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grpSp>
        <p:nvGrpSpPr>
          <p:cNvPr id="103" name="Group 18">
            <a:extLst>
              <a:ext uri="{FF2B5EF4-FFF2-40B4-BE49-F238E27FC236}">
                <a16:creationId xmlns:a16="http://schemas.microsoft.com/office/drawing/2014/main" id="{E6E9AAF9-E326-4A47-9C86-D056E57D6707}"/>
              </a:ext>
            </a:extLst>
          </p:cNvPr>
          <p:cNvGrpSpPr>
            <a:grpSpLocks/>
          </p:cNvGrpSpPr>
          <p:nvPr/>
        </p:nvGrpSpPr>
        <p:grpSpPr bwMode="auto">
          <a:xfrm>
            <a:off x="3014664" y="3049165"/>
            <a:ext cx="996553" cy="135731"/>
            <a:chOff x="864" y="1920"/>
            <a:chExt cx="1056" cy="200"/>
          </a:xfrm>
        </p:grpSpPr>
        <p:sp>
          <p:nvSpPr>
            <p:cNvPr id="108" name="Line 19">
              <a:extLst>
                <a:ext uri="{FF2B5EF4-FFF2-40B4-BE49-F238E27FC236}">
                  <a16:creationId xmlns:a16="http://schemas.microsoft.com/office/drawing/2014/main" id="{718C9481-FD56-4CCC-8185-0565E3676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92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109" name="Line 20">
              <a:extLst>
                <a:ext uri="{FF2B5EF4-FFF2-40B4-BE49-F238E27FC236}">
                  <a16:creationId xmlns:a16="http://schemas.microsoft.com/office/drawing/2014/main" id="{5F229107-51B6-4F39-98F9-2DBF3E9D8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92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110" name="Line 21">
              <a:extLst>
                <a:ext uri="{FF2B5EF4-FFF2-40B4-BE49-F238E27FC236}">
                  <a16:creationId xmlns:a16="http://schemas.microsoft.com/office/drawing/2014/main" id="{8F237110-D73A-44C7-A355-5BF983D96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92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  <a:latin typeface="Georgia"/>
              </a:endParaRPr>
            </a:p>
          </p:txBody>
        </p:sp>
      </p:grpSp>
      <p:sp>
        <p:nvSpPr>
          <p:cNvPr id="104" name="Text Box 22">
            <a:extLst>
              <a:ext uri="{FF2B5EF4-FFF2-40B4-BE49-F238E27FC236}">
                <a16:creationId xmlns:a16="http://schemas.microsoft.com/office/drawing/2014/main" id="{4E23281E-595E-4FCF-B902-1FBC616D7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925" y="3152823"/>
            <a:ext cx="38343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9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75%</a:t>
            </a:r>
          </a:p>
        </p:txBody>
      </p:sp>
      <p:sp>
        <p:nvSpPr>
          <p:cNvPr id="105" name="Text Box 23">
            <a:extLst>
              <a:ext uri="{FF2B5EF4-FFF2-40B4-BE49-F238E27FC236}">
                <a16:creationId xmlns:a16="http://schemas.microsoft.com/office/drawing/2014/main" id="{411065E2-AAF7-456E-AC2B-2EB9758F4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366" y="3151633"/>
            <a:ext cx="44114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9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100%</a:t>
            </a:r>
          </a:p>
        </p:txBody>
      </p:sp>
      <p:sp>
        <p:nvSpPr>
          <p:cNvPr id="106" name="Text Box 24">
            <a:extLst>
              <a:ext uri="{FF2B5EF4-FFF2-40B4-BE49-F238E27FC236}">
                <a16:creationId xmlns:a16="http://schemas.microsoft.com/office/drawing/2014/main" id="{14B60C50-D6B3-4EE8-8B6C-7C4674B54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476" y="3152823"/>
            <a:ext cx="44114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9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125%</a:t>
            </a:r>
          </a:p>
        </p:txBody>
      </p:sp>
      <p:sp>
        <p:nvSpPr>
          <p:cNvPr id="107" name="Freeform 46">
            <a:extLst>
              <a:ext uri="{FF2B5EF4-FFF2-40B4-BE49-F238E27FC236}">
                <a16:creationId xmlns:a16="http://schemas.microsoft.com/office/drawing/2014/main" id="{8650AC47-2623-490C-89C6-0306FE244247}"/>
              </a:ext>
            </a:extLst>
          </p:cNvPr>
          <p:cNvSpPr>
            <a:spLocks/>
          </p:cNvSpPr>
          <p:nvPr/>
        </p:nvSpPr>
        <p:spPr bwMode="auto">
          <a:xfrm flipH="1">
            <a:off x="2694384" y="2341933"/>
            <a:ext cx="1724025" cy="798909"/>
          </a:xfrm>
          <a:custGeom>
            <a:avLst/>
            <a:gdLst>
              <a:gd name="T0" fmla="*/ 0 w 1216"/>
              <a:gd name="T1" fmla="*/ 2147483647 h 671"/>
              <a:gd name="T2" fmla="*/ 2147483647 w 1216"/>
              <a:gd name="T3" fmla="*/ 2147483647 h 671"/>
              <a:gd name="T4" fmla="*/ 2147483647 w 1216"/>
              <a:gd name="T5" fmla="*/ 2147483647 h 671"/>
              <a:gd name="T6" fmla="*/ 2147483647 w 1216"/>
              <a:gd name="T7" fmla="*/ 2147483647 h 671"/>
              <a:gd name="T8" fmla="*/ 2147483647 w 1216"/>
              <a:gd name="T9" fmla="*/ 2147483647 h 6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16"/>
              <a:gd name="T16" fmla="*/ 0 h 671"/>
              <a:gd name="T17" fmla="*/ 1216 w 1216"/>
              <a:gd name="T18" fmla="*/ 671 h 67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16" h="671">
                <a:moveTo>
                  <a:pt x="0" y="639"/>
                </a:moveTo>
                <a:cubicBezTo>
                  <a:pt x="32" y="611"/>
                  <a:pt x="65" y="583"/>
                  <a:pt x="128" y="479"/>
                </a:cubicBezTo>
                <a:cubicBezTo>
                  <a:pt x="191" y="375"/>
                  <a:pt x="277" y="0"/>
                  <a:pt x="376" y="15"/>
                </a:cubicBezTo>
                <a:cubicBezTo>
                  <a:pt x="475" y="30"/>
                  <a:pt x="580" y="463"/>
                  <a:pt x="720" y="567"/>
                </a:cubicBezTo>
                <a:cubicBezTo>
                  <a:pt x="860" y="671"/>
                  <a:pt x="1038" y="655"/>
                  <a:pt x="1216" y="639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>
              <a:defRPr/>
            </a:pPr>
            <a:endParaRPr lang="en-US" sz="1350" b="1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E48EEFE-1E61-4D66-AEEE-C663B492758F}"/>
              </a:ext>
            </a:extLst>
          </p:cNvPr>
          <p:cNvSpPr txBox="1"/>
          <p:nvPr/>
        </p:nvSpPr>
        <p:spPr>
          <a:xfrm>
            <a:off x="4680858" y="2436812"/>
            <a:ext cx="4038599" cy="789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137700" indent="-137700" defTabSz="685800">
              <a:spcBef>
                <a:spcPts val="225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Quotas may be too low</a:t>
            </a:r>
          </a:p>
          <a:p>
            <a:pPr marL="137700" indent="-137700" defTabSz="685800">
              <a:spcBef>
                <a:spcPts val="225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Quotas may be too low or double crediting of sales-may need to examine quota or crediting practices</a:t>
            </a:r>
          </a:p>
          <a:p>
            <a:pPr marL="137700" indent="-137700" defTabSz="685800">
              <a:spcBef>
                <a:spcPts val="225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May look like sales compensation plan is too rich</a:t>
            </a:r>
          </a:p>
        </p:txBody>
      </p:sp>
      <p:sp>
        <p:nvSpPr>
          <p:cNvPr id="128" name="Rounded Rectangle 52">
            <a:extLst>
              <a:ext uri="{FF2B5EF4-FFF2-40B4-BE49-F238E27FC236}">
                <a16:creationId xmlns:a16="http://schemas.microsoft.com/office/drawing/2014/main" id="{9D184987-24FE-4551-8F38-20DE4D097753}"/>
              </a:ext>
            </a:extLst>
          </p:cNvPr>
          <p:cNvSpPr/>
          <p:nvPr/>
        </p:nvSpPr>
        <p:spPr>
          <a:xfrm rot="16200000" flipH="1">
            <a:off x="792812" y="1986320"/>
            <a:ext cx="1124712" cy="1697356"/>
          </a:xfrm>
          <a:prstGeom prst="round2SameRect">
            <a:avLst>
              <a:gd name="adj1" fmla="val 9923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>
              <a:defRPr/>
            </a:pPr>
            <a:r>
              <a:rPr lang="en-IN" sz="1200" b="1" dirty="0">
                <a:solidFill>
                  <a:prstClr val="white"/>
                </a:solidFill>
                <a:latin typeface="Georgia"/>
              </a:rPr>
              <a:t>Skewed Above Quota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AC12B3B-4A24-480D-AE71-EB418AC8CF71}"/>
              </a:ext>
            </a:extLst>
          </p:cNvPr>
          <p:cNvCxnSpPr>
            <a:cxnSpLocks/>
          </p:cNvCxnSpPr>
          <p:nvPr/>
        </p:nvCxnSpPr>
        <p:spPr>
          <a:xfrm>
            <a:off x="2191705" y="2272641"/>
            <a:ext cx="0" cy="112471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Oval 129">
            <a:extLst>
              <a:ext uri="{FF2B5EF4-FFF2-40B4-BE49-F238E27FC236}">
                <a16:creationId xmlns:a16="http://schemas.microsoft.com/office/drawing/2014/main" id="{159B341A-9C69-40E4-9CCD-566C13E51842}"/>
              </a:ext>
            </a:extLst>
          </p:cNvPr>
          <p:cNvSpPr/>
          <p:nvPr/>
        </p:nvSpPr>
        <p:spPr>
          <a:xfrm>
            <a:off x="2123836" y="2766417"/>
            <a:ext cx="137160" cy="1371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112" name="Line 29">
            <a:extLst>
              <a:ext uri="{FF2B5EF4-FFF2-40B4-BE49-F238E27FC236}">
                <a16:creationId xmlns:a16="http://schemas.microsoft.com/office/drawing/2014/main" id="{EB310C28-FE86-4C40-8399-62CAEE1F57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6981" y="3597183"/>
            <a:ext cx="0" cy="816769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3" name="Line 30">
            <a:extLst>
              <a:ext uri="{FF2B5EF4-FFF2-40B4-BE49-F238E27FC236}">
                <a16:creationId xmlns:a16="http://schemas.microsoft.com/office/drawing/2014/main" id="{1CEDD32F-8A62-48BC-966E-28336867A1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6981" y="4413951"/>
            <a:ext cx="185737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114" name="Line 31">
            <a:extLst>
              <a:ext uri="{FF2B5EF4-FFF2-40B4-BE49-F238E27FC236}">
                <a16:creationId xmlns:a16="http://schemas.microsoft.com/office/drawing/2014/main" id="{E1311AA9-8B9A-4793-B126-55F422CE0C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535" y="4348468"/>
            <a:ext cx="0" cy="14406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grpSp>
        <p:nvGrpSpPr>
          <p:cNvPr id="115" name="Group 32">
            <a:extLst>
              <a:ext uri="{FF2B5EF4-FFF2-40B4-BE49-F238E27FC236}">
                <a16:creationId xmlns:a16="http://schemas.microsoft.com/office/drawing/2014/main" id="{D36F0DC7-8ED2-4024-99DD-E710D5129874}"/>
              </a:ext>
            </a:extLst>
          </p:cNvPr>
          <p:cNvGrpSpPr>
            <a:grpSpLocks/>
          </p:cNvGrpSpPr>
          <p:nvPr/>
        </p:nvGrpSpPr>
        <p:grpSpPr bwMode="auto">
          <a:xfrm>
            <a:off x="3014662" y="4348468"/>
            <a:ext cx="996554" cy="135731"/>
            <a:chOff x="864" y="1920"/>
            <a:chExt cx="1056" cy="200"/>
          </a:xfrm>
        </p:grpSpPr>
        <p:sp>
          <p:nvSpPr>
            <p:cNvPr id="120" name="Line 33">
              <a:extLst>
                <a:ext uri="{FF2B5EF4-FFF2-40B4-BE49-F238E27FC236}">
                  <a16:creationId xmlns:a16="http://schemas.microsoft.com/office/drawing/2014/main" id="{4029C6CA-07FD-4FAC-A68D-7A7B846C7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92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121" name="Line 34">
              <a:extLst>
                <a:ext uri="{FF2B5EF4-FFF2-40B4-BE49-F238E27FC236}">
                  <a16:creationId xmlns:a16="http://schemas.microsoft.com/office/drawing/2014/main" id="{0C14F41E-D9F6-4C74-9795-9229ED4DD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92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  <a:latin typeface="Georgia"/>
              </a:endParaRPr>
            </a:p>
          </p:txBody>
        </p:sp>
        <p:sp>
          <p:nvSpPr>
            <p:cNvPr id="122" name="Line 35">
              <a:extLst>
                <a:ext uri="{FF2B5EF4-FFF2-40B4-BE49-F238E27FC236}">
                  <a16:creationId xmlns:a16="http://schemas.microsoft.com/office/drawing/2014/main" id="{4A4B50B6-0A3F-4FD5-A9F6-A10A3310C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920"/>
              <a:ext cx="0" cy="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srgbClr val="000000"/>
                </a:solidFill>
                <a:latin typeface="Georgia"/>
              </a:endParaRPr>
            </a:p>
          </p:txBody>
        </p:sp>
      </p:grpSp>
      <p:sp>
        <p:nvSpPr>
          <p:cNvPr id="116" name="Text Box 36">
            <a:extLst>
              <a:ext uri="{FF2B5EF4-FFF2-40B4-BE49-F238E27FC236}">
                <a16:creationId xmlns:a16="http://schemas.microsoft.com/office/drawing/2014/main" id="{992DE371-86A0-4BDD-8C73-F6181020F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8925" y="4452126"/>
            <a:ext cx="38343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9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75%</a:t>
            </a:r>
          </a:p>
        </p:txBody>
      </p:sp>
      <p:sp>
        <p:nvSpPr>
          <p:cNvPr id="117" name="Text Box 37">
            <a:extLst>
              <a:ext uri="{FF2B5EF4-FFF2-40B4-BE49-F238E27FC236}">
                <a16:creationId xmlns:a16="http://schemas.microsoft.com/office/drawing/2014/main" id="{37CD098E-0D02-468E-96BC-40694D3BF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367" y="4450936"/>
            <a:ext cx="44114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9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100%</a:t>
            </a:r>
          </a:p>
        </p:txBody>
      </p:sp>
      <p:sp>
        <p:nvSpPr>
          <p:cNvPr id="118" name="Text Box 38">
            <a:extLst>
              <a:ext uri="{FF2B5EF4-FFF2-40B4-BE49-F238E27FC236}">
                <a16:creationId xmlns:a16="http://schemas.microsoft.com/office/drawing/2014/main" id="{C9BD0A36-7805-4CCB-90B3-1A1FA7BBA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0476" y="4452126"/>
            <a:ext cx="44114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>
              <a:spcBef>
                <a:spcPct val="5000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900" b="1" dirty="0"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125%</a:t>
            </a:r>
          </a:p>
        </p:txBody>
      </p:sp>
      <p:sp>
        <p:nvSpPr>
          <p:cNvPr id="119" name="Freeform 48">
            <a:extLst>
              <a:ext uri="{FF2B5EF4-FFF2-40B4-BE49-F238E27FC236}">
                <a16:creationId xmlns:a16="http://schemas.microsoft.com/office/drawing/2014/main" id="{79D52448-27CC-4223-BF89-84B4F6D8DA08}"/>
              </a:ext>
            </a:extLst>
          </p:cNvPr>
          <p:cNvSpPr>
            <a:spLocks/>
          </p:cNvSpPr>
          <p:nvPr/>
        </p:nvSpPr>
        <p:spPr bwMode="auto">
          <a:xfrm>
            <a:off x="2524125" y="3648381"/>
            <a:ext cx="1819275" cy="763190"/>
          </a:xfrm>
          <a:custGeom>
            <a:avLst/>
            <a:gdLst>
              <a:gd name="T0" fmla="*/ 0 w 1528"/>
              <a:gd name="T1" fmla="*/ 2147483647 h 641"/>
              <a:gd name="T2" fmla="*/ 2147483647 w 1528"/>
              <a:gd name="T3" fmla="*/ 2147483647 h 641"/>
              <a:gd name="T4" fmla="*/ 2147483647 w 1528"/>
              <a:gd name="T5" fmla="*/ 2147483647 h 641"/>
              <a:gd name="T6" fmla="*/ 2147483647 w 1528"/>
              <a:gd name="T7" fmla="*/ 2147483647 h 641"/>
              <a:gd name="T8" fmla="*/ 2147483647 w 1528"/>
              <a:gd name="T9" fmla="*/ 2147483647 h 6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28"/>
              <a:gd name="T16" fmla="*/ 0 h 641"/>
              <a:gd name="T17" fmla="*/ 1528 w 1528"/>
              <a:gd name="T18" fmla="*/ 641 h 6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28" h="641">
                <a:moveTo>
                  <a:pt x="0" y="641"/>
                </a:moveTo>
                <a:cubicBezTo>
                  <a:pt x="120" y="331"/>
                  <a:pt x="240" y="21"/>
                  <a:pt x="376" y="17"/>
                </a:cubicBezTo>
                <a:cubicBezTo>
                  <a:pt x="512" y="13"/>
                  <a:pt x="680" y="620"/>
                  <a:pt x="816" y="617"/>
                </a:cubicBezTo>
                <a:cubicBezTo>
                  <a:pt x="952" y="614"/>
                  <a:pt x="1073" y="0"/>
                  <a:pt x="1192" y="1"/>
                </a:cubicBezTo>
                <a:cubicBezTo>
                  <a:pt x="1311" y="2"/>
                  <a:pt x="1419" y="313"/>
                  <a:pt x="1528" y="625"/>
                </a:cubicBezTo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>
              <a:defRPr/>
            </a:pPr>
            <a:endParaRPr lang="en-US" sz="1350" b="1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F82E460-CF6E-4487-8EB1-84D155BF9F1C}"/>
              </a:ext>
            </a:extLst>
          </p:cNvPr>
          <p:cNvSpPr txBox="1"/>
          <p:nvPr/>
        </p:nvSpPr>
        <p:spPr>
          <a:xfrm>
            <a:off x="4680858" y="3629206"/>
            <a:ext cx="4038599" cy="10002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marL="137700" indent="-137700" defTabSz="685800">
              <a:spcBef>
                <a:spcPts val="225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May have employees performing 2 different jobs</a:t>
            </a:r>
          </a:p>
          <a:p>
            <a:pPr marL="137700" indent="-137700" defTabSz="685800">
              <a:spcBef>
                <a:spcPts val="225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Need to reexamine quota allocation process</a:t>
            </a:r>
          </a:p>
          <a:p>
            <a:pPr marL="137700" indent="-137700" defTabSz="685800">
              <a:spcBef>
                <a:spcPts val="225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Most common in new organizations where quota setting is still be refined</a:t>
            </a:r>
          </a:p>
          <a:p>
            <a:pPr marL="137700" indent="-137700" defTabSz="685800">
              <a:spcBef>
                <a:spcPts val="225"/>
              </a:spcBef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Boom Bust or Performance Penalty</a:t>
            </a:r>
          </a:p>
        </p:txBody>
      </p:sp>
      <p:sp>
        <p:nvSpPr>
          <p:cNvPr id="132" name="Rounded Rectangle 52">
            <a:extLst>
              <a:ext uri="{FF2B5EF4-FFF2-40B4-BE49-F238E27FC236}">
                <a16:creationId xmlns:a16="http://schemas.microsoft.com/office/drawing/2014/main" id="{488836D5-9F5D-4634-AF77-7B87598FF6B8}"/>
              </a:ext>
            </a:extLst>
          </p:cNvPr>
          <p:cNvSpPr/>
          <p:nvPr/>
        </p:nvSpPr>
        <p:spPr>
          <a:xfrm rot="16200000" flipH="1">
            <a:off x="792812" y="3285474"/>
            <a:ext cx="1124712" cy="1697356"/>
          </a:xfrm>
          <a:prstGeom prst="round2SameRect">
            <a:avLst>
              <a:gd name="adj1" fmla="val 9923"/>
              <a:gd name="adj2" fmla="val 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 defTabSz="685800">
              <a:defRPr/>
            </a:pPr>
            <a:r>
              <a:rPr lang="en-IN" sz="1200" b="1" dirty="0">
                <a:solidFill>
                  <a:prstClr val="white"/>
                </a:solidFill>
                <a:latin typeface="Georgia"/>
              </a:rPr>
              <a:t>Bi-Modal</a:t>
            </a: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1E5B5D5-2F0F-4809-892A-8D5A181C198F}"/>
              </a:ext>
            </a:extLst>
          </p:cNvPr>
          <p:cNvCxnSpPr>
            <a:cxnSpLocks/>
          </p:cNvCxnSpPr>
          <p:nvPr/>
        </p:nvCxnSpPr>
        <p:spPr>
          <a:xfrm>
            <a:off x="2191705" y="3571944"/>
            <a:ext cx="0" cy="112471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Oval 133">
            <a:extLst>
              <a:ext uri="{FF2B5EF4-FFF2-40B4-BE49-F238E27FC236}">
                <a16:creationId xmlns:a16="http://schemas.microsoft.com/office/drawing/2014/main" id="{091D6E2D-8959-4153-873F-DD1CD532BB4F}"/>
              </a:ext>
            </a:extLst>
          </p:cNvPr>
          <p:cNvSpPr/>
          <p:nvPr/>
        </p:nvSpPr>
        <p:spPr>
          <a:xfrm>
            <a:off x="2123836" y="4065720"/>
            <a:ext cx="137160" cy="1371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828176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901A00E-5DE6-4506-92C6-D69D53824E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353" imgH="359" progId="TCLayout.ActiveDocument.1">
                  <p:embed/>
                </p:oleObj>
              </mc:Choice>
              <mc:Fallback>
                <p:oleObj name="think-cell Slide" r:id="rId25" imgW="353" imgH="35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901A00E-5DE6-4506-92C6-D69D53824E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Rectangle 60">
            <a:extLst>
              <a:ext uri="{FF2B5EF4-FFF2-40B4-BE49-F238E27FC236}">
                <a16:creationId xmlns:a16="http://schemas.microsoft.com/office/drawing/2014/main" id="{B836D62D-32CC-48E1-9D75-0BF6A87E97ED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4DE3864-1BC0-40CE-9281-6672383109EE}"/>
              </a:ext>
            </a:extLst>
          </p:cNvPr>
          <p:cNvSpPr/>
          <p:nvPr/>
        </p:nvSpPr>
        <p:spPr>
          <a:xfrm>
            <a:off x="0" y="1110853"/>
            <a:ext cx="3943350" cy="3582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15B07-0FC7-405B-9BC9-830FEDAE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dirty="0">
                <a:solidFill>
                  <a:schemeClr val="bg1"/>
                </a:solidFill>
              </a:rPr>
              <a:t>IC execution and </a:t>
            </a:r>
            <a:r>
              <a:rPr lang="fr-FR" dirty="0" err="1">
                <a:solidFill>
                  <a:schemeClr val="bg1"/>
                </a:solidFill>
              </a:rPr>
              <a:t>analysis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fr-FR" sz="1200" dirty="0">
                <a:solidFill>
                  <a:schemeClr val="bg1"/>
                </a:solidFill>
              </a:rPr>
              <a:t>Performance Distribution – Example 1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F70DB-B346-4EA3-A7CC-CFDC7BBE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7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ight Triangle 90">
            <a:extLst>
              <a:ext uri="{FF2B5EF4-FFF2-40B4-BE49-F238E27FC236}">
                <a16:creationId xmlns:a16="http://schemas.microsoft.com/office/drawing/2014/main" id="{EA9D4789-804F-47DD-8F81-72331771119A}"/>
              </a:ext>
            </a:extLst>
          </p:cNvPr>
          <p:cNvSpPr/>
          <p:nvPr/>
        </p:nvSpPr>
        <p:spPr>
          <a:xfrm>
            <a:off x="4255294" y="1403747"/>
            <a:ext cx="4479131" cy="157163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1275" b="1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FDE899-593E-440C-B33C-0E28D01BC6E9}"/>
              </a:ext>
            </a:extLst>
          </p:cNvPr>
          <p:cNvSpPr/>
          <p:nvPr/>
        </p:nvSpPr>
        <p:spPr>
          <a:xfrm>
            <a:off x="4161236" y="1110854"/>
            <a:ext cx="4573189" cy="32623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defRPr/>
            </a:pPr>
            <a:r>
              <a:rPr lang="en-US" sz="1200" b="1" dirty="0">
                <a:solidFill>
                  <a:prstClr val="white"/>
                </a:solidFill>
                <a:latin typeface="Georgia"/>
              </a:rPr>
              <a:t>(ACH Frequency)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2A6127E-9923-881A-B243-1657C3530EC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433888" y="1566863"/>
          <a:ext cx="4362450" cy="2759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128" name="Text Placeholder 2">
            <a:extLst>
              <a:ext uri="{FF2B5EF4-FFF2-40B4-BE49-F238E27FC236}">
                <a16:creationId xmlns:a16="http://schemas.microsoft.com/office/drawing/2014/main" id="{78AF3C16-EF20-4594-8865-B06468EB97E8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192191" y="4173142"/>
            <a:ext cx="201216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542CFBF8-BBF6-4335-97DE-AE4EAB01561C}" type="datetime'''''''-''''''''''''''''''''''''''''2''0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-20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ACE290C8-4EF8-4F12-9FCC-36544CAC70A2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316016" y="3796904"/>
            <a:ext cx="7739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6EFBEDEE-852D-4A08-9F9D-050D84BA3463}" type="datetime'''''''''''0''''''''''''''''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8CCDAA5E-7155-4431-87E0-5CC6E936C45D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4238626" y="3419476"/>
            <a:ext cx="15478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E37CEB94-2A44-46DB-B356-7732698F65FB}" type="datetime'''''''''''''''''''''''''''''''''''2''''''''''0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33109A73-150C-4F6A-9D0B-CA718A2F99BC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4238626" y="3043238"/>
            <a:ext cx="15478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A3DF9BA5-71FF-4252-AE19-94F5822DB04D}" type="datetime'''''''''''''''''''4''''''''''0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131" name="Text Placeholder 2">
            <a:extLst>
              <a:ext uri="{FF2B5EF4-FFF2-40B4-BE49-F238E27FC236}">
                <a16:creationId xmlns:a16="http://schemas.microsoft.com/office/drawing/2014/main" id="{96DED877-6385-42C8-AA04-F7223C00ABB9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4238626" y="2667001"/>
            <a:ext cx="15478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30281876-A73B-4300-81B1-48BF04498F46}" type="datetime'''''''''''''''''''''''6''''''''''''''''''''''0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60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132" name="Text Placeholder 2">
            <a:extLst>
              <a:ext uri="{FF2B5EF4-FFF2-40B4-BE49-F238E27FC236}">
                <a16:creationId xmlns:a16="http://schemas.microsoft.com/office/drawing/2014/main" id="{94A0613F-897C-4136-AB0C-6F712B701983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4238626" y="2290763"/>
            <a:ext cx="15478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976B6F15-54B6-4A6C-8E7A-10AFEFB09055}" type="datetime'''''''''8''''''''''0''''''''''''''''''''''''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80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133" name="Text Placeholder 2">
            <a:extLst>
              <a:ext uri="{FF2B5EF4-FFF2-40B4-BE49-F238E27FC236}">
                <a16:creationId xmlns:a16="http://schemas.microsoft.com/office/drawing/2014/main" id="{68C92A38-3E23-46F5-9761-CB53FA316E2B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4161236" y="1913335"/>
            <a:ext cx="232172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B0DAC8D3-DF6C-4F8D-A2DA-BBD25979AC61}" type="datetime'''1''''0''''''''''''''''0''''''''''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1ED9C9DE-8DF1-4BB8-99AC-61997FDB1720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4161236" y="1537098"/>
            <a:ext cx="232172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CAC5EE02-6495-4F12-B4CC-5E2F8C4F8C45}" type="datetime'''''''''1''''2''''''0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43D4B5F9-1B49-48DD-A501-64EC35D30102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4905376" y="4316017"/>
            <a:ext cx="240506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47D4C0FB-6A65-48B7-ACB6-AEDB926BD6E6}" type="datetime'&lt;''''''''7''''''''''0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&lt;70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06DBE2BA-4012-4159-B48A-6F4679659B20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5373292" y="4316017"/>
            <a:ext cx="365522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6EC7EE6F-DFF0-4C67-AEFF-356FD47C0F78}" type="datetime'''7''''''''''''''''''''''''''''''''0-''8''''''''''''0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70-80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42EBC41C-042A-4D77-94D2-F206672313F6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5903119" y="4316017"/>
            <a:ext cx="365522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6B39E483-3697-4993-AEC0-9A49A9B7B5AB}" type="datetime'''''''''''8''''''''''''''''''''''''''0''''''''-''''9''''0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80-90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BED2BD6A-603F-499C-97FF-EB75F7243C0B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393656" y="4316017"/>
            <a:ext cx="442913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D390DFE1-4E41-493B-9CCA-58C7CBEC6BCF}" type="datetime'''''''''''9''''''''0''''''''-1''0''''''''''''''''''''0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90-100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E40E3A02-7573-4A8A-87D7-6FFEDEDFBDDA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6885385" y="4316017"/>
            <a:ext cx="52030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C7364644-6A4F-4ECE-A999-4908C166B683}" type="datetime'1''''''''00''''''''''''''''-11''''''''''''''''0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100-110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BAE8E0BB-F686-4592-B29F-967BB4399E42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7415212" y="4316017"/>
            <a:ext cx="52030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BBAEDADC-2DC8-40B0-8E08-CB15DDBAB24A}" type="datetime'1''''''''''''10-''''''1''''''''''2''0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110-120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55DBCBA6-CF24-43B5-A712-DAD28D604E1C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8046244" y="4316017"/>
            <a:ext cx="317897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0F3849B4-831E-4CD4-9284-76A864DAD6DF}" type="datetime'''''''''''''''''''&gt;''''12''''0''''''''''''''''''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&gt;120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D4078B0-6E06-4A8E-A116-D7DFA0AC1E16}"/>
              </a:ext>
            </a:extLst>
          </p:cNvPr>
          <p:cNvCxnSpPr/>
          <p:nvPr>
            <p:custDataLst>
              <p:tags r:id="rId18"/>
            </p:custDataLst>
          </p:nvPr>
        </p:nvCxnSpPr>
        <p:spPr bwMode="gray">
          <a:xfrm>
            <a:off x="7643813" y="1737122"/>
            <a:ext cx="201216" cy="0"/>
          </a:xfrm>
          <a:prstGeom prst="line">
            <a:avLst/>
          </a:prstGeom>
          <a:ln w="19050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D08C882-99DE-45B8-9CB0-A8A3D06A2486}"/>
              </a:ext>
            </a:extLst>
          </p:cNvPr>
          <p:cNvCxnSpPr/>
          <p:nvPr>
            <p:custDataLst>
              <p:tags r:id="rId19"/>
            </p:custDataLst>
          </p:nvPr>
        </p:nvCxnSpPr>
        <p:spPr bwMode="gray">
          <a:xfrm>
            <a:off x="8206979" y="1737122"/>
            <a:ext cx="201216" cy="0"/>
          </a:xfrm>
          <a:prstGeom prst="line">
            <a:avLst/>
          </a:prstGeom>
          <a:ln w="1905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1F05BBB-AB16-403F-A792-486BC74644F2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7720013" y="1713310"/>
            <a:ext cx="47625" cy="47625"/>
          </a:xfrm>
          <a:prstGeom prst="ellipse">
            <a:avLst/>
          </a:prstGeom>
          <a:solidFill>
            <a:srgbClr val="FFFFFF"/>
          </a:solidFill>
          <a:ln w="9525" algn="ctr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AE2EEDE-F711-43FA-B1AE-EA9604774EA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83179" y="1713310"/>
            <a:ext cx="47625" cy="47625"/>
          </a:xfrm>
          <a:prstGeom prst="ellipse">
            <a:avLst/>
          </a:prstGeom>
          <a:solidFill>
            <a:srgbClr val="FFFFFF"/>
          </a:solidFill>
          <a:ln w="9525" algn="ctr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102" name="Text Placeholder 2">
            <a:extLst>
              <a:ext uri="{FF2B5EF4-FFF2-40B4-BE49-F238E27FC236}">
                <a16:creationId xmlns:a16="http://schemas.microsoft.com/office/drawing/2014/main" id="{0E4928F5-9706-4618-A036-77DA1066AF4F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7890272" y="1674019"/>
            <a:ext cx="233363" cy="13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38E49258-506B-43D4-8965-4C0E9ECF5FB2}" type="datetime'2''''''''0''1''''''''''''''''''''''''''''''''''8'''''''''''">
              <a:rPr lang="en-US" altLang="en-US" sz="9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2018</a:t>
            </a:fld>
            <a:endParaRPr lang="en-US" sz="9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C5FBA89B-2FF1-41BF-A9CB-C7643617CA5A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8453437" y="1674019"/>
            <a:ext cx="233363" cy="13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59F404A9-312D-4935-B4E6-0862E08AA947}" type="datetime'''''2''''''''''''''''''''0''''1''''''''''''''''''''9'''''''">
              <a:rPr lang="en-US" altLang="en-US" sz="9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2019</a:t>
            </a:fld>
            <a:endParaRPr lang="en-US" sz="9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3A8210B-32B8-4B71-8F3E-A3A1073F42CC}"/>
              </a:ext>
            </a:extLst>
          </p:cNvPr>
          <p:cNvCxnSpPr>
            <a:cxnSpLocks/>
          </p:cNvCxnSpPr>
          <p:nvPr/>
        </p:nvCxnSpPr>
        <p:spPr>
          <a:xfrm>
            <a:off x="429816" y="2428577"/>
            <a:ext cx="327762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4136F552-5ABF-42A3-8D86-DA308A6DDEAC}"/>
              </a:ext>
            </a:extLst>
          </p:cNvPr>
          <p:cNvCxnSpPr>
            <a:cxnSpLocks/>
          </p:cNvCxnSpPr>
          <p:nvPr/>
        </p:nvCxnSpPr>
        <p:spPr>
          <a:xfrm>
            <a:off x="429816" y="3707904"/>
            <a:ext cx="327762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44ADDD1-9576-4AD8-9C2E-46BC7C7D32FF}"/>
              </a:ext>
            </a:extLst>
          </p:cNvPr>
          <p:cNvGrpSpPr/>
          <p:nvPr/>
        </p:nvGrpSpPr>
        <p:grpSpPr>
          <a:xfrm>
            <a:off x="429816" y="1476971"/>
            <a:ext cx="3399779" cy="830997"/>
            <a:chOff x="573088" y="2074863"/>
            <a:chExt cx="4533038" cy="110799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D074C23-5EB1-4097-A573-8974D2CB45CA}"/>
                </a:ext>
              </a:extLst>
            </p:cNvPr>
            <p:cNvSpPr txBox="1"/>
            <p:nvPr/>
          </p:nvSpPr>
          <p:spPr>
            <a:xfrm>
              <a:off x="1814286" y="2074863"/>
              <a:ext cx="3291840" cy="1107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200" b="1" dirty="0">
                  <a:solidFill>
                    <a:srgbClr val="000000"/>
                  </a:solidFill>
                  <a:latin typeface="Georgia"/>
                </a:rPr>
                <a:t>Majority of team falls in category of earning that indicates proper IC placement &amp; target setting. </a:t>
              </a: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31F8B49-621D-4316-A977-2F6F672558A9}"/>
                </a:ext>
              </a:extLst>
            </p:cNvPr>
            <p:cNvSpPr/>
            <p:nvPr/>
          </p:nvSpPr>
          <p:spPr>
            <a:xfrm>
              <a:off x="700599" y="2135188"/>
              <a:ext cx="1099126" cy="635000"/>
            </a:xfrm>
            <a:custGeom>
              <a:avLst/>
              <a:gdLst>
                <a:gd name="connsiteX0" fmla="*/ 648352 w 934309"/>
                <a:gd name="connsiteY0" fmla="*/ 0 h 539949"/>
                <a:gd name="connsiteX1" fmla="*/ 934309 w 934309"/>
                <a:gd name="connsiteY1" fmla="*/ 269975 h 539949"/>
                <a:gd name="connsiteX2" fmla="*/ 648352 w 934309"/>
                <a:gd name="connsiteY2" fmla="*/ 539949 h 539949"/>
                <a:gd name="connsiteX3" fmla="*/ 648352 w 934309"/>
                <a:gd name="connsiteY3" fmla="*/ 481899 h 539949"/>
                <a:gd name="connsiteX4" fmla="*/ 0 w 934309"/>
                <a:gd name="connsiteY4" fmla="*/ 481899 h 539949"/>
                <a:gd name="connsiteX5" fmla="*/ 405700 w 934309"/>
                <a:gd name="connsiteY5" fmla="*/ 58050 h 539949"/>
                <a:gd name="connsiteX6" fmla="*/ 648352 w 934309"/>
                <a:gd name="connsiteY6" fmla="*/ 58050 h 53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4309" h="539949">
                  <a:moveTo>
                    <a:pt x="648352" y="0"/>
                  </a:moveTo>
                  <a:lnTo>
                    <a:pt x="934309" y="269975"/>
                  </a:lnTo>
                  <a:lnTo>
                    <a:pt x="648352" y="539949"/>
                  </a:lnTo>
                  <a:lnTo>
                    <a:pt x="648352" y="481899"/>
                  </a:lnTo>
                  <a:lnTo>
                    <a:pt x="0" y="481899"/>
                  </a:lnTo>
                  <a:lnTo>
                    <a:pt x="405700" y="58050"/>
                  </a:lnTo>
                  <a:lnTo>
                    <a:pt x="648352" y="5805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gradFill>
                  <a:gsLst>
                    <a:gs pos="20000">
                      <a:srgbClr val="64CCC9">
                        <a:lumMod val="75000"/>
                      </a:srgbClr>
                    </a:gs>
                    <a:gs pos="90000">
                      <a:srgbClr val="009CDE">
                        <a:lumMod val="75000"/>
                      </a:srgbClr>
                    </a:gs>
                  </a:gsLst>
                  <a:lin ang="8100000" scaled="1"/>
                </a:gradFill>
                <a:latin typeface="Georgia"/>
              </a:endParaRPr>
            </a:p>
          </p:txBody>
        </p:sp>
        <p:sp>
          <p:nvSpPr>
            <p:cNvPr id="52" name="Right Triangle 90">
              <a:extLst>
                <a:ext uri="{FF2B5EF4-FFF2-40B4-BE49-F238E27FC236}">
                  <a16:creationId xmlns:a16="http://schemas.microsoft.com/office/drawing/2014/main" id="{2141A92A-1C1D-4086-9CD5-F8FCB21E77B7}"/>
                </a:ext>
              </a:extLst>
            </p:cNvPr>
            <p:cNvSpPr/>
            <p:nvPr/>
          </p:nvSpPr>
          <p:spPr>
            <a:xfrm rot="8122787">
              <a:off x="573088" y="2373313"/>
              <a:ext cx="695752" cy="85725"/>
            </a:xfrm>
            <a:custGeom>
              <a:avLst/>
              <a:gdLst>
                <a:gd name="connsiteX0" fmla="*/ 0 w 85182"/>
                <a:gd name="connsiteY0" fmla="*/ 484264 h 484264"/>
                <a:gd name="connsiteX1" fmla="*/ 0 w 85182"/>
                <a:gd name="connsiteY1" fmla="*/ 0 h 484264"/>
                <a:gd name="connsiteX2" fmla="*/ 85182 w 85182"/>
                <a:gd name="connsiteY2" fmla="*/ 484264 h 484264"/>
                <a:gd name="connsiteX3" fmla="*/ 0 w 85182"/>
                <a:gd name="connsiteY3" fmla="*/ 484264 h 484264"/>
                <a:gd name="connsiteX0" fmla="*/ 1314450 w 1399632"/>
                <a:gd name="connsiteY0" fmla="*/ 493789 h 493789"/>
                <a:gd name="connsiteX1" fmla="*/ 0 w 1399632"/>
                <a:gd name="connsiteY1" fmla="*/ 0 h 493789"/>
                <a:gd name="connsiteX2" fmla="*/ 1399632 w 1399632"/>
                <a:gd name="connsiteY2" fmla="*/ 493789 h 493789"/>
                <a:gd name="connsiteX3" fmla="*/ 1314450 w 1399632"/>
                <a:gd name="connsiteY3" fmla="*/ 493789 h 493789"/>
                <a:gd name="connsiteX0" fmla="*/ 1314450 w 1339307"/>
                <a:gd name="connsiteY0" fmla="*/ 628650 h 628650"/>
                <a:gd name="connsiteX1" fmla="*/ 0 w 1339307"/>
                <a:gd name="connsiteY1" fmla="*/ 134861 h 628650"/>
                <a:gd name="connsiteX2" fmla="*/ 1339307 w 1339307"/>
                <a:gd name="connsiteY2" fmla="*/ 0 h 628650"/>
                <a:gd name="connsiteX3" fmla="*/ 1314450 w 1339307"/>
                <a:gd name="connsiteY3" fmla="*/ 628650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9307" h="628650">
                  <a:moveTo>
                    <a:pt x="1314450" y="628650"/>
                  </a:moveTo>
                  <a:lnTo>
                    <a:pt x="0" y="134861"/>
                  </a:lnTo>
                  <a:lnTo>
                    <a:pt x="1339307" y="0"/>
                  </a:lnTo>
                  <a:lnTo>
                    <a:pt x="1314450" y="6286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1000"/>
                  </a:schemeClr>
                </a:gs>
                <a:gs pos="100000">
                  <a:schemeClr val="tx1">
                    <a:alpha val="3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85800">
                <a:defRPr/>
              </a:pPr>
              <a:endParaRPr lang="en-GB" sz="788" dirty="0">
                <a:solidFill>
                  <a:prstClr val="white"/>
                </a:solidFill>
                <a:latin typeface="Georgia"/>
                <a:cs typeface="Calibri" panose="020F0502020204030204" pitchFamily="34" charset="0"/>
              </a:endParaRPr>
            </a:p>
          </p:txBody>
        </p:sp>
        <p:pic>
          <p:nvPicPr>
            <p:cNvPr id="138" name="Graphic 137">
              <a:extLst>
                <a:ext uri="{FF2B5EF4-FFF2-40B4-BE49-F238E27FC236}">
                  <a16:creationId xmlns:a16="http://schemas.microsoft.com/office/drawing/2014/main" id="{5896601A-82B7-4862-9C64-C53DCAD3D1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 b="23181"/>
            <a:stretch/>
          </p:blipFill>
          <p:spPr>
            <a:xfrm>
              <a:off x="1186768" y="2241550"/>
              <a:ext cx="433148" cy="415925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933C69B-9302-47A3-BD44-8C03F39C916B}"/>
              </a:ext>
            </a:extLst>
          </p:cNvPr>
          <p:cNvGrpSpPr/>
          <p:nvPr/>
        </p:nvGrpSpPr>
        <p:grpSpPr>
          <a:xfrm>
            <a:off x="429816" y="2571750"/>
            <a:ext cx="3391445" cy="1015663"/>
            <a:chOff x="584200" y="3448050"/>
            <a:chExt cx="4521926" cy="1354217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7F34790-96F0-422D-803F-46671875B80C}"/>
                </a:ext>
              </a:extLst>
            </p:cNvPr>
            <p:cNvSpPr txBox="1"/>
            <p:nvPr/>
          </p:nvSpPr>
          <p:spPr>
            <a:xfrm>
              <a:off x="1814286" y="3448050"/>
              <a:ext cx="3291840" cy="135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200" b="1" dirty="0">
                  <a:solidFill>
                    <a:srgbClr val="000000"/>
                  </a:solidFill>
                  <a:latin typeface="Georgia"/>
                </a:rPr>
                <a:t>However, graph is preferred to be a bit skewed right indicating more of excellent achievement driving higher overall affiliate achievement</a:t>
              </a: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824EC23-C46F-4241-B085-77D10E81919C}"/>
                </a:ext>
              </a:extLst>
            </p:cNvPr>
            <p:cNvSpPr/>
            <p:nvPr/>
          </p:nvSpPr>
          <p:spPr>
            <a:xfrm>
              <a:off x="713299" y="3622675"/>
              <a:ext cx="1099126" cy="635000"/>
            </a:xfrm>
            <a:custGeom>
              <a:avLst/>
              <a:gdLst>
                <a:gd name="connsiteX0" fmla="*/ 648352 w 934309"/>
                <a:gd name="connsiteY0" fmla="*/ 0 h 539949"/>
                <a:gd name="connsiteX1" fmla="*/ 934309 w 934309"/>
                <a:gd name="connsiteY1" fmla="*/ 269975 h 539949"/>
                <a:gd name="connsiteX2" fmla="*/ 648352 w 934309"/>
                <a:gd name="connsiteY2" fmla="*/ 539949 h 539949"/>
                <a:gd name="connsiteX3" fmla="*/ 648352 w 934309"/>
                <a:gd name="connsiteY3" fmla="*/ 481899 h 539949"/>
                <a:gd name="connsiteX4" fmla="*/ 0 w 934309"/>
                <a:gd name="connsiteY4" fmla="*/ 481899 h 539949"/>
                <a:gd name="connsiteX5" fmla="*/ 405700 w 934309"/>
                <a:gd name="connsiteY5" fmla="*/ 58050 h 539949"/>
                <a:gd name="connsiteX6" fmla="*/ 648352 w 934309"/>
                <a:gd name="connsiteY6" fmla="*/ 58050 h 53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4309" h="539949">
                  <a:moveTo>
                    <a:pt x="648352" y="0"/>
                  </a:moveTo>
                  <a:lnTo>
                    <a:pt x="934309" y="269975"/>
                  </a:lnTo>
                  <a:lnTo>
                    <a:pt x="648352" y="539949"/>
                  </a:lnTo>
                  <a:lnTo>
                    <a:pt x="648352" y="481899"/>
                  </a:lnTo>
                  <a:lnTo>
                    <a:pt x="0" y="481899"/>
                  </a:lnTo>
                  <a:lnTo>
                    <a:pt x="405700" y="58050"/>
                  </a:lnTo>
                  <a:lnTo>
                    <a:pt x="648352" y="5805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gradFill>
                  <a:gsLst>
                    <a:gs pos="20000">
                      <a:srgbClr val="64CCC9">
                        <a:lumMod val="75000"/>
                      </a:srgbClr>
                    </a:gs>
                    <a:gs pos="90000">
                      <a:srgbClr val="009CDE">
                        <a:lumMod val="75000"/>
                      </a:srgbClr>
                    </a:gs>
                  </a:gsLst>
                  <a:lin ang="8100000" scaled="1"/>
                </a:gradFill>
                <a:latin typeface="Georgia"/>
              </a:endParaRPr>
            </a:p>
          </p:txBody>
        </p:sp>
        <p:sp>
          <p:nvSpPr>
            <p:cNvPr id="57" name="Right Triangle 90">
              <a:extLst>
                <a:ext uri="{FF2B5EF4-FFF2-40B4-BE49-F238E27FC236}">
                  <a16:creationId xmlns:a16="http://schemas.microsoft.com/office/drawing/2014/main" id="{AEEB79A8-6F6B-4BE2-8F07-DAE0A5913193}"/>
                </a:ext>
              </a:extLst>
            </p:cNvPr>
            <p:cNvSpPr/>
            <p:nvPr/>
          </p:nvSpPr>
          <p:spPr>
            <a:xfrm rot="8122787">
              <a:off x="584200" y="3862388"/>
              <a:ext cx="695325" cy="84138"/>
            </a:xfrm>
            <a:custGeom>
              <a:avLst/>
              <a:gdLst>
                <a:gd name="connsiteX0" fmla="*/ 0 w 85182"/>
                <a:gd name="connsiteY0" fmla="*/ 484264 h 484264"/>
                <a:gd name="connsiteX1" fmla="*/ 0 w 85182"/>
                <a:gd name="connsiteY1" fmla="*/ 0 h 484264"/>
                <a:gd name="connsiteX2" fmla="*/ 85182 w 85182"/>
                <a:gd name="connsiteY2" fmla="*/ 484264 h 484264"/>
                <a:gd name="connsiteX3" fmla="*/ 0 w 85182"/>
                <a:gd name="connsiteY3" fmla="*/ 484264 h 484264"/>
                <a:gd name="connsiteX0" fmla="*/ 1314450 w 1399632"/>
                <a:gd name="connsiteY0" fmla="*/ 493789 h 493789"/>
                <a:gd name="connsiteX1" fmla="*/ 0 w 1399632"/>
                <a:gd name="connsiteY1" fmla="*/ 0 h 493789"/>
                <a:gd name="connsiteX2" fmla="*/ 1399632 w 1399632"/>
                <a:gd name="connsiteY2" fmla="*/ 493789 h 493789"/>
                <a:gd name="connsiteX3" fmla="*/ 1314450 w 1399632"/>
                <a:gd name="connsiteY3" fmla="*/ 493789 h 493789"/>
                <a:gd name="connsiteX0" fmla="*/ 1314450 w 1339307"/>
                <a:gd name="connsiteY0" fmla="*/ 628650 h 628650"/>
                <a:gd name="connsiteX1" fmla="*/ 0 w 1339307"/>
                <a:gd name="connsiteY1" fmla="*/ 134861 h 628650"/>
                <a:gd name="connsiteX2" fmla="*/ 1339307 w 1339307"/>
                <a:gd name="connsiteY2" fmla="*/ 0 h 628650"/>
                <a:gd name="connsiteX3" fmla="*/ 1314450 w 1339307"/>
                <a:gd name="connsiteY3" fmla="*/ 628650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9307" h="628650">
                  <a:moveTo>
                    <a:pt x="1314450" y="628650"/>
                  </a:moveTo>
                  <a:lnTo>
                    <a:pt x="0" y="134861"/>
                  </a:lnTo>
                  <a:lnTo>
                    <a:pt x="1339307" y="0"/>
                  </a:lnTo>
                  <a:lnTo>
                    <a:pt x="1314450" y="6286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1000"/>
                  </a:schemeClr>
                </a:gs>
                <a:gs pos="100000">
                  <a:schemeClr val="tx1">
                    <a:alpha val="3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85800">
                <a:defRPr/>
              </a:pPr>
              <a:endParaRPr lang="en-GB" sz="788" dirty="0">
                <a:solidFill>
                  <a:prstClr val="white"/>
                </a:solidFill>
                <a:latin typeface="Georgia"/>
                <a:cs typeface="Calibri" panose="020F0502020204030204" pitchFamily="34" charset="0"/>
              </a:endParaRPr>
            </a:p>
          </p:txBody>
        </p:sp>
        <p:pic>
          <p:nvPicPr>
            <p:cNvPr id="140" name="Graphic 139">
              <a:extLst>
                <a:ext uri="{FF2B5EF4-FFF2-40B4-BE49-F238E27FC236}">
                  <a16:creationId xmlns:a16="http://schemas.microsoft.com/office/drawing/2014/main" id="{53A9AF0D-CB75-4CBB-B0E2-0B592B63AB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b="16507"/>
            <a:stretch/>
          </p:blipFill>
          <p:spPr>
            <a:xfrm>
              <a:off x="1250950" y="3762375"/>
              <a:ext cx="357454" cy="373063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BBA4492-C357-4CAA-B7EA-E24BDF8A2460}"/>
              </a:ext>
            </a:extLst>
          </p:cNvPr>
          <p:cNvGrpSpPr/>
          <p:nvPr/>
        </p:nvGrpSpPr>
        <p:grpSpPr>
          <a:xfrm>
            <a:off x="429816" y="3851078"/>
            <a:ext cx="3391445" cy="480715"/>
            <a:chOff x="584200" y="5240338"/>
            <a:chExt cx="4521926" cy="640953"/>
          </a:xfrm>
        </p:grpSpPr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7BAA8D8F-C559-4D86-BD49-94903D02EDFD}"/>
                </a:ext>
              </a:extLst>
            </p:cNvPr>
            <p:cNvSpPr txBox="1"/>
            <p:nvPr/>
          </p:nvSpPr>
          <p:spPr>
            <a:xfrm>
              <a:off x="1814286" y="5265738"/>
              <a:ext cx="3291840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685800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en-US" sz="1200" b="1" dirty="0">
                  <a:solidFill>
                    <a:srgbClr val="000000"/>
                  </a:solidFill>
                  <a:latin typeface="Georgia"/>
                </a:rPr>
                <a:t>No key changes are recommended</a:t>
              </a: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2B653039-2EA1-44A3-A559-CFD92F58A6D4}"/>
                </a:ext>
              </a:extLst>
            </p:cNvPr>
            <p:cNvSpPr/>
            <p:nvPr/>
          </p:nvSpPr>
          <p:spPr>
            <a:xfrm>
              <a:off x="713299" y="5240338"/>
              <a:ext cx="1099126" cy="635000"/>
            </a:xfrm>
            <a:custGeom>
              <a:avLst/>
              <a:gdLst>
                <a:gd name="connsiteX0" fmla="*/ 648352 w 934309"/>
                <a:gd name="connsiteY0" fmla="*/ 0 h 539949"/>
                <a:gd name="connsiteX1" fmla="*/ 934309 w 934309"/>
                <a:gd name="connsiteY1" fmla="*/ 269975 h 539949"/>
                <a:gd name="connsiteX2" fmla="*/ 648352 w 934309"/>
                <a:gd name="connsiteY2" fmla="*/ 539949 h 539949"/>
                <a:gd name="connsiteX3" fmla="*/ 648352 w 934309"/>
                <a:gd name="connsiteY3" fmla="*/ 481899 h 539949"/>
                <a:gd name="connsiteX4" fmla="*/ 0 w 934309"/>
                <a:gd name="connsiteY4" fmla="*/ 481899 h 539949"/>
                <a:gd name="connsiteX5" fmla="*/ 405700 w 934309"/>
                <a:gd name="connsiteY5" fmla="*/ 58050 h 539949"/>
                <a:gd name="connsiteX6" fmla="*/ 648352 w 934309"/>
                <a:gd name="connsiteY6" fmla="*/ 58050 h 53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4309" h="539949">
                  <a:moveTo>
                    <a:pt x="648352" y="0"/>
                  </a:moveTo>
                  <a:lnTo>
                    <a:pt x="934309" y="269975"/>
                  </a:lnTo>
                  <a:lnTo>
                    <a:pt x="648352" y="539949"/>
                  </a:lnTo>
                  <a:lnTo>
                    <a:pt x="648352" y="481899"/>
                  </a:lnTo>
                  <a:lnTo>
                    <a:pt x="0" y="481899"/>
                  </a:lnTo>
                  <a:lnTo>
                    <a:pt x="405700" y="58050"/>
                  </a:lnTo>
                  <a:lnTo>
                    <a:pt x="648352" y="5805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gradFill>
                  <a:gsLst>
                    <a:gs pos="20000">
                      <a:srgbClr val="64CCC9">
                        <a:lumMod val="75000"/>
                      </a:srgbClr>
                    </a:gs>
                    <a:gs pos="90000">
                      <a:srgbClr val="009CDE">
                        <a:lumMod val="75000"/>
                      </a:srgbClr>
                    </a:gs>
                  </a:gsLst>
                  <a:lin ang="8100000" scaled="1"/>
                </a:gradFill>
                <a:latin typeface="Georgia"/>
              </a:endParaRPr>
            </a:p>
          </p:txBody>
        </p:sp>
        <p:sp>
          <p:nvSpPr>
            <p:cNvPr id="121" name="Right Triangle 90">
              <a:extLst>
                <a:ext uri="{FF2B5EF4-FFF2-40B4-BE49-F238E27FC236}">
                  <a16:creationId xmlns:a16="http://schemas.microsoft.com/office/drawing/2014/main" id="{8A61C3EB-FC00-49FC-A871-DEC277BBBFD0}"/>
                </a:ext>
              </a:extLst>
            </p:cNvPr>
            <p:cNvSpPr/>
            <p:nvPr/>
          </p:nvSpPr>
          <p:spPr>
            <a:xfrm rot="8122787">
              <a:off x="584200" y="5481638"/>
              <a:ext cx="695325" cy="84138"/>
            </a:xfrm>
            <a:custGeom>
              <a:avLst/>
              <a:gdLst>
                <a:gd name="connsiteX0" fmla="*/ 0 w 85182"/>
                <a:gd name="connsiteY0" fmla="*/ 484264 h 484264"/>
                <a:gd name="connsiteX1" fmla="*/ 0 w 85182"/>
                <a:gd name="connsiteY1" fmla="*/ 0 h 484264"/>
                <a:gd name="connsiteX2" fmla="*/ 85182 w 85182"/>
                <a:gd name="connsiteY2" fmla="*/ 484264 h 484264"/>
                <a:gd name="connsiteX3" fmla="*/ 0 w 85182"/>
                <a:gd name="connsiteY3" fmla="*/ 484264 h 484264"/>
                <a:gd name="connsiteX0" fmla="*/ 1314450 w 1399632"/>
                <a:gd name="connsiteY0" fmla="*/ 493789 h 493789"/>
                <a:gd name="connsiteX1" fmla="*/ 0 w 1399632"/>
                <a:gd name="connsiteY1" fmla="*/ 0 h 493789"/>
                <a:gd name="connsiteX2" fmla="*/ 1399632 w 1399632"/>
                <a:gd name="connsiteY2" fmla="*/ 493789 h 493789"/>
                <a:gd name="connsiteX3" fmla="*/ 1314450 w 1399632"/>
                <a:gd name="connsiteY3" fmla="*/ 493789 h 493789"/>
                <a:gd name="connsiteX0" fmla="*/ 1314450 w 1339307"/>
                <a:gd name="connsiteY0" fmla="*/ 628650 h 628650"/>
                <a:gd name="connsiteX1" fmla="*/ 0 w 1339307"/>
                <a:gd name="connsiteY1" fmla="*/ 134861 h 628650"/>
                <a:gd name="connsiteX2" fmla="*/ 1339307 w 1339307"/>
                <a:gd name="connsiteY2" fmla="*/ 0 h 628650"/>
                <a:gd name="connsiteX3" fmla="*/ 1314450 w 1339307"/>
                <a:gd name="connsiteY3" fmla="*/ 628650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9307" h="628650">
                  <a:moveTo>
                    <a:pt x="1314450" y="628650"/>
                  </a:moveTo>
                  <a:lnTo>
                    <a:pt x="0" y="134861"/>
                  </a:lnTo>
                  <a:lnTo>
                    <a:pt x="1339307" y="0"/>
                  </a:lnTo>
                  <a:lnTo>
                    <a:pt x="1314450" y="6286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1000"/>
                  </a:schemeClr>
                </a:gs>
                <a:gs pos="100000">
                  <a:schemeClr val="tx1">
                    <a:alpha val="3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85800">
                <a:defRPr/>
              </a:pPr>
              <a:endParaRPr lang="en-GB" sz="788" dirty="0">
                <a:solidFill>
                  <a:prstClr val="white"/>
                </a:solidFill>
                <a:latin typeface="Georgia"/>
                <a:cs typeface="Calibri" panose="020F0502020204030204" pitchFamily="34" charset="0"/>
              </a:endParaRPr>
            </a:p>
          </p:txBody>
        </p:sp>
        <p:pic>
          <p:nvPicPr>
            <p:cNvPr id="142" name="Graphic 141">
              <a:extLst>
                <a:ext uri="{FF2B5EF4-FFF2-40B4-BE49-F238E27FC236}">
                  <a16:creationId xmlns:a16="http://schemas.microsoft.com/office/drawing/2014/main" id="{C347E19F-E787-4240-A50A-AC189A9F7B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rcRect b="25000"/>
            <a:stretch/>
          </p:blipFill>
          <p:spPr>
            <a:xfrm>
              <a:off x="1263650" y="5378450"/>
              <a:ext cx="365760" cy="342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752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901A00E-5DE6-4506-92C6-D69D53824E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353" imgH="359" progId="TCLayout.ActiveDocument.1">
                  <p:embed/>
                </p:oleObj>
              </mc:Choice>
              <mc:Fallback>
                <p:oleObj name="think-cell Slide" r:id="rId25" imgW="353" imgH="35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901A00E-5DE6-4506-92C6-D69D53824E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Rectangle 58">
            <a:extLst>
              <a:ext uri="{FF2B5EF4-FFF2-40B4-BE49-F238E27FC236}">
                <a16:creationId xmlns:a16="http://schemas.microsoft.com/office/drawing/2014/main" id="{974F4B4D-F2F8-40A7-BBD6-E1F2F1CD45AC}"/>
              </a:ext>
            </a:extLst>
          </p:cNvPr>
          <p:cNvSpPr/>
          <p:nvPr/>
        </p:nvSpPr>
        <p:spPr>
          <a:xfrm>
            <a:off x="0" y="1110853"/>
            <a:ext cx="3943350" cy="3582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C1DD886-4DF5-4A2F-AFCF-12FAD3888D5D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15B07-0FC7-405B-9BC9-830FEDAE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 dirty="0">
                <a:solidFill>
                  <a:schemeClr val="bg1"/>
                </a:solidFill>
              </a:rPr>
              <a:t>IC execution and </a:t>
            </a:r>
            <a:r>
              <a:rPr lang="fr-FR" dirty="0" err="1">
                <a:solidFill>
                  <a:schemeClr val="bg1"/>
                </a:solidFill>
              </a:rPr>
              <a:t>analysis</a:t>
            </a:r>
            <a:r>
              <a:rPr lang="fr-FR" dirty="0">
                <a:solidFill>
                  <a:schemeClr val="bg1"/>
                </a:solidFill>
              </a:rPr>
              <a:t> </a:t>
            </a:r>
            <a:br>
              <a:rPr lang="fr-FR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Performance Distribution –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F70DB-B346-4EA3-A7CC-CFDC7BBE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8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4B82C11-CBCB-D499-54A1-4E8296789BED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433888" y="1566863"/>
          <a:ext cx="4362450" cy="27598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sp>
        <p:nvSpPr>
          <p:cNvPr id="95" name="Text Placeholder 2">
            <a:extLst>
              <a:ext uri="{FF2B5EF4-FFF2-40B4-BE49-F238E27FC236}">
                <a16:creationId xmlns:a16="http://schemas.microsoft.com/office/drawing/2014/main" id="{EB6A3893-60E1-4C5A-9743-17EC625F3EE2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4269581" y="4173142"/>
            <a:ext cx="123825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5AFBA2F2-D07B-48C6-A6A9-FC859462FE7D}" type="datetime'''''''''''''''''''''-''''''''''''''''''''''''''''''''2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-2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ACE290C8-4EF8-4F12-9FCC-36544CAC70A2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4316016" y="3796904"/>
            <a:ext cx="7739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6EFBEDEE-852D-4A08-9F9D-050D84BA3463}" type="datetime'''''''''''0''''''''''''''''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6" name="Text Placeholder 2">
            <a:extLst>
              <a:ext uri="{FF2B5EF4-FFF2-40B4-BE49-F238E27FC236}">
                <a16:creationId xmlns:a16="http://schemas.microsoft.com/office/drawing/2014/main" id="{CE619588-B935-4569-9DAA-21EE75709BE1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4316016" y="3419476"/>
            <a:ext cx="7739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BF2AA81E-0ABA-4986-9125-BCD09ED82350}" type="datetime'''''''2''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97" name="Text Placeholder 2">
            <a:extLst>
              <a:ext uri="{FF2B5EF4-FFF2-40B4-BE49-F238E27FC236}">
                <a16:creationId xmlns:a16="http://schemas.microsoft.com/office/drawing/2014/main" id="{2F038F03-BA49-4270-93D8-939640E6A43C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4316016" y="3043238"/>
            <a:ext cx="7739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B0CA1AF8-B86C-414C-8E30-D98C9B59C803}" type="datetime'''''''''''''''''''''''''''''''''''''4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EE1C2746-C2C1-4468-BED7-87E6A98941EC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4316016" y="2667001"/>
            <a:ext cx="7739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476DD38E-189E-4095-BAA4-C4CCDFB40395}" type="datetime'''''''''''''''''''''''''''''''''''''''''''''''''''6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6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597A1980-BF98-47E3-A649-02F2AE68AC07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4316016" y="2290763"/>
            <a:ext cx="7739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E0EA56DB-68A5-4699-9EFA-0C789D957A29}" type="datetime'''''''''''''''''''''''8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8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CAC35D05-617B-4FF9-AE4B-18EF7A1BE4B4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4238626" y="1913335"/>
            <a:ext cx="15478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CF0BA02F-1ED3-4CD3-8955-3274378B43EE}" type="datetime'''''''1''''''''0''''''''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8B6419F9-DBCC-4519-A504-92EB960FF2F2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4238626" y="1537098"/>
            <a:ext cx="154781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4535692B-8CBD-41EF-BB06-BFEA1F377760}" type="datetime'''''''''''''''12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+mn-lt"/>
              </a:rPr>
              <a:pPr marL="0" lvl="1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43D4B5F9-1B49-48DD-A501-64EC35D30102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4905376" y="4316017"/>
            <a:ext cx="240506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47D4C0FB-6A65-48B7-ACB6-AEDB926BD6E6}" type="datetime'&lt;''''''''7''''''''''0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&lt;70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06DBE2BA-4012-4159-B48A-6F4679659B20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5373292" y="4316017"/>
            <a:ext cx="365522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6EC7EE6F-DFF0-4C67-AEFF-356FD47C0F78}" type="datetime'''7''''''''''''''''''''''''''''''''0-''8''''''''''''0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70-80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42EBC41C-042A-4D77-94D2-F206672313F6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5903119" y="4316017"/>
            <a:ext cx="365522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6B39E483-3697-4993-AEC0-9A49A9B7B5AB}" type="datetime'''''''''''8''''''''''''''''''''''''''0''''''''-''''9''''0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80-90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BED2BD6A-603F-499C-97FF-EB75F7243C0B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393656" y="4316017"/>
            <a:ext cx="442913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D390DFE1-4E41-493B-9CCA-58C7CBEC6BCF}" type="datetime'''''''''''9''''''''0''''''''-1''0''''''''''''''''''''0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90-100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E40E3A02-7573-4A8A-87D7-6FFEDEDFBDDA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6885385" y="4316017"/>
            <a:ext cx="52030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C7364644-6A4F-4ECE-A999-4908C166B683}" type="datetime'1''''''''00''''''''''''''''-11''''''''''''''''0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100-110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BAE8E0BB-F686-4592-B29F-967BB4399E42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7415212" y="4316017"/>
            <a:ext cx="52030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BBAEDADC-2DC8-40B0-8E08-CB15DDBAB24A}" type="datetime'1''''''''''''10-''''''1''''''''''2''0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110-120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55DBCBA6-CF24-43B5-A712-DAD28D604E1C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8046244" y="4316017"/>
            <a:ext cx="317897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176400" indent="-1764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lang="en-US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9600" marR="0" indent="-1728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6400" indent="-1692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6800" indent="-1728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Lucida Grande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57250" indent="-1714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800">
              <a:spcBef>
                <a:spcPct val="0"/>
              </a:spcBef>
              <a:spcAft>
                <a:spcPct val="0"/>
              </a:spcAft>
              <a:buNone/>
              <a:defRPr/>
            </a:pPr>
            <a:fld id="{0F3849B4-831E-4CD4-9284-76A864DAD6DF}" type="datetime'''''''''''''''''''&gt;''''12''''0''''''''''''''''''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marL="0" indent="0" algn="ctr" defTabSz="685800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&gt;120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D4078B0-6E06-4A8E-A116-D7DFA0AC1E16}"/>
              </a:ext>
            </a:extLst>
          </p:cNvPr>
          <p:cNvCxnSpPr/>
          <p:nvPr>
            <p:custDataLst>
              <p:tags r:id="rId18"/>
            </p:custDataLst>
          </p:nvPr>
        </p:nvCxnSpPr>
        <p:spPr bwMode="gray">
          <a:xfrm>
            <a:off x="7643813" y="1737122"/>
            <a:ext cx="201216" cy="0"/>
          </a:xfrm>
          <a:prstGeom prst="line">
            <a:avLst/>
          </a:prstGeom>
          <a:ln w="19050" cap="rnd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D08C882-99DE-45B8-9CB0-A8A3D06A2486}"/>
              </a:ext>
            </a:extLst>
          </p:cNvPr>
          <p:cNvCxnSpPr/>
          <p:nvPr>
            <p:custDataLst>
              <p:tags r:id="rId19"/>
            </p:custDataLst>
          </p:nvPr>
        </p:nvCxnSpPr>
        <p:spPr bwMode="gray">
          <a:xfrm>
            <a:off x="8206979" y="1737122"/>
            <a:ext cx="201216" cy="0"/>
          </a:xfrm>
          <a:prstGeom prst="line">
            <a:avLst/>
          </a:prstGeom>
          <a:ln w="19050" cap="rnd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1F05BBB-AB16-403F-A792-486BC74644F2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7720013" y="1713310"/>
            <a:ext cx="47625" cy="47625"/>
          </a:xfrm>
          <a:prstGeom prst="ellipse">
            <a:avLst/>
          </a:prstGeom>
          <a:solidFill>
            <a:srgbClr val="FFFFFF"/>
          </a:solidFill>
          <a:ln w="9525" algn="ctr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AE2EEDE-F711-43FA-B1AE-EA9604774EA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8283179" y="1713310"/>
            <a:ext cx="47625" cy="47625"/>
          </a:xfrm>
          <a:prstGeom prst="ellipse">
            <a:avLst/>
          </a:prstGeom>
          <a:solidFill>
            <a:srgbClr val="FFFFFF"/>
          </a:solidFill>
          <a:ln w="9525" algn="ctr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102" name="Text Placeholder 2">
            <a:extLst>
              <a:ext uri="{FF2B5EF4-FFF2-40B4-BE49-F238E27FC236}">
                <a16:creationId xmlns:a16="http://schemas.microsoft.com/office/drawing/2014/main" id="{0E4928F5-9706-4618-A036-77DA1066AF4F}"/>
              </a:ext>
            </a:extLst>
          </p:cNvPr>
          <p:cNvSpPr>
            <a:spLocks noGrp="1"/>
          </p:cNvSpPr>
          <p:nvPr>
            <p:custDataLst>
              <p:tags r:id="rId22"/>
            </p:custDataLst>
          </p:nvPr>
        </p:nvSpPr>
        <p:spPr bwMode="auto">
          <a:xfrm>
            <a:off x="7890272" y="1674019"/>
            <a:ext cx="233363" cy="13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38E49258-506B-43D4-8965-4C0E9ECF5FB2}" type="datetime'2''''''''0''1''''''''''''''''''''''''''''''''''8'''''''''''">
              <a:rPr lang="en-US" altLang="en-US" sz="9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2018</a:t>
            </a:fld>
            <a:endParaRPr lang="en-US" sz="9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C5FBA89B-2FF1-41BF-A9CB-C7643617CA5A}"/>
              </a:ext>
            </a:extLst>
          </p:cNvPr>
          <p:cNvSpPr>
            <a:spLocks noGrp="1"/>
          </p:cNvSpPr>
          <p:nvPr>
            <p:custDataLst>
              <p:tags r:id="rId23"/>
            </p:custDataLst>
          </p:nvPr>
        </p:nvSpPr>
        <p:spPr bwMode="auto">
          <a:xfrm>
            <a:off x="8453437" y="1674019"/>
            <a:ext cx="233363" cy="13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59F404A9-312D-4935-B4E6-0862E08AA947}" type="datetime'''''2''''''''''''''''''''0''''1''''''''''''''''''''9'''''''">
              <a:rPr lang="en-US" altLang="en-US" sz="9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lvl="1" indent="0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2019</a:t>
            </a:fld>
            <a:endParaRPr lang="en-US" sz="9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F34790-96F0-422D-803F-46671875B80C}"/>
              </a:ext>
            </a:extLst>
          </p:cNvPr>
          <p:cNvSpPr txBox="1"/>
          <p:nvPr/>
        </p:nvSpPr>
        <p:spPr>
          <a:xfrm>
            <a:off x="1360715" y="2955928"/>
            <a:ext cx="2468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Employee may be performing to different jobs and there is a need to reexamine quota allocation process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3A8210B-32B8-4B71-8F3E-A3A1073F42CC}"/>
              </a:ext>
            </a:extLst>
          </p:cNvPr>
          <p:cNvCxnSpPr>
            <a:cxnSpLocks/>
          </p:cNvCxnSpPr>
          <p:nvPr/>
        </p:nvCxnSpPr>
        <p:spPr>
          <a:xfrm>
            <a:off x="502444" y="2805071"/>
            <a:ext cx="32781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71DE99B7-AC2A-4FDC-B84A-0EB2D29CD79E}"/>
              </a:ext>
            </a:extLst>
          </p:cNvPr>
          <p:cNvGrpSpPr/>
          <p:nvPr/>
        </p:nvGrpSpPr>
        <p:grpSpPr>
          <a:xfrm>
            <a:off x="439828" y="3057477"/>
            <a:ext cx="919491" cy="476399"/>
            <a:chOff x="586437" y="4658939"/>
            <a:chExt cx="1225988" cy="635199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824EC23-C46F-4241-B085-77D10E81919C}"/>
                </a:ext>
              </a:extLst>
            </p:cNvPr>
            <p:cNvSpPr/>
            <p:nvPr/>
          </p:nvSpPr>
          <p:spPr>
            <a:xfrm>
              <a:off x="713299" y="4658939"/>
              <a:ext cx="1099126" cy="635199"/>
            </a:xfrm>
            <a:custGeom>
              <a:avLst/>
              <a:gdLst>
                <a:gd name="connsiteX0" fmla="*/ 648352 w 934309"/>
                <a:gd name="connsiteY0" fmla="*/ 0 h 539949"/>
                <a:gd name="connsiteX1" fmla="*/ 934309 w 934309"/>
                <a:gd name="connsiteY1" fmla="*/ 269975 h 539949"/>
                <a:gd name="connsiteX2" fmla="*/ 648352 w 934309"/>
                <a:gd name="connsiteY2" fmla="*/ 539949 h 539949"/>
                <a:gd name="connsiteX3" fmla="*/ 648352 w 934309"/>
                <a:gd name="connsiteY3" fmla="*/ 481899 h 539949"/>
                <a:gd name="connsiteX4" fmla="*/ 0 w 934309"/>
                <a:gd name="connsiteY4" fmla="*/ 481899 h 539949"/>
                <a:gd name="connsiteX5" fmla="*/ 405700 w 934309"/>
                <a:gd name="connsiteY5" fmla="*/ 58050 h 539949"/>
                <a:gd name="connsiteX6" fmla="*/ 648352 w 934309"/>
                <a:gd name="connsiteY6" fmla="*/ 58050 h 53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4309" h="539949">
                  <a:moveTo>
                    <a:pt x="648352" y="0"/>
                  </a:moveTo>
                  <a:lnTo>
                    <a:pt x="934309" y="269975"/>
                  </a:lnTo>
                  <a:lnTo>
                    <a:pt x="648352" y="539949"/>
                  </a:lnTo>
                  <a:lnTo>
                    <a:pt x="648352" y="481899"/>
                  </a:lnTo>
                  <a:lnTo>
                    <a:pt x="0" y="481899"/>
                  </a:lnTo>
                  <a:lnTo>
                    <a:pt x="405700" y="58050"/>
                  </a:lnTo>
                  <a:lnTo>
                    <a:pt x="648352" y="5805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gradFill>
                  <a:gsLst>
                    <a:gs pos="20000">
                      <a:srgbClr val="64CCC9">
                        <a:lumMod val="75000"/>
                      </a:srgbClr>
                    </a:gs>
                    <a:gs pos="90000">
                      <a:srgbClr val="009CDE">
                        <a:lumMod val="75000"/>
                      </a:srgbClr>
                    </a:gs>
                  </a:gsLst>
                  <a:lin ang="8100000" scaled="1"/>
                </a:gradFill>
                <a:latin typeface="Georgia"/>
              </a:endParaRPr>
            </a:p>
          </p:txBody>
        </p:sp>
        <p:sp>
          <p:nvSpPr>
            <p:cNvPr id="57" name="Right Triangle 90">
              <a:extLst>
                <a:ext uri="{FF2B5EF4-FFF2-40B4-BE49-F238E27FC236}">
                  <a16:creationId xmlns:a16="http://schemas.microsoft.com/office/drawing/2014/main" id="{AEEB79A8-6F6B-4BE2-8F07-DAE0A5913193}"/>
                </a:ext>
              </a:extLst>
            </p:cNvPr>
            <p:cNvSpPr/>
            <p:nvPr/>
          </p:nvSpPr>
          <p:spPr>
            <a:xfrm rot="8122787">
              <a:off x="586437" y="4899291"/>
              <a:ext cx="695752" cy="84732"/>
            </a:xfrm>
            <a:custGeom>
              <a:avLst/>
              <a:gdLst>
                <a:gd name="connsiteX0" fmla="*/ 0 w 85182"/>
                <a:gd name="connsiteY0" fmla="*/ 484264 h 484264"/>
                <a:gd name="connsiteX1" fmla="*/ 0 w 85182"/>
                <a:gd name="connsiteY1" fmla="*/ 0 h 484264"/>
                <a:gd name="connsiteX2" fmla="*/ 85182 w 85182"/>
                <a:gd name="connsiteY2" fmla="*/ 484264 h 484264"/>
                <a:gd name="connsiteX3" fmla="*/ 0 w 85182"/>
                <a:gd name="connsiteY3" fmla="*/ 484264 h 484264"/>
                <a:gd name="connsiteX0" fmla="*/ 1314450 w 1399632"/>
                <a:gd name="connsiteY0" fmla="*/ 493789 h 493789"/>
                <a:gd name="connsiteX1" fmla="*/ 0 w 1399632"/>
                <a:gd name="connsiteY1" fmla="*/ 0 h 493789"/>
                <a:gd name="connsiteX2" fmla="*/ 1399632 w 1399632"/>
                <a:gd name="connsiteY2" fmla="*/ 493789 h 493789"/>
                <a:gd name="connsiteX3" fmla="*/ 1314450 w 1399632"/>
                <a:gd name="connsiteY3" fmla="*/ 493789 h 493789"/>
                <a:gd name="connsiteX0" fmla="*/ 1314450 w 1339307"/>
                <a:gd name="connsiteY0" fmla="*/ 628650 h 628650"/>
                <a:gd name="connsiteX1" fmla="*/ 0 w 1339307"/>
                <a:gd name="connsiteY1" fmla="*/ 134861 h 628650"/>
                <a:gd name="connsiteX2" fmla="*/ 1339307 w 1339307"/>
                <a:gd name="connsiteY2" fmla="*/ 0 h 628650"/>
                <a:gd name="connsiteX3" fmla="*/ 1314450 w 1339307"/>
                <a:gd name="connsiteY3" fmla="*/ 628650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9307" h="628650">
                  <a:moveTo>
                    <a:pt x="1314450" y="628650"/>
                  </a:moveTo>
                  <a:lnTo>
                    <a:pt x="0" y="134861"/>
                  </a:lnTo>
                  <a:lnTo>
                    <a:pt x="1339307" y="0"/>
                  </a:lnTo>
                  <a:lnTo>
                    <a:pt x="1314450" y="6286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1000"/>
                  </a:schemeClr>
                </a:gs>
                <a:gs pos="100000">
                  <a:schemeClr val="tx1">
                    <a:alpha val="3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85800">
                <a:defRPr/>
              </a:pPr>
              <a:endParaRPr lang="en-GB" sz="788" dirty="0">
                <a:solidFill>
                  <a:prstClr val="white"/>
                </a:solidFill>
                <a:latin typeface="Georgia"/>
                <a:cs typeface="Calibri" panose="020F0502020204030204" pitchFamily="34" charset="0"/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9A489FE1-DF1C-4AC4-90D7-0940F7100F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 b="19583"/>
            <a:stretch/>
          </p:blipFill>
          <p:spPr>
            <a:xfrm>
              <a:off x="1231900" y="4801139"/>
              <a:ext cx="341123" cy="342900"/>
            </a:xfrm>
            <a:prstGeom prst="rect">
              <a:avLst/>
            </a:prstGeom>
          </p:spPr>
        </p:pic>
      </p:grpSp>
      <p:sp>
        <p:nvSpPr>
          <p:cNvPr id="65" name="Right Triangle 90">
            <a:extLst>
              <a:ext uri="{FF2B5EF4-FFF2-40B4-BE49-F238E27FC236}">
                <a16:creationId xmlns:a16="http://schemas.microsoft.com/office/drawing/2014/main" id="{E40005B5-9714-40E7-97B7-148B809ED7DE}"/>
              </a:ext>
            </a:extLst>
          </p:cNvPr>
          <p:cNvSpPr/>
          <p:nvPr/>
        </p:nvSpPr>
        <p:spPr>
          <a:xfrm>
            <a:off x="4255294" y="1403747"/>
            <a:ext cx="4479131" cy="157163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1275" b="1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07661B0-A244-45BC-9B9F-E3B7D9923556}"/>
              </a:ext>
            </a:extLst>
          </p:cNvPr>
          <p:cNvSpPr/>
          <p:nvPr/>
        </p:nvSpPr>
        <p:spPr>
          <a:xfrm>
            <a:off x="4161236" y="1110854"/>
            <a:ext cx="4573189" cy="32623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defRPr/>
            </a:pPr>
            <a:r>
              <a:rPr lang="en-US" sz="1200" b="1" dirty="0">
                <a:solidFill>
                  <a:prstClr val="white"/>
                </a:solidFill>
                <a:latin typeface="Georgia"/>
              </a:rPr>
              <a:t>(ACH Frequency)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611050-2812-44C0-A3EA-6D3379357F21}"/>
              </a:ext>
            </a:extLst>
          </p:cNvPr>
          <p:cNvSpPr txBox="1"/>
          <p:nvPr/>
        </p:nvSpPr>
        <p:spPr>
          <a:xfrm>
            <a:off x="1360715" y="1476970"/>
            <a:ext cx="24688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Both 2018 &amp; 2019 graphs indicates major issues in quota distribution with </a:t>
            </a:r>
            <a:br>
              <a:rPr lang="en-US" sz="1200" b="1" dirty="0">
                <a:solidFill>
                  <a:srgbClr val="000000"/>
                </a:solidFill>
                <a:latin typeface="Georgia"/>
              </a:rPr>
            </a:br>
            <a:r>
              <a:rPr lang="en-US" sz="1200" b="1" dirty="0">
                <a:solidFill>
                  <a:srgbClr val="000000"/>
                </a:solidFill>
                <a:latin typeface="Georgia"/>
              </a:rPr>
              <a:t>team members either missing plan (2018) or overachieving it (2019)</a:t>
            </a: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4591A6F0-C4C2-49B8-8C11-87B901FD240C}"/>
              </a:ext>
            </a:extLst>
          </p:cNvPr>
          <p:cNvSpPr/>
          <p:nvPr/>
        </p:nvSpPr>
        <p:spPr>
          <a:xfrm>
            <a:off x="525449" y="1522214"/>
            <a:ext cx="824345" cy="476250"/>
          </a:xfrm>
          <a:custGeom>
            <a:avLst/>
            <a:gdLst>
              <a:gd name="connsiteX0" fmla="*/ 648352 w 934309"/>
              <a:gd name="connsiteY0" fmla="*/ 0 h 539949"/>
              <a:gd name="connsiteX1" fmla="*/ 934309 w 934309"/>
              <a:gd name="connsiteY1" fmla="*/ 269975 h 539949"/>
              <a:gd name="connsiteX2" fmla="*/ 648352 w 934309"/>
              <a:gd name="connsiteY2" fmla="*/ 539949 h 539949"/>
              <a:gd name="connsiteX3" fmla="*/ 648352 w 934309"/>
              <a:gd name="connsiteY3" fmla="*/ 481899 h 539949"/>
              <a:gd name="connsiteX4" fmla="*/ 0 w 934309"/>
              <a:gd name="connsiteY4" fmla="*/ 481899 h 539949"/>
              <a:gd name="connsiteX5" fmla="*/ 405700 w 934309"/>
              <a:gd name="connsiteY5" fmla="*/ 58050 h 539949"/>
              <a:gd name="connsiteX6" fmla="*/ 648352 w 934309"/>
              <a:gd name="connsiteY6" fmla="*/ 58050 h 53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4309" h="539949">
                <a:moveTo>
                  <a:pt x="648352" y="0"/>
                </a:moveTo>
                <a:lnTo>
                  <a:pt x="934309" y="269975"/>
                </a:lnTo>
                <a:lnTo>
                  <a:pt x="648352" y="539949"/>
                </a:lnTo>
                <a:lnTo>
                  <a:pt x="648352" y="481899"/>
                </a:lnTo>
                <a:lnTo>
                  <a:pt x="0" y="481899"/>
                </a:lnTo>
                <a:lnTo>
                  <a:pt x="405700" y="58050"/>
                </a:lnTo>
                <a:lnTo>
                  <a:pt x="648352" y="580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71" name="Right Triangle 90">
            <a:extLst>
              <a:ext uri="{FF2B5EF4-FFF2-40B4-BE49-F238E27FC236}">
                <a16:creationId xmlns:a16="http://schemas.microsoft.com/office/drawing/2014/main" id="{11D17B83-8BCB-4299-B8CC-BA3A4C1085C2}"/>
              </a:ext>
            </a:extLst>
          </p:cNvPr>
          <p:cNvSpPr/>
          <p:nvPr/>
        </p:nvSpPr>
        <p:spPr>
          <a:xfrm rot="8122787">
            <a:off x="429816" y="1700808"/>
            <a:ext cx="521814" cy="64294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788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A850CC0C-CD24-4A05-ADC7-54BA1D7F9735}"/>
              </a:ext>
            </a:extLst>
          </p:cNvPr>
          <p:cNvPicPr>
            <a:picLocks noChangeAspect="1"/>
          </p:cNvPicPr>
          <p:nvPr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rcRect b="20798"/>
          <a:stretch/>
        </p:blipFill>
        <p:spPr>
          <a:xfrm>
            <a:off x="901228" y="1628018"/>
            <a:ext cx="268442" cy="26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383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901A00E-5DE6-4506-92C6-D69D53824E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9" progId="TCLayout.ActiveDocument.1">
                  <p:embed/>
                </p:oleObj>
              </mc:Choice>
              <mc:Fallback>
                <p:oleObj name="think-cell Slide" r:id="rId3" imgW="353" imgH="35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901A00E-5DE6-4506-92C6-D69D53824E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66D92C55-BCEF-4B2A-9076-C3806592822C}"/>
              </a:ext>
            </a:extLst>
          </p:cNvPr>
          <p:cNvSpPr/>
          <p:nvPr/>
        </p:nvSpPr>
        <p:spPr>
          <a:xfrm>
            <a:off x="-1" y="1110853"/>
            <a:ext cx="4491990" cy="3582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D43041-07FF-4ED8-862D-B58021D94DFD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15B07-0FC7-405B-9BC9-830FEDAE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>
                <a:solidFill>
                  <a:schemeClr val="bg1"/>
                </a:solidFill>
              </a:rPr>
              <a:t>Pay differentiation analysis – Overview &amp; best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F70DB-B346-4EA3-A7CC-CFDC7BBE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9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F2E5DD-A68E-4E6E-9DE6-78210ACFAD27}"/>
              </a:ext>
            </a:extLst>
          </p:cNvPr>
          <p:cNvSpPr txBox="1"/>
          <p:nvPr/>
        </p:nvSpPr>
        <p:spPr>
          <a:xfrm>
            <a:off x="1457326" y="3282946"/>
            <a:ext cx="2936081" cy="11592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685800">
              <a:spcBef>
                <a:spcPts val="225"/>
              </a:spcBef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How to conduct the analysis</a:t>
            </a:r>
          </a:p>
          <a:p>
            <a:pPr marL="137160" indent="-137160" defTabSz="685800">
              <a:spcBef>
                <a:spcPts val="22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Chart  each incumbent’s incentive earnings as a percent of the median earners</a:t>
            </a:r>
          </a:p>
          <a:p>
            <a:pPr marL="137160" indent="-137160" defTabSz="685800">
              <a:spcBef>
                <a:spcPts val="22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This should be completed </a:t>
            </a:r>
            <a:br>
              <a:rPr lang="en-US" sz="1200" dirty="0">
                <a:solidFill>
                  <a:srgbClr val="000000"/>
                </a:solidFill>
                <a:latin typeface="Georgia"/>
              </a:rPr>
            </a:br>
            <a:r>
              <a:rPr lang="en-US" sz="1200" dirty="0">
                <a:solidFill>
                  <a:srgbClr val="000000"/>
                </a:solidFill>
                <a:latin typeface="Georgia"/>
              </a:rPr>
              <a:t>by position and on total incentive earned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77EA595-39D6-4DAD-B6B0-FFD7AC599EDE}"/>
              </a:ext>
            </a:extLst>
          </p:cNvPr>
          <p:cNvGrpSpPr/>
          <p:nvPr/>
        </p:nvGrpSpPr>
        <p:grpSpPr>
          <a:xfrm>
            <a:off x="439828" y="3282947"/>
            <a:ext cx="919491" cy="476399"/>
            <a:chOff x="586437" y="4311975"/>
            <a:chExt cx="1225988" cy="635199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DD2B592-7450-4870-A0E9-723A3BA29AD8}"/>
                </a:ext>
              </a:extLst>
            </p:cNvPr>
            <p:cNvSpPr/>
            <p:nvPr/>
          </p:nvSpPr>
          <p:spPr>
            <a:xfrm>
              <a:off x="713299" y="4311975"/>
              <a:ext cx="1099126" cy="635199"/>
            </a:xfrm>
            <a:custGeom>
              <a:avLst/>
              <a:gdLst>
                <a:gd name="connsiteX0" fmla="*/ 648352 w 934309"/>
                <a:gd name="connsiteY0" fmla="*/ 0 h 539949"/>
                <a:gd name="connsiteX1" fmla="*/ 934309 w 934309"/>
                <a:gd name="connsiteY1" fmla="*/ 269975 h 539949"/>
                <a:gd name="connsiteX2" fmla="*/ 648352 w 934309"/>
                <a:gd name="connsiteY2" fmla="*/ 539949 h 539949"/>
                <a:gd name="connsiteX3" fmla="*/ 648352 w 934309"/>
                <a:gd name="connsiteY3" fmla="*/ 481899 h 539949"/>
                <a:gd name="connsiteX4" fmla="*/ 0 w 934309"/>
                <a:gd name="connsiteY4" fmla="*/ 481899 h 539949"/>
                <a:gd name="connsiteX5" fmla="*/ 405700 w 934309"/>
                <a:gd name="connsiteY5" fmla="*/ 58050 h 539949"/>
                <a:gd name="connsiteX6" fmla="*/ 648352 w 934309"/>
                <a:gd name="connsiteY6" fmla="*/ 58050 h 53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4309" h="539949">
                  <a:moveTo>
                    <a:pt x="648352" y="0"/>
                  </a:moveTo>
                  <a:lnTo>
                    <a:pt x="934309" y="269975"/>
                  </a:lnTo>
                  <a:lnTo>
                    <a:pt x="648352" y="539949"/>
                  </a:lnTo>
                  <a:lnTo>
                    <a:pt x="648352" y="481899"/>
                  </a:lnTo>
                  <a:lnTo>
                    <a:pt x="0" y="481899"/>
                  </a:lnTo>
                  <a:lnTo>
                    <a:pt x="405700" y="58050"/>
                  </a:lnTo>
                  <a:lnTo>
                    <a:pt x="648352" y="5805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gradFill>
                  <a:gsLst>
                    <a:gs pos="20000">
                      <a:srgbClr val="64CCC9">
                        <a:lumMod val="75000"/>
                      </a:srgbClr>
                    </a:gs>
                    <a:gs pos="90000">
                      <a:srgbClr val="009CDE">
                        <a:lumMod val="75000"/>
                      </a:srgbClr>
                    </a:gs>
                  </a:gsLst>
                  <a:lin ang="8100000" scaled="1"/>
                </a:gradFill>
                <a:latin typeface="Georgia"/>
              </a:endParaRPr>
            </a:p>
          </p:txBody>
        </p:sp>
        <p:sp>
          <p:nvSpPr>
            <p:cNvPr id="39" name="Right Triangle 90">
              <a:extLst>
                <a:ext uri="{FF2B5EF4-FFF2-40B4-BE49-F238E27FC236}">
                  <a16:creationId xmlns:a16="http://schemas.microsoft.com/office/drawing/2014/main" id="{01C1D4F7-8B81-4780-9103-127BAD57DDB0}"/>
                </a:ext>
              </a:extLst>
            </p:cNvPr>
            <p:cNvSpPr/>
            <p:nvPr/>
          </p:nvSpPr>
          <p:spPr>
            <a:xfrm rot="8122787">
              <a:off x="586437" y="4552327"/>
              <a:ext cx="695752" cy="84732"/>
            </a:xfrm>
            <a:custGeom>
              <a:avLst/>
              <a:gdLst>
                <a:gd name="connsiteX0" fmla="*/ 0 w 85182"/>
                <a:gd name="connsiteY0" fmla="*/ 484264 h 484264"/>
                <a:gd name="connsiteX1" fmla="*/ 0 w 85182"/>
                <a:gd name="connsiteY1" fmla="*/ 0 h 484264"/>
                <a:gd name="connsiteX2" fmla="*/ 85182 w 85182"/>
                <a:gd name="connsiteY2" fmla="*/ 484264 h 484264"/>
                <a:gd name="connsiteX3" fmla="*/ 0 w 85182"/>
                <a:gd name="connsiteY3" fmla="*/ 484264 h 484264"/>
                <a:gd name="connsiteX0" fmla="*/ 1314450 w 1399632"/>
                <a:gd name="connsiteY0" fmla="*/ 493789 h 493789"/>
                <a:gd name="connsiteX1" fmla="*/ 0 w 1399632"/>
                <a:gd name="connsiteY1" fmla="*/ 0 h 493789"/>
                <a:gd name="connsiteX2" fmla="*/ 1399632 w 1399632"/>
                <a:gd name="connsiteY2" fmla="*/ 493789 h 493789"/>
                <a:gd name="connsiteX3" fmla="*/ 1314450 w 1399632"/>
                <a:gd name="connsiteY3" fmla="*/ 493789 h 493789"/>
                <a:gd name="connsiteX0" fmla="*/ 1314450 w 1339307"/>
                <a:gd name="connsiteY0" fmla="*/ 628650 h 628650"/>
                <a:gd name="connsiteX1" fmla="*/ 0 w 1339307"/>
                <a:gd name="connsiteY1" fmla="*/ 134861 h 628650"/>
                <a:gd name="connsiteX2" fmla="*/ 1339307 w 1339307"/>
                <a:gd name="connsiteY2" fmla="*/ 0 h 628650"/>
                <a:gd name="connsiteX3" fmla="*/ 1314450 w 1339307"/>
                <a:gd name="connsiteY3" fmla="*/ 628650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9307" h="628650">
                  <a:moveTo>
                    <a:pt x="1314450" y="628650"/>
                  </a:moveTo>
                  <a:lnTo>
                    <a:pt x="0" y="134861"/>
                  </a:lnTo>
                  <a:lnTo>
                    <a:pt x="1339307" y="0"/>
                  </a:lnTo>
                  <a:lnTo>
                    <a:pt x="1314450" y="6286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1000"/>
                  </a:schemeClr>
                </a:gs>
                <a:gs pos="100000">
                  <a:schemeClr val="tx1">
                    <a:alpha val="3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85800">
                <a:defRPr/>
              </a:pPr>
              <a:endParaRPr lang="en-GB" sz="788" dirty="0">
                <a:solidFill>
                  <a:prstClr val="white"/>
                </a:solidFill>
                <a:latin typeface="Georgia"/>
                <a:cs typeface="Calibri" panose="020F0502020204030204" pitchFamily="34" charset="0"/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0037238-1ED3-4520-A787-B3AEB70CEF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b="15238"/>
            <a:stretch/>
          </p:blipFill>
          <p:spPr>
            <a:xfrm>
              <a:off x="1227880" y="4442971"/>
              <a:ext cx="358095" cy="37941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821C3EE-4114-4A65-A752-0842D21FC703}"/>
              </a:ext>
            </a:extLst>
          </p:cNvPr>
          <p:cNvSpPr txBox="1"/>
          <p:nvPr/>
        </p:nvSpPr>
        <p:spPr>
          <a:xfrm>
            <a:off x="1439788" y="2455783"/>
            <a:ext cx="267290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685800">
              <a:spcBef>
                <a:spcPts val="225"/>
              </a:spcBef>
              <a:defRPr/>
            </a:pPr>
            <a:endParaRPr lang="en-US" sz="1200" dirty="0">
              <a:solidFill>
                <a:srgbClr val="000000"/>
              </a:solidFill>
              <a:latin typeface="Georgia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DFB18F6-9313-41ED-BF80-044CF9ED0E6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92" r="1850"/>
          <a:stretch/>
        </p:blipFill>
        <p:spPr>
          <a:xfrm>
            <a:off x="4607719" y="1175656"/>
            <a:ext cx="4336256" cy="360282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B9A2D17-1E5E-4E07-9AA5-CD0FF9812799}"/>
              </a:ext>
            </a:extLst>
          </p:cNvPr>
          <p:cNvSpPr txBox="1"/>
          <p:nvPr/>
        </p:nvSpPr>
        <p:spPr>
          <a:xfrm>
            <a:off x="1360714" y="1476970"/>
            <a:ext cx="3032692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225"/>
              </a:spcBef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What this tells us</a:t>
            </a:r>
          </a:p>
          <a:p>
            <a:pPr marL="137160" indent="-137160" defTabSz="685800">
              <a:spcBef>
                <a:spcPts val="22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Pay Differential analysis illustrates the pay differential between the 50</a:t>
            </a:r>
            <a:r>
              <a:rPr lang="en-US" sz="1200" baseline="30000" dirty="0">
                <a:solidFill>
                  <a:srgbClr val="000000"/>
                </a:solidFill>
                <a:latin typeface="Georgia"/>
              </a:rPr>
              <a:t>th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 percentile earner (median) and all other percentile earners.</a:t>
            </a:r>
          </a:p>
          <a:p>
            <a:pPr marL="137160" indent="-137160" defTabSz="685800">
              <a:spcBef>
                <a:spcPts val="225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Best practice is for 90</a:t>
            </a:r>
            <a:r>
              <a:rPr lang="en-US" sz="1200" baseline="30000" dirty="0">
                <a:solidFill>
                  <a:srgbClr val="000000"/>
                </a:solidFill>
                <a:latin typeface="Georgia"/>
              </a:rPr>
              <a:t>th</a:t>
            </a:r>
            <a:r>
              <a:rPr lang="en-US" sz="1200" dirty="0">
                <a:solidFill>
                  <a:srgbClr val="000000"/>
                </a:solidFill>
                <a:latin typeface="Georgia"/>
              </a:rPr>
              <a:t> percentile earners to earn 2-3x the median earner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52D8A66-2D28-42B6-92EB-AC8EDF3607B4}"/>
              </a:ext>
            </a:extLst>
          </p:cNvPr>
          <p:cNvSpPr/>
          <p:nvPr/>
        </p:nvSpPr>
        <p:spPr>
          <a:xfrm>
            <a:off x="525449" y="1522214"/>
            <a:ext cx="824345" cy="476250"/>
          </a:xfrm>
          <a:custGeom>
            <a:avLst/>
            <a:gdLst>
              <a:gd name="connsiteX0" fmla="*/ 648352 w 934309"/>
              <a:gd name="connsiteY0" fmla="*/ 0 h 539949"/>
              <a:gd name="connsiteX1" fmla="*/ 934309 w 934309"/>
              <a:gd name="connsiteY1" fmla="*/ 269975 h 539949"/>
              <a:gd name="connsiteX2" fmla="*/ 648352 w 934309"/>
              <a:gd name="connsiteY2" fmla="*/ 539949 h 539949"/>
              <a:gd name="connsiteX3" fmla="*/ 648352 w 934309"/>
              <a:gd name="connsiteY3" fmla="*/ 481899 h 539949"/>
              <a:gd name="connsiteX4" fmla="*/ 0 w 934309"/>
              <a:gd name="connsiteY4" fmla="*/ 481899 h 539949"/>
              <a:gd name="connsiteX5" fmla="*/ 405700 w 934309"/>
              <a:gd name="connsiteY5" fmla="*/ 58050 h 539949"/>
              <a:gd name="connsiteX6" fmla="*/ 648352 w 934309"/>
              <a:gd name="connsiteY6" fmla="*/ 58050 h 53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4309" h="539949">
                <a:moveTo>
                  <a:pt x="648352" y="0"/>
                </a:moveTo>
                <a:lnTo>
                  <a:pt x="934309" y="269975"/>
                </a:lnTo>
                <a:lnTo>
                  <a:pt x="648352" y="539949"/>
                </a:lnTo>
                <a:lnTo>
                  <a:pt x="648352" y="481899"/>
                </a:lnTo>
                <a:lnTo>
                  <a:pt x="0" y="481899"/>
                </a:lnTo>
                <a:lnTo>
                  <a:pt x="405700" y="58050"/>
                </a:lnTo>
                <a:lnTo>
                  <a:pt x="648352" y="580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95831595-9EC3-4C9B-A5C6-5512B57550E9}"/>
              </a:ext>
            </a:extLst>
          </p:cNvPr>
          <p:cNvPicPr>
            <a:picLocks noChangeAspect="1"/>
          </p:cNvPicPr>
          <p:nvPr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9000" b="19600"/>
          <a:stretch/>
        </p:blipFill>
        <p:spPr>
          <a:xfrm>
            <a:off x="878681" y="1597537"/>
            <a:ext cx="285751" cy="315582"/>
          </a:xfrm>
          <a:prstGeom prst="rect">
            <a:avLst/>
          </a:prstGeom>
        </p:spPr>
      </p:pic>
      <p:sp>
        <p:nvSpPr>
          <p:cNvPr id="31" name="Right Triangle 90">
            <a:extLst>
              <a:ext uri="{FF2B5EF4-FFF2-40B4-BE49-F238E27FC236}">
                <a16:creationId xmlns:a16="http://schemas.microsoft.com/office/drawing/2014/main" id="{2D95E664-E5C7-4C7E-88C9-7EA883AC953E}"/>
              </a:ext>
            </a:extLst>
          </p:cNvPr>
          <p:cNvSpPr/>
          <p:nvPr/>
        </p:nvSpPr>
        <p:spPr>
          <a:xfrm rot="8122787">
            <a:off x="429816" y="1700808"/>
            <a:ext cx="521814" cy="64294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788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0E61616-5313-4C93-83C5-A249A0E9B542}"/>
              </a:ext>
            </a:extLst>
          </p:cNvPr>
          <p:cNvCxnSpPr>
            <a:cxnSpLocks/>
          </p:cNvCxnSpPr>
          <p:nvPr/>
        </p:nvCxnSpPr>
        <p:spPr>
          <a:xfrm>
            <a:off x="560996" y="3109004"/>
            <a:ext cx="38404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036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901A00E-5DE6-4506-92C6-D69D53824E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3" imgH="359" progId="TCLayout.ActiveDocument.1">
                  <p:embed/>
                </p:oleObj>
              </mc:Choice>
              <mc:Fallback>
                <p:oleObj name="think-cell Slide" r:id="rId4" imgW="353" imgH="35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901A00E-5DE6-4506-92C6-D69D53824E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698F8653-44C2-4D94-B7B2-06A10ACAD860}"/>
              </a:ext>
            </a:extLst>
          </p:cNvPr>
          <p:cNvSpPr/>
          <p:nvPr/>
        </p:nvSpPr>
        <p:spPr>
          <a:xfrm>
            <a:off x="-1" y="1110853"/>
            <a:ext cx="3946150" cy="35825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8481C6-4EFB-40B9-8423-DF5F80CD8922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F1B253-093C-4D1F-8CE9-4923A290E320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89091" y="1110853"/>
            <a:ext cx="3084309" cy="25494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715B07-0FC7-405B-9BC9-830FEDAE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>
                <a:solidFill>
                  <a:schemeClr val="bg1"/>
                </a:solidFill>
              </a:rPr>
              <a:t>Boom bust analysis – Overview &amp; best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F70DB-B346-4EA3-A7CC-CFDC7BBE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10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625454B-2215-4EF7-B836-8C2D43A9030B}"/>
              </a:ext>
            </a:extLst>
          </p:cNvPr>
          <p:cNvCxnSpPr>
            <a:cxnSpLocks/>
          </p:cNvCxnSpPr>
          <p:nvPr/>
        </p:nvCxnSpPr>
        <p:spPr>
          <a:xfrm>
            <a:off x="560996" y="3201337"/>
            <a:ext cx="327812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142F6C-F269-4667-B11C-4195997B22BC}"/>
              </a:ext>
            </a:extLst>
          </p:cNvPr>
          <p:cNvGrpSpPr/>
          <p:nvPr/>
        </p:nvGrpSpPr>
        <p:grpSpPr>
          <a:xfrm>
            <a:off x="4023994" y="3708118"/>
            <a:ext cx="5140418" cy="996865"/>
            <a:chOff x="5365324" y="5063521"/>
            <a:chExt cx="6853891" cy="132915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C4F594A-F3E4-4BB9-A25E-7D94A5CE5DE2}"/>
                </a:ext>
              </a:extLst>
            </p:cNvPr>
            <p:cNvSpPr/>
            <p:nvPr/>
          </p:nvSpPr>
          <p:spPr>
            <a:xfrm>
              <a:off x="5778490" y="5370050"/>
              <a:ext cx="340261" cy="34026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050" dirty="0">
                <a:solidFill>
                  <a:prstClr val="white"/>
                </a:solidFill>
                <a:latin typeface="Georgia"/>
              </a:endParaRPr>
            </a:p>
          </p:txBody>
        </p:sp>
        <p:sp>
          <p:nvSpPr>
            <p:cNvPr id="25" name="Rounded Rectangle 52">
              <a:extLst>
                <a:ext uri="{FF2B5EF4-FFF2-40B4-BE49-F238E27FC236}">
                  <a16:creationId xmlns:a16="http://schemas.microsoft.com/office/drawing/2014/main" id="{372CB59D-CECE-4415-B03B-406F46FF82CA}"/>
                </a:ext>
              </a:extLst>
            </p:cNvPr>
            <p:cNvSpPr/>
            <p:nvPr/>
          </p:nvSpPr>
          <p:spPr>
            <a:xfrm rot="16200000" flipH="1">
              <a:off x="5306179" y="5158086"/>
              <a:ext cx="1259071" cy="1140781"/>
            </a:xfrm>
            <a:prstGeom prst="round2SameRect">
              <a:avLst>
                <a:gd name="adj1" fmla="val 9923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0" rIns="0" bIns="68580" rtlCol="0" anchor="ctr"/>
            <a:lstStyle/>
            <a:p>
              <a:pPr algn="ctr" defTabSz="685800">
                <a:defRPr/>
              </a:pPr>
              <a:r>
                <a:rPr lang="en-IN" sz="1050" dirty="0">
                  <a:solidFill>
                    <a:prstClr val="white"/>
                  </a:solidFill>
                  <a:latin typeface="Georgia"/>
                </a:rPr>
                <a:t>Quadrant</a:t>
              </a:r>
            </a:p>
          </p:txBody>
        </p:sp>
        <p:sp>
          <p:nvSpPr>
            <p:cNvPr id="23" name="Rectangle 16">
              <a:extLst>
                <a:ext uri="{FF2B5EF4-FFF2-40B4-BE49-F238E27FC236}">
                  <a16:creationId xmlns:a16="http://schemas.microsoft.com/office/drawing/2014/main" id="{050A9B3E-B12A-42D8-9DE3-C51F51C49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8389" y="5063521"/>
              <a:ext cx="489902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58775" indent="-358775" eaLnBrk="0" hangingPunct="0">
                <a:spcBef>
                  <a:spcPct val="20000"/>
                </a:spcBef>
                <a:spcAft>
                  <a:spcPts val="600"/>
                </a:spcAft>
                <a:buClr>
                  <a:srgbClr val="E6503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989898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E65032"/>
                </a:buClr>
                <a:buSzPct val="90000"/>
                <a:buFont typeface="Arial" panose="020B0604020202020204" pitchFamily="34" charset="0"/>
                <a:buChar char="—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999999"/>
                </a:buClr>
                <a:buFont typeface="Arial" panose="020B0604020202020204" pitchFamily="34" charset="0"/>
                <a:buChar char="–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indent="-269081" defTabSz="685800">
                <a:spcBef>
                  <a:spcPct val="0"/>
                </a:spcBef>
                <a:spcAft>
                  <a:spcPct val="0"/>
                </a:spcAft>
                <a:buClr>
                  <a:srgbClr val="96B965"/>
                </a:buClr>
                <a:buSzPct val="80000"/>
                <a:buNone/>
                <a:defRPr/>
              </a:pPr>
              <a:r>
                <a:rPr lang="en-US" altLang="zh-CN" sz="1050" dirty="0">
                  <a:latin typeface="Georgia"/>
                  <a:ea typeface="SimSun" panose="02010600030101010101" pitchFamily="2" charset="-122"/>
                </a:rPr>
                <a:t>Performed below goal in Year 1 and above goal in Year 2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E3E5875-DE5A-4217-B4EA-44C44EC85E20}"/>
                </a:ext>
              </a:extLst>
            </p:cNvPr>
            <p:cNvSpPr/>
            <p:nvPr/>
          </p:nvSpPr>
          <p:spPr>
            <a:xfrm>
              <a:off x="6609897" y="5076263"/>
              <a:ext cx="288925" cy="2976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>
                <a:defRPr/>
              </a:pPr>
              <a:r>
                <a:rPr lang="en-US" sz="1050" dirty="0">
                  <a:solidFill>
                    <a:prstClr val="white"/>
                  </a:solidFill>
                  <a:latin typeface="Georgia"/>
                </a:rPr>
                <a:t>I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A6F3DC0-2999-4ED3-ADA4-5FD579208128}"/>
                </a:ext>
              </a:extLst>
            </p:cNvPr>
            <p:cNvSpPr/>
            <p:nvPr/>
          </p:nvSpPr>
          <p:spPr>
            <a:xfrm>
              <a:off x="6609897" y="5406463"/>
              <a:ext cx="288925" cy="2976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>
                <a:defRPr/>
              </a:pPr>
              <a:r>
                <a:rPr lang="en-US" sz="1050" dirty="0">
                  <a:solidFill>
                    <a:prstClr val="white"/>
                  </a:solidFill>
                  <a:latin typeface="Georgia"/>
                </a:rPr>
                <a:t>II</a:t>
              </a:r>
            </a:p>
          </p:txBody>
        </p:sp>
        <p:sp>
          <p:nvSpPr>
            <p:cNvPr id="40" name="Rectangle 16">
              <a:extLst>
                <a:ext uri="{FF2B5EF4-FFF2-40B4-BE49-F238E27FC236}">
                  <a16:creationId xmlns:a16="http://schemas.microsoft.com/office/drawing/2014/main" id="{455F8411-A0D7-415B-B3F7-07488CC6C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8389" y="5393721"/>
              <a:ext cx="489902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58775" indent="-358775" eaLnBrk="0" hangingPunct="0">
                <a:spcBef>
                  <a:spcPct val="20000"/>
                </a:spcBef>
                <a:spcAft>
                  <a:spcPts val="600"/>
                </a:spcAft>
                <a:buClr>
                  <a:srgbClr val="E6503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989898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E65032"/>
                </a:buClr>
                <a:buSzPct val="90000"/>
                <a:buFont typeface="Arial" panose="020B0604020202020204" pitchFamily="34" charset="0"/>
                <a:buChar char="—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999999"/>
                </a:buClr>
                <a:buFont typeface="Arial" panose="020B0604020202020204" pitchFamily="34" charset="0"/>
                <a:buChar char="–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indent="-269081" defTabSz="685800">
                <a:spcBef>
                  <a:spcPct val="0"/>
                </a:spcBef>
                <a:spcAft>
                  <a:spcPct val="0"/>
                </a:spcAft>
                <a:buClr>
                  <a:srgbClr val="96B965"/>
                </a:buClr>
                <a:buSzPct val="80000"/>
                <a:buNone/>
                <a:defRPr/>
              </a:pPr>
              <a:r>
                <a:rPr lang="en-US" altLang="zh-CN" sz="1050" dirty="0">
                  <a:latin typeface="Georgia"/>
                  <a:ea typeface="SimSun" panose="02010600030101010101" pitchFamily="2" charset="-122"/>
                </a:rPr>
                <a:t>Consistently performed above goal in Year 1 and</a:t>
              </a:r>
              <a:endParaRPr lang="zh-CN" altLang="en-US" sz="1050" dirty="0">
                <a:latin typeface="Georgia"/>
                <a:ea typeface="SimSun" panose="02010600030101010101" pitchFamily="2" charset="-122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5380896-895B-44D7-A18A-EA2C8E88DDBF}"/>
                </a:ext>
              </a:extLst>
            </p:cNvPr>
            <p:cNvSpPr/>
            <p:nvPr/>
          </p:nvSpPr>
          <p:spPr>
            <a:xfrm>
              <a:off x="6609897" y="5736663"/>
              <a:ext cx="288925" cy="2976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>
                <a:defRPr/>
              </a:pPr>
              <a:r>
                <a:rPr lang="en-US" sz="1050" dirty="0">
                  <a:solidFill>
                    <a:prstClr val="white"/>
                  </a:solidFill>
                  <a:latin typeface="Georgia"/>
                </a:rPr>
                <a:t>III</a:t>
              </a:r>
            </a:p>
          </p:txBody>
        </p:sp>
        <p:sp>
          <p:nvSpPr>
            <p:cNvPr id="42" name="Rectangle 16">
              <a:extLst>
                <a:ext uri="{FF2B5EF4-FFF2-40B4-BE49-F238E27FC236}">
                  <a16:creationId xmlns:a16="http://schemas.microsoft.com/office/drawing/2014/main" id="{CC825421-056F-486F-897A-CDEDE4C75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0769" y="5723921"/>
              <a:ext cx="533844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58775" indent="-358775" eaLnBrk="0" hangingPunct="0">
                <a:spcBef>
                  <a:spcPct val="20000"/>
                </a:spcBef>
                <a:spcAft>
                  <a:spcPts val="600"/>
                </a:spcAft>
                <a:buClr>
                  <a:srgbClr val="E6503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989898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E65032"/>
                </a:buClr>
                <a:buSzPct val="90000"/>
                <a:buFont typeface="Arial" panose="020B0604020202020204" pitchFamily="34" charset="0"/>
                <a:buChar char="—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999999"/>
                </a:buClr>
                <a:buFont typeface="Arial" panose="020B0604020202020204" pitchFamily="34" charset="0"/>
                <a:buChar char="–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indent="-269081" defTabSz="685800">
                <a:spcBef>
                  <a:spcPct val="0"/>
                </a:spcBef>
                <a:spcAft>
                  <a:spcPct val="0"/>
                </a:spcAft>
                <a:buClr>
                  <a:srgbClr val="96B965"/>
                </a:buClr>
                <a:buSzPct val="80000"/>
                <a:buNone/>
                <a:defRPr/>
              </a:pPr>
              <a:r>
                <a:rPr lang="en-US" altLang="zh-CN" sz="1050" dirty="0">
                  <a:latin typeface="Georgia"/>
                  <a:ea typeface="SimSun" panose="02010600030101010101" pitchFamily="2" charset="-122"/>
                </a:rPr>
                <a:t>Underperformed in Year 2 compared to Year 1 performance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DB92C19-86F0-4FEA-BA0D-9E7FB7477200}"/>
                </a:ext>
              </a:extLst>
            </p:cNvPr>
            <p:cNvSpPr/>
            <p:nvPr/>
          </p:nvSpPr>
          <p:spPr>
            <a:xfrm>
              <a:off x="6609897" y="6066863"/>
              <a:ext cx="288925" cy="2976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685800">
                <a:defRPr/>
              </a:pPr>
              <a:r>
                <a:rPr lang="en-US" sz="1050" dirty="0">
                  <a:solidFill>
                    <a:prstClr val="white"/>
                  </a:solidFill>
                  <a:latin typeface="Georgia"/>
                </a:rPr>
                <a:t>IV</a:t>
              </a:r>
            </a:p>
          </p:txBody>
        </p:sp>
        <p:sp>
          <p:nvSpPr>
            <p:cNvPr id="43" name="Rectangle 16">
              <a:extLst>
                <a:ext uri="{FF2B5EF4-FFF2-40B4-BE49-F238E27FC236}">
                  <a16:creationId xmlns:a16="http://schemas.microsoft.com/office/drawing/2014/main" id="{CA74B34D-F19B-4AD7-A619-90997BFEB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3309" y="6054120"/>
              <a:ext cx="489902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58775" indent="-358775" eaLnBrk="0" hangingPunct="0">
                <a:spcBef>
                  <a:spcPct val="20000"/>
                </a:spcBef>
                <a:spcAft>
                  <a:spcPts val="600"/>
                </a:spcAft>
                <a:buClr>
                  <a:srgbClr val="E65032"/>
                </a:buClr>
                <a:buSzPct val="60000"/>
                <a:buFont typeface="Wingdings" panose="05000000000000000000" pitchFamily="2" charset="2"/>
                <a:buChar char="l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989898"/>
                </a:buClr>
                <a:buSzPct val="60000"/>
                <a:buFont typeface="Wingdings" panose="05000000000000000000" pitchFamily="2" charset="2"/>
                <a:buChar char="l"/>
                <a:defRPr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10000"/>
                </a:spcBef>
                <a:spcAft>
                  <a:spcPts val="600"/>
                </a:spcAft>
                <a:buClr>
                  <a:srgbClr val="E65032"/>
                </a:buClr>
                <a:buSzPct val="90000"/>
                <a:buFont typeface="Arial" panose="020B0604020202020204" pitchFamily="34" charset="0"/>
                <a:buChar char="—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rgbClr val="999999"/>
                </a:buClr>
                <a:buFont typeface="Arial" panose="020B0604020202020204" pitchFamily="34" charset="0"/>
                <a:buChar char="–"/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sz="16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69081" indent="-269081" defTabSz="685800">
                <a:spcBef>
                  <a:spcPct val="0"/>
                </a:spcBef>
                <a:spcAft>
                  <a:spcPct val="0"/>
                </a:spcAft>
                <a:buClr>
                  <a:srgbClr val="96B965"/>
                </a:buClr>
                <a:buSzPct val="80000"/>
                <a:buNone/>
                <a:defRPr/>
              </a:pPr>
              <a:r>
                <a:rPr lang="en-US" altLang="zh-CN" sz="1050" dirty="0">
                  <a:latin typeface="Georgia"/>
                  <a:ea typeface="SimSun" panose="02010600030101010101" pitchFamily="2" charset="-122"/>
                </a:rPr>
                <a:t>Consistently underperformed in Year 1 and Year 2</a:t>
              </a:r>
            </a:p>
          </p:txBody>
        </p:sp>
      </p:grpSp>
      <p:sp>
        <p:nvSpPr>
          <p:cNvPr id="44" name="TextBox 16">
            <a:extLst>
              <a:ext uri="{FF2B5EF4-FFF2-40B4-BE49-F238E27FC236}">
                <a16:creationId xmlns:a16="http://schemas.microsoft.com/office/drawing/2014/main" id="{CA0E915C-9C02-4183-9724-B107FC880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449" y="3455907"/>
            <a:ext cx="1415772" cy="25391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1050" b="1" dirty="0">
                <a:latin typeface="Georgia"/>
                <a:ea typeface="SimSun" panose="02010600030101010101" pitchFamily="2" charset="-122"/>
              </a:rPr>
              <a:t>Year 1 % of Target</a:t>
            </a:r>
          </a:p>
        </p:txBody>
      </p:sp>
      <p:sp>
        <p:nvSpPr>
          <p:cNvPr id="47" name="TextBox 17">
            <a:extLst>
              <a:ext uri="{FF2B5EF4-FFF2-40B4-BE49-F238E27FC236}">
                <a16:creationId xmlns:a16="http://schemas.microsoft.com/office/drawing/2014/main" id="{F43E0AFD-CA9C-4BA0-94FD-291566A9DD6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289293" y="2330571"/>
            <a:ext cx="1435008" cy="25391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spcAft>
                <a:spcPts val="600"/>
              </a:spcAft>
              <a:buClr>
                <a:srgbClr val="E65032"/>
              </a:buClr>
              <a:buSzPct val="60000"/>
              <a:buFont typeface="Wingdings" panose="05000000000000000000" pitchFamily="2" charset="2"/>
              <a:buChar char="l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10000"/>
              </a:spcBef>
              <a:spcAft>
                <a:spcPts val="600"/>
              </a:spcAft>
              <a:buClr>
                <a:srgbClr val="989898"/>
              </a:buClr>
              <a:buSzPct val="60000"/>
              <a:buFont typeface="Wingdings" panose="05000000000000000000" pitchFamily="2" charset="2"/>
              <a:buChar char="l"/>
              <a:defRPr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10000"/>
              </a:spcBef>
              <a:spcAft>
                <a:spcPts val="600"/>
              </a:spcAft>
              <a:buClr>
                <a:srgbClr val="E65032"/>
              </a:buClr>
              <a:buSzPct val="90000"/>
              <a:buFont typeface="Arial" panose="020B0604020202020204" pitchFamily="34" charset="0"/>
              <a:buChar char="—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99999"/>
              </a:buClr>
              <a:buFont typeface="Arial" panose="020B0604020202020204" pitchFamily="34" charset="0"/>
              <a:buChar char="–"/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defTabSz="685800" eaLnBrk="1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  <a:defRPr/>
            </a:pPr>
            <a:r>
              <a:rPr lang="en-US" altLang="zh-CN" sz="1050" b="1" dirty="0">
                <a:latin typeface="Georgia"/>
                <a:ea typeface="SimSun" panose="02010600030101010101" pitchFamily="2" charset="-122"/>
              </a:rPr>
              <a:t>Year 2 % of Target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A45C9D-D4CC-417C-91FA-3F2F46FB5217}"/>
              </a:ext>
            </a:extLst>
          </p:cNvPr>
          <p:cNvSpPr txBox="1"/>
          <p:nvPr/>
        </p:nvSpPr>
        <p:spPr>
          <a:xfrm>
            <a:off x="1360714" y="1476970"/>
            <a:ext cx="2478406" cy="1856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What this tells us:</a:t>
            </a:r>
          </a:p>
          <a:p>
            <a:pPr marL="137160" indent="-137160" defTabSz="685800">
              <a:spcBef>
                <a:spcPts val="75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Boom Bust/Consistency analysis illustrates if your incentive plan rewards consistent results year over year (period over period)</a:t>
            </a:r>
          </a:p>
          <a:p>
            <a:pPr marL="137160" indent="-137160" defTabSz="685800">
              <a:spcBef>
                <a:spcPts val="75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Consistent year over year performance will have points in Quadrants II and IV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38F0BE7-BDF4-4B89-91DC-FED225973726}"/>
              </a:ext>
            </a:extLst>
          </p:cNvPr>
          <p:cNvSpPr/>
          <p:nvPr/>
        </p:nvSpPr>
        <p:spPr>
          <a:xfrm>
            <a:off x="525449" y="1522214"/>
            <a:ext cx="824345" cy="476250"/>
          </a:xfrm>
          <a:custGeom>
            <a:avLst/>
            <a:gdLst>
              <a:gd name="connsiteX0" fmla="*/ 648352 w 934309"/>
              <a:gd name="connsiteY0" fmla="*/ 0 h 539949"/>
              <a:gd name="connsiteX1" fmla="*/ 934309 w 934309"/>
              <a:gd name="connsiteY1" fmla="*/ 269975 h 539949"/>
              <a:gd name="connsiteX2" fmla="*/ 648352 w 934309"/>
              <a:gd name="connsiteY2" fmla="*/ 539949 h 539949"/>
              <a:gd name="connsiteX3" fmla="*/ 648352 w 934309"/>
              <a:gd name="connsiteY3" fmla="*/ 481899 h 539949"/>
              <a:gd name="connsiteX4" fmla="*/ 0 w 934309"/>
              <a:gd name="connsiteY4" fmla="*/ 481899 h 539949"/>
              <a:gd name="connsiteX5" fmla="*/ 405700 w 934309"/>
              <a:gd name="connsiteY5" fmla="*/ 58050 h 539949"/>
              <a:gd name="connsiteX6" fmla="*/ 648352 w 934309"/>
              <a:gd name="connsiteY6" fmla="*/ 58050 h 539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4309" h="539949">
                <a:moveTo>
                  <a:pt x="648352" y="0"/>
                </a:moveTo>
                <a:lnTo>
                  <a:pt x="934309" y="269975"/>
                </a:lnTo>
                <a:lnTo>
                  <a:pt x="648352" y="539949"/>
                </a:lnTo>
                <a:lnTo>
                  <a:pt x="648352" y="481899"/>
                </a:lnTo>
                <a:lnTo>
                  <a:pt x="0" y="481899"/>
                </a:lnTo>
                <a:lnTo>
                  <a:pt x="405700" y="58050"/>
                </a:lnTo>
                <a:lnTo>
                  <a:pt x="648352" y="5805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098D354B-A45F-4E73-AA3C-C4D5D0E65C66}"/>
              </a:ext>
            </a:extLst>
          </p:cNvPr>
          <p:cNvPicPr>
            <a:picLocks noChangeAspect="1"/>
          </p:cNvPicPr>
          <p:nvPr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9000" b="19600"/>
          <a:stretch/>
        </p:blipFill>
        <p:spPr>
          <a:xfrm>
            <a:off x="878681" y="1597537"/>
            <a:ext cx="285751" cy="315582"/>
          </a:xfrm>
          <a:prstGeom prst="rect">
            <a:avLst/>
          </a:prstGeom>
        </p:spPr>
      </p:pic>
      <p:sp>
        <p:nvSpPr>
          <p:cNvPr id="51" name="Right Triangle 90">
            <a:extLst>
              <a:ext uri="{FF2B5EF4-FFF2-40B4-BE49-F238E27FC236}">
                <a16:creationId xmlns:a16="http://schemas.microsoft.com/office/drawing/2014/main" id="{91E963AD-2556-4E2D-B866-C7FDACF93632}"/>
              </a:ext>
            </a:extLst>
          </p:cNvPr>
          <p:cNvSpPr/>
          <p:nvPr/>
        </p:nvSpPr>
        <p:spPr>
          <a:xfrm rot="8122787">
            <a:off x="429816" y="1700808"/>
            <a:ext cx="521814" cy="64294"/>
          </a:xfrm>
          <a:custGeom>
            <a:avLst/>
            <a:gdLst>
              <a:gd name="connsiteX0" fmla="*/ 0 w 85182"/>
              <a:gd name="connsiteY0" fmla="*/ 484264 h 484264"/>
              <a:gd name="connsiteX1" fmla="*/ 0 w 85182"/>
              <a:gd name="connsiteY1" fmla="*/ 0 h 484264"/>
              <a:gd name="connsiteX2" fmla="*/ 85182 w 85182"/>
              <a:gd name="connsiteY2" fmla="*/ 484264 h 484264"/>
              <a:gd name="connsiteX3" fmla="*/ 0 w 85182"/>
              <a:gd name="connsiteY3" fmla="*/ 484264 h 484264"/>
              <a:gd name="connsiteX0" fmla="*/ 1314450 w 1399632"/>
              <a:gd name="connsiteY0" fmla="*/ 493789 h 493789"/>
              <a:gd name="connsiteX1" fmla="*/ 0 w 1399632"/>
              <a:gd name="connsiteY1" fmla="*/ 0 h 493789"/>
              <a:gd name="connsiteX2" fmla="*/ 1399632 w 1399632"/>
              <a:gd name="connsiteY2" fmla="*/ 493789 h 493789"/>
              <a:gd name="connsiteX3" fmla="*/ 1314450 w 1399632"/>
              <a:gd name="connsiteY3" fmla="*/ 493789 h 493789"/>
              <a:gd name="connsiteX0" fmla="*/ 1314450 w 1339307"/>
              <a:gd name="connsiteY0" fmla="*/ 628650 h 628650"/>
              <a:gd name="connsiteX1" fmla="*/ 0 w 1339307"/>
              <a:gd name="connsiteY1" fmla="*/ 134861 h 628650"/>
              <a:gd name="connsiteX2" fmla="*/ 1339307 w 1339307"/>
              <a:gd name="connsiteY2" fmla="*/ 0 h 628650"/>
              <a:gd name="connsiteX3" fmla="*/ 1314450 w 1339307"/>
              <a:gd name="connsiteY3" fmla="*/ 628650 h 62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9307" h="628650">
                <a:moveTo>
                  <a:pt x="1314450" y="628650"/>
                </a:moveTo>
                <a:lnTo>
                  <a:pt x="0" y="134861"/>
                </a:lnTo>
                <a:lnTo>
                  <a:pt x="1339307" y="0"/>
                </a:lnTo>
                <a:lnTo>
                  <a:pt x="1314450" y="628650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100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685800">
              <a:defRPr/>
            </a:pPr>
            <a:endParaRPr lang="en-GB" sz="788" dirty="0">
              <a:solidFill>
                <a:prstClr val="white"/>
              </a:solidFill>
              <a:latin typeface="Georgia"/>
              <a:cs typeface="Calibri" panose="020F05020202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A23475-0FD8-4A9F-9B08-43D80E659112}"/>
              </a:ext>
            </a:extLst>
          </p:cNvPr>
          <p:cNvSpPr txBox="1"/>
          <p:nvPr/>
        </p:nvSpPr>
        <p:spPr>
          <a:xfrm>
            <a:off x="1457326" y="3282946"/>
            <a:ext cx="2381795" cy="13952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685800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200" b="1" dirty="0">
                <a:solidFill>
                  <a:srgbClr val="000000"/>
                </a:solidFill>
                <a:latin typeface="Georgia"/>
              </a:rPr>
              <a:t>How to conduct the analysis</a:t>
            </a:r>
          </a:p>
          <a:p>
            <a:pPr marL="137160" indent="-137160" defTabSz="685800">
              <a:spcBef>
                <a:spcPts val="75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Chart  each incumbent's performance (% of goal) in Year 1 versus Year 2</a:t>
            </a:r>
          </a:p>
          <a:p>
            <a:pPr marL="137160" indent="-137160" defTabSz="685800">
              <a:spcBef>
                <a:spcPts val="75"/>
              </a:spcBef>
              <a:spcAft>
                <a:spcPts val="3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This should be completed by position and each performance measure 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38FA19B-6CDF-46EC-A49F-982B5A955688}"/>
              </a:ext>
            </a:extLst>
          </p:cNvPr>
          <p:cNvGrpSpPr/>
          <p:nvPr/>
        </p:nvGrpSpPr>
        <p:grpSpPr>
          <a:xfrm>
            <a:off x="439828" y="3282947"/>
            <a:ext cx="919491" cy="476399"/>
            <a:chOff x="586437" y="4311975"/>
            <a:chExt cx="1225988" cy="635199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9E627BA-4917-4E52-BDB7-697C72FBB1C4}"/>
                </a:ext>
              </a:extLst>
            </p:cNvPr>
            <p:cNvSpPr/>
            <p:nvPr/>
          </p:nvSpPr>
          <p:spPr>
            <a:xfrm>
              <a:off x="713299" y="4311975"/>
              <a:ext cx="1099126" cy="635199"/>
            </a:xfrm>
            <a:custGeom>
              <a:avLst/>
              <a:gdLst>
                <a:gd name="connsiteX0" fmla="*/ 648352 w 934309"/>
                <a:gd name="connsiteY0" fmla="*/ 0 h 539949"/>
                <a:gd name="connsiteX1" fmla="*/ 934309 w 934309"/>
                <a:gd name="connsiteY1" fmla="*/ 269975 h 539949"/>
                <a:gd name="connsiteX2" fmla="*/ 648352 w 934309"/>
                <a:gd name="connsiteY2" fmla="*/ 539949 h 539949"/>
                <a:gd name="connsiteX3" fmla="*/ 648352 w 934309"/>
                <a:gd name="connsiteY3" fmla="*/ 481899 h 539949"/>
                <a:gd name="connsiteX4" fmla="*/ 0 w 934309"/>
                <a:gd name="connsiteY4" fmla="*/ 481899 h 539949"/>
                <a:gd name="connsiteX5" fmla="*/ 405700 w 934309"/>
                <a:gd name="connsiteY5" fmla="*/ 58050 h 539949"/>
                <a:gd name="connsiteX6" fmla="*/ 648352 w 934309"/>
                <a:gd name="connsiteY6" fmla="*/ 58050 h 539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4309" h="539949">
                  <a:moveTo>
                    <a:pt x="648352" y="0"/>
                  </a:moveTo>
                  <a:lnTo>
                    <a:pt x="934309" y="269975"/>
                  </a:lnTo>
                  <a:lnTo>
                    <a:pt x="648352" y="539949"/>
                  </a:lnTo>
                  <a:lnTo>
                    <a:pt x="648352" y="481899"/>
                  </a:lnTo>
                  <a:lnTo>
                    <a:pt x="0" y="481899"/>
                  </a:lnTo>
                  <a:lnTo>
                    <a:pt x="405700" y="58050"/>
                  </a:lnTo>
                  <a:lnTo>
                    <a:pt x="648352" y="5805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gradFill>
                  <a:gsLst>
                    <a:gs pos="20000">
                      <a:srgbClr val="64CCC9">
                        <a:lumMod val="75000"/>
                      </a:srgbClr>
                    </a:gs>
                    <a:gs pos="90000">
                      <a:srgbClr val="009CDE">
                        <a:lumMod val="75000"/>
                      </a:srgbClr>
                    </a:gs>
                  </a:gsLst>
                  <a:lin ang="8100000" scaled="1"/>
                </a:gradFill>
                <a:latin typeface="Georgia"/>
              </a:endParaRPr>
            </a:p>
          </p:txBody>
        </p:sp>
        <p:sp>
          <p:nvSpPr>
            <p:cNvPr id="60" name="Right Triangle 90">
              <a:extLst>
                <a:ext uri="{FF2B5EF4-FFF2-40B4-BE49-F238E27FC236}">
                  <a16:creationId xmlns:a16="http://schemas.microsoft.com/office/drawing/2014/main" id="{3044F0FC-1B14-44DC-967E-A333BF7347D3}"/>
                </a:ext>
              </a:extLst>
            </p:cNvPr>
            <p:cNvSpPr/>
            <p:nvPr/>
          </p:nvSpPr>
          <p:spPr>
            <a:xfrm rot="8122787">
              <a:off x="586437" y="4552327"/>
              <a:ext cx="695752" cy="84732"/>
            </a:xfrm>
            <a:custGeom>
              <a:avLst/>
              <a:gdLst>
                <a:gd name="connsiteX0" fmla="*/ 0 w 85182"/>
                <a:gd name="connsiteY0" fmla="*/ 484264 h 484264"/>
                <a:gd name="connsiteX1" fmla="*/ 0 w 85182"/>
                <a:gd name="connsiteY1" fmla="*/ 0 h 484264"/>
                <a:gd name="connsiteX2" fmla="*/ 85182 w 85182"/>
                <a:gd name="connsiteY2" fmla="*/ 484264 h 484264"/>
                <a:gd name="connsiteX3" fmla="*/ 0 w 85182"/>
                <a:gd name="connsiteY3" fmla="*/ 484264 h 484264"/>
                <a:gd name="connsiteX0" fmla="*/ 1314450 w 1399632"/>
                <a:gd name="connsiteY0" fmla="*/ 493789 h 493789"/>
                <a:gd name="connsiteX1" fmla="*/ 0 w 1399632"/>
                <a:gd name="connsiteY1" fmla="*/ 0 h 493789"/>
                <a:gd name="connsiteX2" fmla="*/ 1399632 w 1399632"/>
                <a:gd name="connsiteY2" fmla="*/ 493789 h 493789"/>
                <a:gd name="connsiteX3" fmla="*/ 1314450 w 1399632"/>
                <a:gd name="connsiteY3" fmla="*/ 493789 h 493789"/>
                <a:gd name="connsiteX0" fmla="*/ 1314450 w 1339307"/>
                <a:gd name="connsiteY0" fmla="*/ 628650 h 628650"/>
                <a:gd name="connsiteX1" fmla="*/ 0 w 1339307"/>
                <a:gd name="connsiteY1" fmla="*/ 134861 h 628650"/>
                <a:gd name="connsiteX2" fmla="*/ 1339307 w 1339307"/>
                <a:gd name="connsiteY2" fmla="*/ 0 h 628650"/>
                <a:gd name="connsiteX3" fmla="*/ 1314450 w 1339307"/>
                <a:gd name="connsiteY3" fmla="*/ 628650 h 628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9307" h="628650">
                  <a:moveTo>
                    <a:pt x="1314450" y="628650"/>
                  </a:moveTo>
                  <a:lnTo>
                    <a:pt x="0" y="134861"/>
                  </a:lnTo>
                  <a:lnTo>
                    <a:pt x="1339307" y="0"/>
                  </a:lnTo>
                  <a:lnTo>
                    <a:pt x="1314450" y="62865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alpha val="1000"/>
                  </a:schemeClr>
                </a:gs>
                <a:gs pos="100000">
                  <a:schemeClr val="tx1">
                    <a:alpha val="30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85800">
                <a:defRPr/>
              </a:pPr>
              <a:endParaRPr lang="en-GB" sz="788" dirty="0">
                <a:solidFill>
                  <a:prstClr val="white"/>
                </a:solidFill>
                <a:latin typeface="Georgia"/>
                <a:cs typeface="Calibri" panose="020F0502020204030204" pitchFamily="34" charset="0"/>
              </a:endParaRPr>
            </a:p>
          </p:txBody>
        </p:sp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0D81385F-411A-424A-964C-E8A1415E60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b="15238"/>
            <a:stretch/>
          </p:blipFill>
          <p:spPr>
            <a:xfrm>
              <a:off x="1227880" y="4442971"/>
              <a:ext cx="358095" cy="379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258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398E22D-4AC9-4A94-ACE7-9CA3B1BA08A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53" imgH="359" progId="TCLayout.ActiveDocument.1">
                  <p:embed/>
                </p:oleObj>
              </mc:Choice>
              <mc:Fallback>
                <p:oleObj name="think-cell Slide" r:id="rId20" imgW="353" imgH="35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398E22D-4AC9-4A94-ACE7-9CA3B1BA08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7523C37C-1D29-413E-BAB1-8B62492B0EC0}"/>
              </a:ext>
            </a:extLst>
          </p:cNvPr>
          <p:cNvSpPr/>
          <p:nvPr/>
        </p:nvSpPr>
        <p:spPr>
          <a:xfrm>
            <a:off x="0" y="-2"/>
            <a:ext cx="9144000" cy="891540"/>
          </a:xfrm>
          <a:prstGeom prst="rect">
            <a:avLst/>
          </a:prstGeom>
          <a:gradFill flip="none" rotWithShape="1">
            <a:gsLst>
              <a:gs pos="20000">
                <a:schemeClr val="accent3">
                  <a:lumMod val="75000"/>
                </a:schemeClr>
              </a:gs>
              <a:gs pos="80000">
                <a:schemeClr val="accent5">
                  <a:lumMod val="7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gradFill>
                <a:gsLst>
                  <a:gs pos="20000">
                    <a:srgbClr val="64CCC9">
                      <a:lumMod val="75000"/>
                    </a:srgbClr>
                  </a:gs>
                  <a:gs pos="90000">
                    <a:srgbClr val="009CDE">
                      <a:lumMod val="75000"/>
                    </a:srgbClr>
                  </a:gs>
                </a:gsLst>
                <a:lin ang="8100000" scaled="1"/>
              </a:gradFill>
              <a:latin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302A8-A44C-45AC-B210-60A93C8ED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>
                <a:solidFill>
                  <a:schemeClr val="bg1"/>
                </a:solidFill>
              </a:rPr>
              <a:t>Internal/external equity – Best 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3B64D-3564-4916-80E7-BADEE65B6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685800">
              <a:defRPr/>
            </a:pPr>
            <a:fld id="{1ED5E6E0-5E57-44BC-9DB5-EE65A1B55100}" type="slidenum">
              <a:rPr lang="en-US" sz="1000" b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 defTabSz="685800">
                <a:defRPr/>
              </a:pPr>
              <a:t>11</a:t>
            </a:fld>
            <a:endParaRPr lang="en-US" sz="10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2" name="Rectangle 151" hidden="1">
            <a:extLst>
              <a:ext uri="{FF2B5EF4-FFF2-40B4-BE49-F238E27FC236}">
                <a16:creationId xmlns:a16="http://schemas.microsoft.com/office/drawing/2014/main" id="{50C79760-625A-48E8-AC5E-B101077A124C}"/>
              </a:ext>
            </a:extLst>
          </p:cNvPr>
          <p:cNvSpPr/>
          <p:nvPr/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685800">
              <a:defRPr/>
            </a:pPr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E302755-D99E-4745-67AE-982B84D2E1B9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579960" y="1704975"/>
          <a:ext cx="7213997" cy="19061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CB660EB3-1917-44F3-A18E-27D335964636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1069181" y="3451624"/>
            <a:ext cx="42505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776BC410-7B10-4F12-AD8B-20D9F08D117A}" type="datetime'''''''4''''''0'',''0''''''0''''''''''0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40,000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7A41CABF-DCA8-49FC-BA96-A0A88F848C9D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1069181" y="3253980"/>
            <a:ext cx="42505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9D564C02-0629-426F-86C7-101CDD414010}" type="datetime'''''''''''''''''''60,''''0''''''''0''0''''''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60,000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3D56FFE1-E9C7-4E95-9D5F-16C5C06829DA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1069181" y="3056336"/>
            <a:ext cx="42505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B0B42F8A-C725-4F73-B368-33EF3A6D267D}" type="datetime'''8''''''''''''''''''''0'',''00''0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80,000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9A9C0BCF-2EA0-4803-BC6E-CB63C8274AE9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gray">
          <a:xfrm>
            <a:off x="991792" y="2859883"/>
            <a:ext cx="50244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BAA420A0-F10D-456E-A748-F64D1FF209A8}" type="datetime'1''''0''0'''''',''''''''0''''''''''''''0''''''0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100,000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7D27DA05-E3F3-47DC-9AFE-5D5B71A96336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gray">
          <a:xfrm>
            <a:off x="991792" y="2662239"/>
            <a:ext cx="50244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82E78A6C-19F2-4969-BF24-8BF8A7941DBD}" type="datetime'''''1''''''''2''''''''''''''''0'''''''''',''''00''0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120,000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854F6566-CF04-4173-81DD-546FB47C9471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991792" y="2464595"/>
            <a:ext cx="50244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34ECCD08-E5A2-45FD-9C0B-0F64261E0FB9}" type="datetime'''1''''''''''''''''''''''40,0''''''''0''0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140,000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3DF8A12A-4FF1-42B0-B056-ABBCCDE14C16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991792" y="2266951"/>
            <a:ext cx="50244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5BEFCD69-3427-4BE6-9622-D6F6D492F48B}" type="datetime'''''1''6''''''0'''''',''0''''''''''''''''''0''''''''0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160,000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373ED11-5D50-4369-A71B-7A8023B4CD8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991792" y="2070499"/>
            <a:ext cx="50244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8D3C0979-5ADF-4474-A425-51522E468DFC}" type="datetime'''''''1''''''''8''''''0'',0''''''0''''''''''''''''''0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180,000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5487FEB2-B6DE-4D5A-B934-3235806469D4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gray">
          <a:xfrm>
            <a:off x="991792" y="1872855"/>
            <a:ext cx="50244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5A338CB2-24F6-40A7-9383-04A4CEBAAFD1}" type="datetime'''''''''2''0''''0'''''''',0''''''''''''''''0''''''''0''''''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200,000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67CAE5DF-0378-4223-94FD-44A5DAC0FF7B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gray">
          <a:xfrm>
            <a:off x="991792" y="1675211"/>
            <a:ext cx="502444" cy="18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235194" indent="-2351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lang="en-US" sz="2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2787" marR="0" indent="-230394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Lucida Grande"/>
              <a:buChar char="–"/>
              <a:tabLst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35179" indent="-225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371" indent="-2303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Lucida Grande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49C52687-6CE6-4135-A1B8-09C468662FE7}" type="datetime'2''''''''''''2''''''''0'''''''''''',''''''0''0''0'''">
              <a:rPr lang="en-US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pPr marL="0" indent="0" algn="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220,000</a:t>
            </a:fld>
            <a:endParaRPr lang="en-US" sz="12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AC6B322-519F-4995-93BA-00FAF541F07C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1908573" y="3594496"/>
            <a:ext cx="66079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3D87533F-4D4F-4378-A80E-4FC71ACB4AEA}" type="datetime'''F''i''eld &#10;S''al''''''e''''s'''' R''e''''''''''p'''''''">
              <a:rPr lang="en-US" altLang="en-US" sz="1200">
                <a:solidFill>
                  <a:srgbClr val="000000"/>
                </a:solidFill>
                <a:latin typeface="Georgia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Field 
Sales Rep</a:t>
            </a:fld>
            <a:endParaRPr lang="en-US" sz="1200" dirty="0">
              <a:solidFill>
                <a:srgbClr val="000000"/>
              </a:solidFill>
              <a:latin typeface="Georgia"/>
              <a:sym typeface="Calibri" panose="020F050202020403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60274B5-82AF-44FF-94C6-8DBDC9F8BBB0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2932510" y="3594496"/>
            <a:ext cx="972741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0BFA449D-5A85-49F8-A969-1EBE4D9AA123}" type="datetime'Mar''k''et - F''''''i''''eld'''''' &#10;''''Sal''''e''s'''' Rep'">
              <a:rPr lang="en-US" altLang="en-US" sz="1200">
                <a:solidFill>
                  <a:srgbClr val="000000"/>
                </a:solidFill>
                <a:latin typeface="Georgia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Market - Field 
Sales Rep</a:t>
            </a:fld>
            <a:endParaRPr lang="en-US" sz="1200" dirty="0">
              <a:solidFill>
                <a:srgbClr val="000000"/>
              </a:solidFill>
              <a:latin typeface="Georgia"/>
              <a:sym typeface="Calibri" panose="020F0502020204030204" pitchFamily="34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7C1C842-F30A-4709-984D-DD525AAFBE6C}"/>
              </a:ext>
            </a:extLst>
          </p:cNvPr>
          <p:cNvSpPr>
            <a:spLocks noGrp="1"/>
          </p:cNvSpPr>
          <p:nvPr>
            <p:custDataLst>
              <p:tags r:id="rId15"/>
            </p:custDataLst>
          </p:nvPr>
        </p:nvSpPr>
        <p:spPr bwMode="auto">
          <a:xfrm>
            <a:off x="4269582" y="3594496"/>
            <a:ext cx="66079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5546A290-5247-478B-827C-B97586102CFD}" type="datetime'''S''eni''o''''''r'' &#10;S''a''''l''e''''s'''''' ''''Re''''p'''''">
              <a:rPr lang="en-US" altLang="en-US" sz="1200">
                <a:solidFill>
                  <a:srgbClr val="000000"/>
                </a:solidFill>
                <a:latin typeface="Georgia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Senior 
Sales Rep</a:t>
            </a:fld>
            <a:endParaRPr lang="en-US" sz="1200" dirty="0">
              <a:solidFill>
                <a:srgbClr val="000000"/>
              </a:solidFill>
              <a:latin typeface="Georgia"/>
              <a:sym typeface="Calibri" panose="020F0502020204030204" pitchFamily="34" charset="0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C6A38F97-7138-40FF-86E6-6CB373E3DB4B}"/>
              </a:ext>
            </a:extLst>
          </p:cNvPr>
          <p:cNvSpPr>
            <a:spLocks noGrp="1"/>
          </p:cNvSpPr>
          <p:nvPr>
            <p:custDataLst>
              <p:tags r:id="rId16"/>
            </p:custDataLst>
          </p:nvPr>
        </p:nvSpPr>
        <p:spPr bwMode="auto">
          <a:xfrm>
            <a:off x="5264944" y="3594496"/>
            <a:ext cx="103227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C0AC760F-F925-4006-B5F2-C43BB3960E27}" type="datetime'M''''a''r''ke''''t'''' ''''''''-S''eni''''or'' &#10;Sl''aes Rep'''">
              <a:rPr lang="en-US" altLang="en-US" sz="1200">
                <a:solidFill>
                  <a:srgbClr val="000000"/>
                </a:solidFill>
                <a:latin typeface="Georgia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Market -Senior 
Slaes Rep</a:t>
            </a:fld>
            <a:endParaRPr lang="en-US" sz="1200" dirty="0">
              <a:solidFill>
                <a:srgbClr val="000000"/>
              </a:solidFill>
              <a:latin typeface="Georgia"/>
              <a:sym typeface="Calibri" panose="020F0502020204030204" pitchFamily="34" charset="0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A1D9901-1A08-4BF4-B779-39D01A7B4E31}"/>
              </a:ext>
            </a:extLst>
          </p:cNvPr>
          <p:cNvSpPr>
            <a:spLocks noGrp="1"/>
          </p:cNvSpPr>
          <p:nvPr>
            <p:custDataLst>
              <p:tags r:id="rId17"/>
            </p:custDataLst>
          </p:nvPr>
        </p:nvSpPr>
        <p:spPr bwMode="auto">
          <a:xfrm>
            <a:off x="6655594" y="3594496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899DBAAD-17CD-4DAE-9896-57B8660E1400}" type="datetime'Sa''l''''''es &#10;M''''''a''''''''''''n''ag''e''''''r'''''''">
              <a:rPr lang="en-US" altLang="en-US" sz="1200">
                <a:solidFill>
                  <a:srgbClr val="000000"/>
                </a:solidFill>
                <a:latin typeface="Georgia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Sales 
Manager</a:t>
            </a:fld>
            <a:endParaRPr lang="en-US" sz="1200" dirty="0">
              <a:solidFill>
                <a:srgbClr val="000000"/>
              </a:solidFill>
              <a:latin typeface="Georgia"/>
              <a:sym typeface="Calibri" panose="020F0502020204030204" pitchFamily="34" charset="0"/>
            </a:endParaRP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30D5209E-6DA6-4C6F-B255-D9B3526430B8}"/>
              </a:ext>
            </a:extLst>
          </p:cNvPr>
          <p:cNvSpPr>
            <a:spLocks noGrp="1"/>
          </p:cNvSpPr>
          <p:nvPr>
            <p:custDataLst>
              <p:tags r:id="rId18"/>
            </p:custDataLst>
          </p:nvPr>
        </p:nvSpPr>
        <p:spPr bwMode="auto">
          <a:xfrm>
            <a:off x="7645004" y="3594496"/>
            <a:ext cx="992981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t" anchorCtr="0">
            <a:noAutofit/>
          </a:bodyPr>
          <a:lstStyle>
            <a:lvl1pPr marL="0" indent="0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b="0" kern="1200">
                <a:solidFill>
                  <a:schemeClr val="accent5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226478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387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36063" indent="-226478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28594" algn="l" defTabSz="1219170" rtl="0" eaLnBrk="1" latinLnBrk="0" hangingPunct="1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 algn="ctr" defTabSz="914378">
              <a:spcBef>
                <a:spcPct val="0"/>
              </a:spcBef>
              <a:spcAft>
                <a:spcPct val="0"/>
              </a:spcAft>
              <a:buNone/>
              <a:defRPr/>
            </a:pPr>
            <a:fld id="{FE05F00B-3FA1-4B48-9B21-72918C152BCE}" type="datetime'M''''''ark''''e''t -&#10;S''''al''es M''an''a''''g''''er'''''">
              <a:rPr lang="en-US" altLang="en-US" sz="1200">
                <a:solidFill>
                  <a:srgbClr val="000000"/>
                </a:solidFill>
                <a:latin typeface="Georgia"/>
              </a:rPr>
              <a:pPr marL="0" lvl="1" indent="0" algn="ctr" defTabSz="914378"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t>Market -
Sales Manager</a:t>
            </a:fld>
            <a:endParaRPr lang="en-US" sz="1200" dirty="0">
              <a:solidFill>
                <a:srgbClr val="000000"/>
              </a:solidFill>
              <a:latin typeface="Georgia"/>
              <a:sym typeface="Calibri" panose="020F0502020204030204" pitchFamily="34" charset="0"/>
            </a:endParaRP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2FC88CF6-FD04-4EB8-930F-70A04E85730A}"/>
              </a:ext>
            </a:extLst>
          </p:cNvPr>
          <p:cNvCxnSpPr>
            <a:cxnSpLocks/>
          </p:cNvCxnSpPr>
          <p:nvPr/>
        </p:nvCxnSpPr>
        <p:spPr>
          <a:xfrm>
            <a:off x="896692" y="1728788"/>
            <a:ext cx="0" cy="1826419"/>
          </a:xfrm>
          <a:prstGeom prst="straightConnector1">
            <a:avLst/>
          </a:prstGeom>
          <a:ln w="12700">
            <a:solidFill>
              <a:schemeClr val="tx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CAB75CDE-C6EF-4B6C-BDA6-F94C8B7DACBD}"/>
              </a:ext>
            </a:extLst>
          </p:cNvPr>
          <p:cNvSpPr txBox="1"/>
          <p:nvPr/>
        </p:nvSpPr>
        <p:spPr>
          <a:xfrm rot="16200000">
            <a:off x="-270180" y="2458642"/>
            <a:ext cx="1825423" cy="36552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85800"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Total Cash </a:t>
            </a:r>
            <a:br>
              <a:rPr lang="en-US" sz="1200" dirty="0">
                <a:solidFill>
                  <a:srgbClr val="000000"/>
                </a:solidFill>
                <a:latin typeface="Georgia"/>
              </a:rPr>
            </a:br>
            <a:r>
              <a:rPr lang="en-US" sz="1200" dirty="0">
                <a:solidFill>
                  <a:srgbClr val="000000"/>
                </a:solidFill>
                <a:latin typeface="Georgia"/>
              </a:rPr>
              <a:t>Compensation ($)</a:t>
            </a:r>
          </a:p>
        </p:txBody>
      </p:sp>
      <p:sp>
        <p:nvSpPr>
          <p:cNvPr id="13" name="Rectangle 12" hidden="1">
            <a:extLst>
              <a:ext uri="{FF2B5EF4-FFF2-40B4-BE49-F238E27FC236}">
                <a16:creationId xmlns:a16="http://schemas.microsoft.com/office/drawing/2014/main" id="{917EF3D7-0B42-48BE-979F-04C846C8A4B5}"/>
              </a:ext>
            </a:extLst>
          </p:cNvPr>
          <p:cNvSpPr/>
          <p:nvPr/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685800">
              <a:defRPr/>
            </a:pPr>
            <a:endParaRPr lang="en-US" sz="105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B4A1EE09-73C8-477D-90A8-3C42CA80BF8B}"/>
              </a:ext>
            </a:extLst>
          </p:cNvPr>
          <p:cNvSpPr/>
          <p:nvPr/>
        </p:nvSpPr>
        <p:spPr>
          <a:xfrm>
            <a:off x="6727282" y="1031268"/>
            <a:ext cx="417839" cy="292352"/>
          </a:xfrm>
          <a:prstGeom prst="rect">
            <a:avLst/>
          </a:prstGeom>
          <a:solidFill>
            <a:schemeClr val="accent5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21E73487-961E-454A-93AE-08B37C432B1F}"/>
              </a:ext>
            </a:extLst>
          </p:cNvPr>
          <p:cNvSpPr/>
          <p:nvPr/>
        </p:nvSpPr>
        <p:spPr>
          <a:xfrm>
            <a:off x="6727282" y="1329466"/>
            <a:ext cx="417839" cy="292352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D1A421FA-2C52-4B46-A0C0-10FC7685A124}"/>
              </a:ext>
            </a:extLst>
          </p:cNvPr>
          <p:cNvSpPr/>
          <p:nvPr/>
        </p:nvSpPr>
        <p:spPr>
          <a:xfrm>
            <a:off x="7502701" y="1031268"/>
            <a:ext cx="417839" cy="292352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E88A09B-F685-49B2-8CF6-0B98F1CCFDBB}"/>
              </a:ext>
            </a:extLst>
          </p:cNvPr>
          <p:cNvSpPr/>
          <p:nvPr/>
        </p:nvSpPr>
        <p:spPr>
          <a:xfrm>
            <a:off x="7502701" y="1329466"/>
            <a:ext cx="417839" cy="292352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4B5AC03-B2E4-4A69-A701-1A6CE0310D01}"/>
              </a:ext>
            </a:extLst>
          </p:cNvPr>
          <p:cNvSpPr txBox="1"/>
          <p:nvPr/>
        </p:nvSpPr>
        <p:spPr>
          <a:xfrm rot="16200000">
            <a:off x="6254354" y="1221768"/>
            <a:ext cx="589414" cy="2071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85800"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Client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DA1304D-31EA-4C7F-8671-3AB1717CAB52}"/>
              </a:ext>
            </a:extLst>
          </p:cNvPr>
          <p:cNvSpPr txBox="1"/>
          <p:nvPr/>
        </p:nvSpPr>
        <p:spPr>
          <a:xfrm rot="16200000">
            <a:off x="7029450" y="1221768"/>
            <a:ext cx="589414" cy="20716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85800"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</a:rPr>
              <a:t>Market</a:t>
            </a:r>
          </a:p>
        </p:txBody>
      </p: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E45B76F1-8CA3-41AD-B63F-63B1BEC97707}"/>
              </a:ext>
            </a:extLst>
          </p:cNvPr>
          <p:cNvCxnSpPr>
            <a:cxnSpLocks/>
          </p:cNvCxnSpPr>
          <p:nvPr/>
        </p:nvCxnSpPr>
        <p:spPr>
          <a:xfrm flipH="1">
            <a:off x="7932896" y="1326542"/>
            <a:ext cx="405000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2DB11E53-0B72-4A9B-95A9-5A735A215665}"/>
              </a:ext>
            </a:extLst>
          </p:cNvPr>
          <p:cNvCxnSpPr>
            <a:cxnSpLocks/>
          </p:cNvCxnSpPr>
          <p:nvPr/>
        </p:nvCxnSpPr>
        <p:spPr>
          <a:xfrm flipH="1">
            <a:off x="7932896" y="1621817"/>
            <a:ext cx="405000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B4DFEA6B-16BC-453B-ACD3-D966DE5A2D21}"/>
              </a:ext>
            </a:extLst>
          </p:cNvPr>
          <p:cNvSpPr txBox="1"/>
          <p:nvPr/>
        </p:nvSpPr>
        <p:spPr>
          <a:xfrm>
            <a:off x="8434388" y="1258677"/>
            <a:ext cx="359569" cy="13454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685800"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  <a:cs typeface="Calibri" panose="020F0502020204030204" pitchFamily="34" charset="0"/>
              </a:rPr>
              <a:t>Med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9C7A0374-B1B9-4179-90E6-135FD86461E8}"/>
              </a:ext>
            </a:extLst>
          </p:cNvPr>
          <p:cNvSpPr txBox="1"/>
          <p:nvPr/>
        </p:nvSpPr>
        <p:spPr>
          <a:xfrm>
            <a:off x="8434388" y="1556333"/>
            <a:ext cx="359569" cy="13454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685800"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  <a:cs typeface="Calibri" panose="020F0502020204030204" pitchFamily="34" charset="0"/>
              </a:rPr>
              <a:t>25</a:t>
            </a:r>
            <a:r>
              <a:rPr lang="en-US" sz="1200" baseline="30000" dirty="0">
                <a:solidFill>
                  <a:srgbClr val="000000"/>
                </a:solidFill>
                <a:latin typeface="Georgia"/>
                <a:cs typeface="Calibri" panose="020F0502020204030204" pitchFamily="34" charset="0"/>
              </a:rPr>
              <a:t>th</a:t>
            </a:r>
            <a:r>
              <a:rPr lang="en-US" sz="1200" dirty="0">
                <a:solidFill>
                  <a:srgbClr val="000000"/>
                </a:solidFill>
                <a:latin typeface="Georgia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878BA819-24A4-4CA0-A7AF-7E7E33C4FE30}"/>
              </a:ext>
            </a:extLst>
          </p:cNvPr>
          <p:cNvCxnSpPr>
            <a:cxnSpLocks/>
          </p:cNvCxnSpPr>
          <p:nvPr/>
        </p:nvCxnSpPr>
        <p:spPr>
          <a:xfrm flipH="1">
            <a:off x="7932896" y="1031267"/>
            <a:ext cx="405000" cy="0"/>
          </a:xfrm>
          <a:prstGeom prst="straightConnector1">
            <a:avLst/>
          </a:prstGeom>
          <a:ln w="635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D4909B37-26C9-40BD-9AE7-4ABBC0F4D850}"/>
              </a:ext>
            </a:extLst>
          </p:cNvPr>
          <p:cNvSpPr txBox="1"/>
          <p:nvPr/>
        </p:nvSpPr>
        <p:spPr>
          <a:xfrm>
            <a:off x="8434388" y="961021"/>
            <a:ext cx="359569" cy="13454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defTabSz="685800">
              <a:defRPr/>
            </a:pPr>
            <a:r>
              <a:rPr lang="en-US" sz="1200" dirty="0">
                <a:solidFill>
                  <a:srgbClr val="000000"/>
                </a:solidFill>
                <a:latin typeface="Georgia"/>
                <a:cs typeface="Calibri" panose="020F0502020204030204" pitchFamily="34" charset="0"/>
              </a:rPr>
              <a:t>75</a:t>
            </a:r>
            <a:r>
              <a:rPr lang="en-US" sz="1200" baseline="30000" dirty="0">
                <a:solidFill>
                  <a:srgbClr val="000000"/>
                </a:solidFill>
                <a:latin typeface="Georgia"/>
                <a:cs typeface="Calibri" panose="020F0502020204030204" pitchFamily="34" charset="0"/>
              </a:rPr>
              <a:t>th</a:t>
            </a:r>
            <a:r>
              <a:rPr lang="en-US" sz="1200" dirty="0">
                <a:solidFill>
                  <a:srgbClr val="000000"/>
                </a:solidFill>
                <a:latin typeface="Georgia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5383101-9656-4FFC-A35F-2D2FBB12FE40}"/>
              </a:ext>
            </a:extLst>
          </p:cNvPr>
          <p:cNvSpPr/>
          <p:nvPr/>
        </p:nvSpPr>
        <p:spPr>
          <a:xfrm>
            <a:off x="467916" y="4051005"/>
            <a:ext cx="8266509" cy="613864"/>
          </a:xfrm>
          <a:prstGeom prst="right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4CD4914-D299-46D0-9522-52B7D277E2D2}"/>
              </a:ext>
            </a:extLst>
          </p:cNvPr>
          <p:cNvCxnSpPr>
            <a:cxnSpLocks/>
          </p:cNvCxnSpPr>
          <p:nvPr/>
        </p:nvCxnSpPr>
        <p:spPr>
          <a:xfrm flipV="1">
            <a:off x="607219" y="4036219"/>
            <a:ext cx="457200" cy="642938"/>
          </a:xfrm>
          <a:prstGeom prst="line">
            <a:avLst/>
          </a:prstGeom>
          <a:ln w="3810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7F74E23D-409F-4D0E-90D3-33762805EA10}"/>
              </a:ext>
            </a:extLst>
          </p:cNvPr>
          <p:cNvSpPr/>
          <p:nvPr/>
        </p:nvSpPr>
        <p:spPr>
          <a:xfrm rot="18306129">
            <a:off x="111500" y="3864769"/>
            <a:ext cx="795528" cy="6858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Georgi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F8C510-794D-41D5-BB2B-869FF8E577AA}"/>
              </a:ext>
            </a:extLst>
          </p:cNvPr>
          <p:cNvSpPr txBox="1"/>
          <p:nvPr/>
        </p:nvSpPr>
        <p:spPr>
          <a:xfrm>
            <a:off x="1473464" y="4267768"/>
            <a:ext cx="6255415" cy="180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 defTabSz="685800">
              <a:defRPr/>
            </a:pPr>
            <a:r>
              <a:rPr lang="en-US" sz="1200" b="1" dirty="0">
                <a:solidFill>
                  <a:prstClr val="white"/>
                </a:solidFill>
                <a:latin typeface="Georgia"/>
              </a:rPr>
              <a:t>As roles go from junior to senior there should be  a natural progression in pay</a:t>
            </a:r>
          </a:p>
        </p:txBody>
      </p:sp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699E634-AC57-4E92-99EF-3A0C44217ADC}"/>
              </a:ext>
            </a:extLst>
          </p:cNvPr>
          <p:cNvSpPr/>
          <p:nvPr/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 defTabSz="685800">
              <a:defRPr/>
            </a:pPr>
            <a:endParaRPr lang="en-US" sz="1200" dirty="0">
              <a:solidFill>
                <a:prstClr val="white"/>
              </a:solidFill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2659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TdnlmkPR9d7NXUj7NAG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7h_oc1_svHaG_GTwHVc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fT8whYqIOxr.nUFONj7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s9pxOl1Tkyw5As09abc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ZzPZ5R8qeAzdFEpBqg3g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gbfKpHkowhP6SyMXfV_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ZMYDb4SifJbDs4RxXUn1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7pCsEUq4GzPn.G7g8f..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0X0B7fIfuAay6_ZgHIA5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PBfFdWxCxMMHJK6I0KT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wrYV48EPd8jaFXSjxix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_a0_YRIhgmlinXKsDdqG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_LMI0KxvOG2Y4tbDEBH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O84N_FubzxI5syHOhXG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7ggNEPJKcUAqP_Y0mM6.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WrZ1cHCaFpQMqs0PShG4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eIn_8rXj4vSWZBSUXFPq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1c2ohdwyhKOzBoF5f8Wz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_vcdPCvr_rQKGOb4CO4w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92t104QsmTmivQ5poW3Q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f1QIDfyqsAQW9FLKRQSC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_5_y8uYAD6X56ANzKJ.9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cZX7FBte_mYG7OJJYI3.A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IbwvC_GzJ2Xwor.QH7s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5IjoT8Pw.kbN1fY16Ba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X7NV_53V7qRDaUijs43r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BPNu5YR7vfmseyw.eFo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9PiB2kJA_0UFzAnI6M8f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UdMMb_x0pz3ssnDEbbK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vXCvbmTf4xiU03GjiLfO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S9GziHkGReA_vVZqgmD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DEyFZZDipJvgIZhfTUXq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0NG0qv1N6MQU_Hc7txWf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Bedw91O3WKHI02X3U7U3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Schh6qo.XHVq3mVC5Al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4VXo564ubWXrJMvhd.U0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d5Ye3cHIzQqTkFEwnb9T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923p33_LKxaWo0AyDV1k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_HFRVUqDFLoAbVTn002x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4broESEH2hd_wDBz.9G1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BmDpjrvYo0.GfLQVYB.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UVd8daLyzbSBpvZ0ETW4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P2mEml4VDDb2RpbuAO9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JGtNAS2IO1kJIHqDVG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nsyDhUnqQ3Ckuo_4eLI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dEQECIcMk4GIzdYIq4Y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sgYDaov36xlghNSZ_rm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cZpWk56eTG1cU8DG4_T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7wE5I2DyoPu3mi.5Y.v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ZIohDAPMmJUjlNx0lYOB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xh.GL9SDOmKSN3IRmmq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eoT7WEe72tYDzQM97vt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ZyYg9BaUMYFuKRePkCt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ZNVKh_EWmDgGiVg306f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ZRFslspDgTmy7iiGERyC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E9TgW8kujBFCvR16riI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zERb9HtJqd958Sh.Gbz3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2u8Xny7xVBHpP923fAv0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QEIp8zhXaY7VgaOgkzM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fji1y_1EQi5SRJc4.ex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20Ye_BxUyKjIIaomWdI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ZzI6u9R6NXJA49uaswsR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kpe.fbi7fp6eDpJsI0n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aIlKBwt07nri2LMxyVB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MNgbbx_m8TH9gGq19CYU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CJgIa3z5NuHK1fhLc.9h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QFJMGdEANPWhZ0rOgsw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9EFB5G9M9XnjdWipyeT5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UbW0AOw7jSosT7mROOxU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c3mAvJs5ZnfjA6X56Z9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DwY5rdFH_Iqrm_OcMgT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tL7NjzRVAuOR3BjVJq9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ohqxPEs5ngzJmMPXs2C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My7r80xIpd74E1iCe_B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3Qpqb68vK6AHwHxWe2sG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LhXQMA1jd6rZTOQ979s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SVov84c_bHOZwZexFEh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63j7tkRWMNHppqeuBaG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zERb9HtJqd958Sh.Gbz3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6nOrCZCWR1yEOuoyhEos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QEIp8zhXaY7VgaOgkzM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1YdS_MXIt9WmhMtLiwMz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InsByfXkEfRtklTnHxX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1GBrtRStzsMJ3dy_qNc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_23g5h4JUe3tVWmvWG_h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7wvjHNowsr_wKiW2JI0r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Irn78.Tb0kaVbzhk9FD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CJgIa3z5NuHK1fhLc.9h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QFJMGdEANPWhZ0rOgsw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9EFB5G9M9XnjdWipyeT5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UbW0AOw7jSosT7mROOxU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c3mAvJs5ZnfjA6X56Z9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DwY5rdFH_Iqrm_OcMgT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tL7NjzRVAuOR3BjVJq9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ohqxPEs5ngzJmMPXs2C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My7r80xIpd74E1iCe_B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3Qpqb68vK6AHwHxWe2sG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LhXQMA1jd6rZTOQ979s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SVov84c_bHOZwZexFEh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v63j7tkRWMNHppqeuBaG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qS8IC1zVSkzl4sIvO4E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92dDbciIBfQ7OqK7WUW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P_d6Zo2i2FsQ706mrqr8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1082hcjeeYB2kgjkCZX6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L8_Y5ku6xtP9MH77NBl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3PN2GmaEXxEcanngDbu3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MUawNhWvFN209EnrXLYi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g5A3GKQ6I02vH_XL0y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zVIiUVRI9l4FlnchE6V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3b07wQfsOnUw5DjteRjtA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4oHLA9GQ1o0Lt5sSBzw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O7659dgaq8HDA2QhrF8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sSv1ElBwad4ZtYsHYTH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I2WC_ltNVMBAmfb2igdj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0XkJ85.M5YFiMsk27JQA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ZFBTvvjKgit7UGMGLXM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sjPpu84JOrYL5YlMiCz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1050</Words>
  <Application>Microsoft Office PowerPoint</Application>
  <PresentationFormat>On-screen Show (16:9)</PresentationFormat>
  <Paragraphs>256</Paragraphs>
  <Slides>11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think-cell Slide</vt:lpstr>
      <vt:lpstr>IC process timelines</vt:lpstr>
      <vt:lpstr>Composition analysis – Overview &amp; best practice</vt:lpstr>
      <vt:lpstr>Regression analysis – Overview &amp; best practice</vt:lpstr>
      <vt:lpstr>Performance distribution</vt:lpstr>
      <vt:lpstr>Performance distribution – Best practice</vt:lpstr>
      <vt:lpstr>Performance distribution – Common issues</vt:lpstr>
      <vt:lpstr>IC execution and analysis Performance Distribution – Example 1 </vt:lpstr>
      <vt:lpstr>IC execution and analysis  Performance Distribution – Example 2</vt:lpstr>
      <vt:lpstr>Pay differentiation analysis – Overview &amp; best practice</vt:lpstr>
      <vt:lpstr>Boom bust analysis – Overview &amp; best practice</vt:lpstr>
      <vt:lpstr>Internal/external equity – Best practice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ITDIVISION ICP Guidelines 2026 — Executive Summary</dc:title>
  <dc:subject>PptxGenJS Presentation</dc:subject>
  <dc:creator>PptxGenJS</dc:creator>
  <cp:lastModifiedBy>Arslan Sohail</cp:lastModifiedBy>
  <cp:revision>5</cp:revision>
  <dcterms:created xsi:type="dcterms:W3CDTF">2026-04-26T10:15:01Z</dcterms:created>
  <dcterms:modified xsi:type="dcterms:W3CDTF">2026-04-26T13:56:10Z</dcterms:modified>
</cp:coreProperties>
</file>