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5029200" cy="5029200"/>
          </a:xfrm>
          <a:prstGeom prst="ellipse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669280"/>
            <a:ext cx="12188952" cy="1188720"/>
          </a:xfrm>
          <a:prstGeom prst="rect">
            <a:avLst/>
          </a:prstGeom>
          <a:solidFill>
            <a:srgbClr val="0D1A3E"/>
          </a:solidFill>
          <a:ln w="12700">
            <a:solidFill>
              <a:srgbClr val="0D1A3E"/>
            </a:solidFill>
            <a:prstDash val="solid"/>
          </a:ln>
        </p:spPr>
      </p:sp>
      <p:pic>
        <p:nvPicPr>
          <p:cNvPr id="5" name="Image 0" descr="C:\Users\ArslanSohail\Desktop\EPD Incentivwe\nextjs\PPT\extracted\ppt\media\image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5852160"/>
            <a:ext cx="1828800" cy="658368"/>
          </a:xfrm>
          <a:prstGeom prst="rect">
            <a:avLst/>
          </a:prstGeom>
        </p:spPr>
      </p:pic>
      <p:pic>
        <p:nvPicPr>
          <p:cNvPr id="6" name="Image 1" descr="C:\Users\ArslanSohail\Desktop\EPD Incentivwe\nextjs\PPT\extracted\ppt\media\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952" y="5779008"/>
            <a:ext cx="1920240" cy="868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65760" y="5623560"/>
            <a:ext cx="11457432" cy="0"/>
          </a:xfrm>
          <a:prstGeom prst="line">
            <a:avLst/>
          </a:prstGeom>
          <a:noFill/>
          <a:ln w="12700">
            <a:solidFill>
              <a:srgbClr val="009DD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137160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EPD Incentive Platform</a:t>
            </a:r>
            <a:endParaRPr lang="en-US" sz="4200" dirty="0"/>
          </a:p>
        </p:txBody>
      </p:sp>
      <p:sp>
        <p:nvSpPr>
          <p:cNvPr id="9" name="Text 5"/>
          <p:cNvSpPr/>
          <p:nvPr/>
        </p:nvSpPr>
        <p:spPr>
          <a:xfrm>
            <a:off x="457200" y="2423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457200" y="3154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Kazakhstan &amp; CIS | Digital Incentive Management System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384048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" y="38404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Objective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B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 and why</a:t>
            </a:r>
            <a:endParaRPr lang="en-US" sz="1150" dirty="0"/>
          </a:p>
        </p:txBody>
      </p:sp>
      <p:pic>
        <p:nvPicPr>
          <p:cNvPr id="6" name="Image 0" descr="C:\Users\ArslanSohail\Desktop\EPD Incentivwe\nextjs\PPT\extracted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0" y="82296"/>
            <a:ext cx="1691640" cy="804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1106424"/>
            <a:ext cx="73152" cy="5404104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EPD Incentive Platform  |  Executive Summary  |  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28600" y="1234440"/>
            <a:ext cx="11731752" cy="1234440"/>
          </a:xfrm>
          <a:prstGeom prst="roundRect">
            <a:avLst>
              <a:gd name="adj" fmla="val 5185"/>
            </a:avLst>
          </a:prstGeom>
          <a:solidFill>
            <a:srgbClr val="1B2A5E"/>
          </a:solidFill>
          <a:ln w="9525">
            <a:solidFill>
              <a:srgbClr val="1B2A5E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0040" y="1261872"/>
            <a:ext cx="1154887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develop, and deploy a centralized web-based platform that automates the quarterly incentive calculation, review, and sign-off process for Abbott's EPD (Established Pharmaceuticals Division) field force across Kazakhstan and the CIS region.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28600" y="2651760"/>
            <a:ext cx="3819144" cy="2286000"/>
          </a:xfrm>
          <a:prstGeom prst="roundRect">
            <a:avLst>
              <a:gd name="adj" fmla="val 2800"/>
            </a:avLst>
          </a:prstGeom>
          <a:solidFill>
            <a:srgbClr val="F4F6FB"/>
          </a:solidFill>
          <a:ln w="9525">
            <a:solidFill>
              <a:srgbClr val="4F81BD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818132" y="2743200"/>
            <a:ext cx="640080" cy="640080"/>
          </a:xfrm>
          <a:prstGeom prst="ellipse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18132" y="2761488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20040" y="3447288"/>
            <a:ext cx="3636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65760" y="3822192"/>
            <a:ext cx="35448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manual Excel errors by enforcing validated, formula-driven calculations backed by a normalized PostgreSQL database on Supabase.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184904" y="2651760"/>
            <a:ext cx="3819144" cy="2286000"/>
          </a:xfrm>
          <a:prstGeom prst="roundRect">
            <a:avLst>
              <a:gd name="adj" fmla="val 2800"/>
            </a:avLst>
          </a:prstGeom>
          <a:solidFill>
            <a:srgbClr val="F4F6FB"/>
          </a:solidFill>
          <a:ln w="9525">
            <a:solidFill>
              <a:srgbClr val="4F81BD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774436" y="2743200"/>
            <a:ext cx="640080" cy="640080"/>
          </a:xfrm>
          <a:prstGeom prst="ellipse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74436" y="2761488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276344" y="3447288"/>
            <a:ext cx="3636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322064" y="3822192"/>
            <a:ext cx="35448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incentive cycle time from weeks to days via automated workflows, real-time dashboards, and digital sign-off routing.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141208" y="2651760"/>
            <a:ext cx="3819144" cy="2286000"/>
          </a:xfrm>
          <a:prstGeom prst="roundRect">
            <a:avLst>
              <a:gd name="adj" fmla="val 2800"/>
            </a:avLst>
          </a:prstGeom>
          <a:solidFill>
            <a:srgbClr val="F4F6FB"/>
          </a:solidFill>
          <a:ln w="9525">
            <a:solidFill>
              <a:srgbClr val="4F81BD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730740" y="2743200"/>
            <a:ext cx="640080" cy="640080"/>
          </a:xfrm>
          <a:prstGeom prst="ellipse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730740" y="2761488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👁️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8232648" y="3447288"/>
            <a:ext cx="3636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278368" y="3822192"/>
            <a:ext cx="35448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role-based visibility (DVP → RBM → FLM → Med. Rep.) so every stakeholder owns their data with audit-ready records.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High-Level Scope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B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Boundaries, inclusions &amp; phased delivery</a:t>
            </a:r>
            <a:endParaRPr lang="en-US" sz="1150" dirty="0"/>
          </a:p>
        </p:txBody>
      </p:sp>
      <p:pic>
        <p:nvPicPr>
          <p:cNvPr id="6" name="Image 0" descr="C:\Users\ArslanSohail\Desktop\EPD Incentivwe\nextjs\PPT\extracted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0" y="82296"/>
            <a:ext cx="1691640" cy="804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1106424"/>
            <a:ext cx="73152" cy="5404104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EPD Incentive Platform  |  Executive Summary  |  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28600" y="1234440"/>
            <a:ext cx="5486400" cy="4846320"/>
          </a:xfrm>
          <a:prstGeom prst="roundRect">
            <a:avLst>
              <a:gd name="adj" fmla="val 1321"/>
            </a:avLst>
          </a:prstGeom>
          <a:solidFill>
            <a:srgbClr val="F4F6FB"/>
          </a:solidFill>
          <a:ln w="9525">
            <a:solidFill>
              <a:srgbClr val="4F81BD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28600" y="1234440"/>
            <a:ext cx="5486400" cy="41148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125272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 SCOPE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" y="1755648"/>
            <a:ext cx="54864" cy="475488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175564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– Data &amp; Infra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200253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Supabase schema (13 tables), CSV-to-DB seed pipelines, RLS security policies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20040" y="2450592"/>
            <a:ext cx="54864" cy="475488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245059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– Core Dashboard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26974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role-based portal: Summary, Detailed, Sign-Off, Product Promo views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20040" y="3145536"/>
            <a:ext cx="54864" cy="475488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314553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– Analytics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339242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Quarter-over-quarter trend analysis, top-performer leaderboards, exportable Excel/PDF reports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3840480"/>
            <a:ext cx="54864" cy="475488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38404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– Auth &amp; Roles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7200" y="408736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SSO: DVP, RBM, FLM, Med. Rep. with scoped data access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20040" y="4535424"/>
            <a:ext cx="54864" cy="475488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453542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– Automation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57200" y="478231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quarterly data ingestion, e-signature sign-off workflow, email notifications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20040" y="5230368"/>
            <a:ext cx="54864" cy="475488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523036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57200" y="547725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Kazakhstan (KZ) + Georgia (Country 87) with multi-currency LC/USD reporting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971032" y="1234440"/>
            <a:ext cx="5989320" cy="2148840"/>
          </a:xfrm>
          <a:prstGeom prst="roundRect">
            <a:avLst>
              <a:gd name="adj" fmla="val 2979"/>
            </a:avLst>
          </a:prstGeom>
          <a:solidFill>
            <a:srgbClr val="FFF4F4"/>
          </a:solidFill>
          <a:ln w="9525">
            <a:solidFill>
              <a:srgbClr val="C0504D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971032" y="1234440"/>
            <a:ext cx="5989320" cy="41148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062472" y="1252728"/>
            <a:ext cx="5806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OUT OF SCOPE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126480" y="1755648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ERP / SAP integration (future phase)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126480" y="2157984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Mobile native app (web-responsive only)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6126480" y="256032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Global markets outside KZ / Georgia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126480" y="2962656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Payroll system direct write-back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5971032" y="3538728"/>
            <a:ext cx="1424178" cy="1115568"/>
          </a:xfrm>
          <a:prstGeom prst="roundRect">
            <a:avLst>
              <a:gd name="adj" fmla="val 5738"/>
            </a:avLst>
          </a:prstGeom>
          <a:solidFill>
            <a:srgbClr val="1B2A5E"/>
          </a:solidFill>
          <a:ln w="9525">
            <a:solidFill>
              <a:srgbClr val="1B2A5E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6016752" y="3593592"/>
            <a:ext cx="13327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</a:t>
            </a:r>
            <a:endParaRPr lang="en-US" sz="2600" dirty="0"/>
          </a:p>
        </p:txBody>
      </p:sp>
      <p:sp>
        <p:nvSpPr>
          <p:cNvPr id="41" name="Text 38"/>
          <p:cNvSpPr/>
          <p:nvPr/>
        </p:nvSpPr>
        <p:spPr>
          <a:xfrm>
            <a:off x="6016752" y="4142232"/>
            <a:ext cx="133273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per Quarter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472934" y="3538728"/>
            <a:ext cx="1424178" cy="1115568"/>
          </a:xfrm>
          <a:prstGeom prst="roundRect">
            <a:avLst>
              <a:gd name="adj" fmla="val 5738"/>
            </a:avLst>
          </a:prstGeom>
          <a:solidFill>
            <a:srgbClr val="1B2A5E"/>
          </a:solidFill>
          <a:ln w="9525">
            <a:solidFill>
              <a:srgbClr val="1B2A5E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7518654" y="3593592"/>
            <a:ext cx="13327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600" dirty="0"/>
          </a:p>
        </p:txBody>
      </p:sp>
      <p:sp>
        <p:nvSpPr>
          <p:cNvPr id="44" name="Text 41"/>
          <p:cNvSpPr/>
          <p:nvPr/>
        </p:nvSpPr>
        <p:spPr>
          <a:xfrm>
            <a:off x="7518654" y="4142232"/>
            <a:ext cx="133273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8974836" y="3538728"/>
            <a:ext cx="1424178" cy="1115568"/>
          </a:xfrm>
          <a:prstGeom prst="roundRect">
            <a:avLst>
              <a:gd name="adj" fmla="val 5738"/>
            </a:avLst>
          </a:prstGeom>
          <a:solidFill>
            <a:srgbClr val="1B2A5E"/>
          </a:solidFill>
          <a:ln w="9525">
            <a:solidFill>
              <a:srgbClr val="1B2A5E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9020556" y="3593592"/>
            <a:ext cx="13327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47" name="Text 44"/>
          <p:cNvSpPr/>
          <p:nvPr/>
        </p:nvSpPr>
        <p:spPr>
          <a:xfrm>
            <a:off x="9020556" y="4142232"/>
            <a:ext cx="133273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Phases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10476738" y="3538728"/>
            <a:ext cx="1424178" cy="1115568"/>
          </a:xfrm>
          <a:prstGeom prst="roundRect">
            <a:avLst>
              <a:gd name="adj" fmla="val 5738"/>
            </a:avLst>
          </a:prstGeom>
          <a:solidFill>
            <a:srgbClr val="1B2A5E"/>
          </a:solidFill>
          <a:ln w="9525">
            <a:solidFill>
              <a:srgbClr val="1B2A5E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49" name="Text 46"/>
          <p:cNvSpPr/>
          <p:nvPr/>
        </p:nvSpPr>
        <p:spPr>
          <a:xfrm>
            <a:off x="10522458" y="3593592"/>
            <a:ext cx="13327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50" name="Text 47"/>
          <p:cNvSpPr/>
          <p:nvPr/>
        </p:nvSpPr>
        <p:spPr>
          <a:xfrm>
            <a:off x="10522458" y="4142232"/>
            <a:ext cx="133273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5971032" y="4773168"/>
            <a:ext cx="5989320" cy="1307592"/>
          </a:xfrm>
          <a:prstGeom prst="roundRect">
            <a:avLst>
              <a:gd name="adj" fmla="val 4895"/>
            </a:avLst>
          </a:prstGeom>
          <a:solidFill>
            <a:srgbClr val="F4F6FB"/>
          </a:solidFill>
          <a:ln w="9525">
            <a:solidFill>
              <a:srgbClr val="4F81BD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52" name="Text 49"/>
          <p:cNvSpPr/>
          <p:nvPr/>
        </p:nvSpPr>
        <p:spPr>
          <a:xfrm>
            <a:off x="6062472" y="4809744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TIMELINE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6016752" y="5138928"/>
            <a:ext cx="1405890" cy="256032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016752" y="5431536"/>
            <a:ext cx="140589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Done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7514082" y="5138928"/>
            <a:ext cx="1405890" cy="256032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514082" y="5431536"/>
            <a:ext cx="140589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In Progress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9011412" y="5138928"/>
            <a:ext cx="1405890" cy="256032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011412" y="5431536"/>
            <a:ext cx="140589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Planned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10508742" y="5138928"/>
            <a:ext cx="1405890" cy="256032"/>
          </a:xfrm>
          <a:prstGeom prst="rect">
            <a:avLst/>
          </a:prstGeom>
          <a:solidFill>
            <a:srgbClr val="8096B4"/>
          </a:solidFill>
          <a:ln w="12700">
            <a:solidFill>
              <a:srgbClr val="8096B4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0508742" y="5431536"/>
            <a:ext cx="140589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P4-5 Roadmap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B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Current-state pain points driving this initiative</a:t>
            </a:r>
            <a:endParaRPr lang="en-US" sz="1150" dirty="0"/>
          </a:p>
        </p:txBody>
      </p:sp>
      <p:pic>
        <p:nvPicPr>
          <p:cNvPr id="6" name="Image 0" descr="C:\Users\ArslanSohail\Desktop\EPD Incentivwe\nextjs\PPT\extracted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0" y="82296"/>
            <a:ext cx="1691640" cy="804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1106424"/>
            <a:ext cx="73152" cy="5404104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EPD Incentive Platform  |  Executive Summary  |  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28600" y="1234440"/>
            <a:ext cx="11731752" cy="530352"/>
          </a:xfrm>
          <a:prstGeom prst="roundRect">
            <a:avLst>
              <a:gd name="adj" fmla="val 12069"/>
            </a:avLst>
          </a:prstGeom>
          <a:solidFill>
            <a:srgbClr val="FFF0F0"/>
          </a:solidFill>
          <a:ln w="9525">
            <a:solidFill>
              <a:srgbClr val="C0504D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65760" y="1261872"/>
            <a:ext cx="11457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Current State:  Quarterly incentive calculations are managed entirely in a complex, multi-sheet Excel workbook with 9 inter-linked CSVs — creating significant risk of manual errors, version conflicts, and delayed approvals.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28600" y="1874520"/>
            <a:ext cx="3800856" cy="2221992"/>
          </a:xfrm>
          <a:prstGeom prst="roundRect">
            <a:avLst>
              <a:gd name="adj" fmla="val 2881"/>
            </a:avLst>
          </a:prstGeom>
          <a:solidFill>
            <a:srgbClr val="F4F6FB"/>
          </a:solidFill>
          <a:ln w="9525">
            <a:solidFill>
              <a:srgbClr val="C0504D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28600" y="1874520"/>
            <a:ext cx="3800856" cy="256032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1752" y="1883664"/>
            <a:ext cx="3654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Manual Data Entry &amp; Calculation Errors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20040" y="2167128"/>
            <a:ext cx="361797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inter-linked CSV/Excel files with no data validation layer. Comma-formatted numbers (e.g., '395,525.00'), Cyrillic character mismatches, and staggered column headers cause import failures and silent data corruption each quarter.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94048" y="1874520"/>
            <a:ext cx="3800856" cy="2221992"/>
          </a:xfrm>
          <a:prstGeom prst="roundRect">
            <a:avLst>
              <a:gd name="adj" fmla="val 2881"/>
            </a:avLst>
          </a:prstGeom>
          <a:solidFill>
            <a:srgbClr val="F4F6FB"/>
          </a:solidFill>
          <a:ln w="9525">
            <a:solidFill>
              <a:srgbClr val="F79646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194048" y="1874520"/>
            <a:ext cx="3800856" cy="256032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67200" y="1883664"/>
            <a:ext cx="3654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🗃️  No Single Source of Truth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285488" y="2167128"/>
            <a:ext cx="361797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 data is scattered: Staff_Input.csv, Mapping.csv, TCFA.csv, TIC.csv, Summary_calculation.csv, and others. Any change to one file is not propagated — leading to inconsistencies between manager views and rep payouts.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8159496" y="1874520"/>
            <a:ext cx="3800856" cy="2221992"/>
          </a:xfrm>
          <a:prstGeom prst="roundRect">
            <a:avLst>
              <a:gd name="adj" fmla="val 2881"/>
            </a:avLst>
          </a:prstGeom>
          <a:solidFill>
            <a:srgbClr val="F4F6FB"/>
          </a:solidFill>
          <a:ln w="9525">
            <a:solidFill>
              <a:srgbClr val="C0504D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159496" y="1874520"/>
            <a:ext cx="3800856" cy="256032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32648" y="1883664"/>
            <a:ext cx="3654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 Zero Role-Based Access Control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8250936" y="2167128"/>
            <a:ext cx="361797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shared Excel file is emailed to all stakeholders. DVPs can see confidential data of all regions; FLMs can inadvertently overwrite other teams' records. There is no audit trail of who changed what and when.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28600" y="4233672"/>
            <a:ext cx="3800856" cy="2221992"/>
          </a:xfrm>
          <a:prstGeom prst="roundRect">
            <a:avLst>
              <a:gd name="adj" fmla="val 2881"/>
            </a:avLst>
          </a:prstGeom>
          <a:solidFill>
            <a:srgbClr val="F4F6FB"/>
          </a:solidFill>
          <a:ln w="9525">
            <a:solidFill>
              <a:srgbClr val="F79646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28600" y="4233672"/>
            <a:ext cx="3800856" cy="256032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01752" y="4242816"/>
            <a:ext cx="3654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Slow Sign-Off &amp; Approval Cycle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320040" y="4526280"/>
            <a:ext cx="361797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sign-off process requires manual email chains between DVPs, RBMs, and FLMs. A single revision request can stall the cycle by 5–10 business days, delaying rep payments and reducing field-force morale.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194048" y="4233672"/>
            <a:ext cx="3800856" cy="2221992"/>
          </a:xfrm>
          <a:prstGeom prst="roundRect">
            <a:avLst>
              <a:gd name="adj" fmla="val 2881"/>
            </a:avLst>
          </a:prstGeom>
          <a:solidFill>
            <a:srgbClr val="F4F6FB"/>
          </a:solidFill>
          <a:ln w="9525">
            <a:solidFill>
              <a:srgbClr val="1F497D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194048" y="4233672"/>
            <a:ext cx="3800856" cy="256032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267200" y="4242816"/>
            <a:ext cx="3654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No Historical Analytics or Trends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285488" y="4526280"/>
            <a:ext cx="361797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quarter's data lives in a separate Excel version. Year-over-year performance comparisons, rep attrition impact, and product-level trend analysis are impossible without costly manual consolidation effort.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8159496" y="4233672"/>
            <a:ext cx="3800856" cy="2221992"/>
          </a:xfrm>
          <a:prstGeom prst="roundRect">
            <a:avLst>
              <a:gd name="adj" fmla="val 2881"/>
            </a:avLst>
          </a:prstGeom>
          <a:solidFill>
            <a:srgbClr val="F4F6FB"/>
          </a:solidFill>
          <a:ln w="9525">
            <a:solidFill>
              <a:srgbClr val="1F497D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8159496" y="4233672"/>
            <a:ext cx="3800856" cy="256032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232648" y="4242816"/>
            <a:ext cx="3654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Scalability Bottleneck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8250936" y="4526280"/>
            <a:ext cx="361797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quarter requires regenerating the entire 107KB static JS data file. Adding a country, product, or promo-line requires structural changes to all inter-linked sheets — not scalable as EPD expands.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Technical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B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integration layers</a:t>
            </a:r>
            <a:endParaRPr lang="en-US" sz="1150" dirty="0"/>
          </a:p>
        </p:txBody>
      </p:sp>
      <p:pic>
        <p:nvPicPr>
          <p:cNvPr id="6" name="Image 0" descr="C:\Users\ArslanSohail\Desktop\EPD Incentivwe\nextjs\PPT\extracted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0" y="82296"/>
            <a:ext cx="1691640" cy="804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1106424"/>
            <a:ext cx="73152" cy="5404104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EPD Incentive Platform  |  Executive Summary  |  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64592" y="1188720"/>
            <a:ext cx="11859768" cy="1353312"/>
          </a:xfrm>
          <a:prstGeom prst="roundRect">
            <a:avLst>
              <a:gd name="adj" fmla="val 4730"/>
            </a:avLst>
          </a:prstGeom>
          <a:solidFill>
            <a:srgbClr val="1B2A5E"/>
          </a:solidFill>
          <a:ln w="9525">
            <a:solidFill>
              <a:srgbClr val="1B2A5E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74320" y="1234440"/>
            <a:ext cx="11640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  –  Next.js 14 (App Router)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164592" y="2606040"/>
            <a:ext cx="11859768" cy="777240"/>
          </a:xfrm>
          <a:prstGeom prst="roundRect">
            <a:avLst>
              <a:gd name="adj" fmla="val 8235"/>
            </a:avLst>
          </a:prstGeom>
          <a:solidFill>
            <a:srgbClr val="1F497D"/>
          </a:solidFill>
          <a:ln w="9525">
            <a:solidFill>
              <a:srgbClr val="1F497D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74320" y="2651760"/>
            <a:ext cx="11640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BFF LAYER  –  Next.js API Routes &amp; Server Actions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164592" y="3447288"/>
            <a:ext cx="11859768" cy="960120"/>
          </a:xfrm>
          <a:prstGeom prst="roundRect">
            <a:avLst>
              <a:gd name="adj" fmla="val 6667"/>
            </a:avLst>
          </a:prstGeom>
          <a:solidFill>
            <a:srgbClr val="009DD9"/>
          </a:solidFill>
          <a:ln w="9525">
            <a:solidFill>
              <a:srgbClr val="009DD9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274320" y="3493008"/>
            <a:ext cx="11640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 –  Supabase PostgreSQL (13 Tables + RLS)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164592" y="4471416"/>
            <a:ext cx="11859768" cy="713232"/>
          </a:xfrm>
          <a:prstGeom prst="roundRect">
            <a:avLst>
              <a:gd name="adj" fmla="val 8974"/>
            </a:avLst>
          </a:prstGeom>
          <a:solidFill>
            <a:srgbClr val="0B5394"/>
          </a:solidFill>
          <a:ln w="9525">
            <a:solidFill>
              <a:srgbClr val="0B5394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274320" y="4517136"/>
            <a:ext cx="11640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LAYER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274320" y="1508760"/>
            <a:ext cx="223479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BACC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10896" y="1536192"/>
            <a:ext cx="216164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10896" y="1938528"/>
            <a:ext cx="216164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filters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2600554" y="1508760"/>
            <a:ext cx="223479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BACC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637130" y="1536192"/>
            <a:ext cx="216164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637130" y="1938528"/>
            <a:ext cx="216164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Rep-level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breakdown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4926787" y="1508760"/>
            <a:ext cx="223479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BACC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63363" y="1536192"/>
            <a:ext cx="216164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963363" y="1938528"/>
            <a:ext cx="216164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7253021" y="1508760"/>
            <a:ext cx="223479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BACC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289597" y="1536192"/>
            <a:ext cx="216164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289597" y="1938528"/>
            <a:ext cx="216164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approval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e-signature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9579254" y="1508760"/>
            <a:ext cx="223479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BACC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15830" y="1536192"/>
            <a:ext cx="216164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9615830" y="1938528"/>
            <a:ext cx="216164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roster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tracking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274320" y="2679192"/>
            <a:ext cx="2798064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10896" y="2697480"/>
            <a:ext cx="27249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Middleware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(Role Guard)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182112" y="2679192"/>
            <a:ext cx="2798064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218688" y="2697480"/>
            <a:ext cx="27249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Fetch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Actions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6089904" y="2679192"/>
            <a:ext cx="2798064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126480" y="2697480"/>
            <a:ext cx="27249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API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(Excel / PDF)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997696" y="2679192"/>
            <a:ext cx="2798064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034272" y="2697480"/>
            <a:ext cx="27249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API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Engine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274320" y="3538728"/>
            <a:ext cx="2234794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10896" y="3557016"/>
            <a:ext cx="216164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quarterly_performance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2600554" y="3538728"/>
            <a:ext cx="2234794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637130" y="3557016"/>
            <a:ext cx="216164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product_performance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incentive_calculations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4926787" y="3538728"/>
            <a:ext cx="2234794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963363" y="3557016"/>
            <a:ext cx="216164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tcfa_scores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promo_line_products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7253021" y="3538728"/>
            <a:ext cx="2234794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289597" y="3557016"/>
            <a:ext cx="216164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/ cities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/ quarters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9579254" y="3538728"/>
            <a:ext cx="2234794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615830" y="3557016"/>
            <a:ext cx="216164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Policies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(Row-Level Security)</a:t>
            </a:r>
            <a:endParaRPr lang="en-US" sz="750" dirty="0"/>
          </a:p>
        </p:txBody>
      </p:sp>
      <p:sp>
        <p:nvSpPr>
          <p:cNvPr id="52" name="Shape 49"/>
          <p:cNvSpPr/>
          <p:nvPr/>
        </p:nvSpPr>
        <p:spPr>
          <a:xfrm>
            <a:off x="274320" y="4553712"/>
            <a:ext cx="2651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4BACC6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10896" y="4572000"/>
            <a:ext cx="2578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Cloud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(PostgreSQL + Auth)</a:t>
            </a:r>
            <a:endParaRPr lang="en-US" sz="750" dirty="0"/>
          </a:p>
        </p:txBody>
      </p:sp>
      <p:sp>
        <p:nvSpPr>
          <p:cNvPr id="54" name="Shape 51"/>
          <p:cNvSpPr/>
          <p:nvPr/>
        </p:nvSpPr>
        <p:spPr>
          <a:xfrm>
            <a:off x="3026664" y="4553712"/>
            <a:ext cx="21945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4BACC6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063240" y="4572000"/>
            <a:ext cx="21214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Edge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(Next.js Hosting)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5321808" y="4553712"/>
            <a:ext cx="21031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4BACC6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358384" y="4572000"/>
            <a:ext cx="20299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(CI/CD Pipeline)</a:t>
            </a:r>
            <a:endParaRPr lang="en-US" sz="750" dirty="0"/>
          </a:p>
        </p:txBody>
      </p:sp>
      <p:sp>
        <p:nvSpPr>
          <p:cNvPr id="58" name="Shape 55"/>
          <p:cNvSpPr/>
          <p:nvPr/>
        </p:nvSpPr>
        <p:spPr>
          <a:xfrm>
            <a:off x="7525512" y="4553712"/>
            <a:ext cx="23774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4BACC6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562088" y="4572000"/>
            <a:ext cx="23042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Storage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(CSV Exports)</a:t>
            </a:r>
            <a:endParaRPr lang="en-US" sz="750" dirty="0"/>
          </a:p>
        </p:txBody>
      </p:sp>
      <p:sp>
        <p:nvSpPr>
          <p:cNvPr id="60" name="Shape 57"/>
          <p:cNvSpPr/>
          <p:nvPr/>
        </p:nvSpPr>
        <p:spPr>
          <a:xfrm>
            <a:off x="10003536" y="4553712"/>
            <a:ext cx="21488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4BACC6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0040112" y="4572000"/>
            <a:ext cx="20756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Secrets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(.env / Vault)</a:t>
            </a:r>
            <a:endParaRPr lang="en-US" sz="750" dirty="0"/>
          </a:p>
        </p:txBody>
      </p:sp>
      <p:sp>
        <p:nvSpPr>
          <p:cNvPr id="62" name="Shape 59"/>
          <p:cNvSpPr/>
          <p:nvPr/>
        </p:nvSpPr>
        <p:spPr>
          <a:xfrm>
            <a:off x="5637276" y="2542032"/>
            <a:ext cx="914400" cy="0"/>
          </a:xfrm>
          <a:prstGeom prst="line">
            <a:avLst/>
          </a:prstGeom>
          <a:noFill/>
          <a:ln w="19050">
            <a:solidFill>
              <a:srgbClr val="4BACC6"/>
            </a:solidFill>
            <a:prstDash val="dash"/>
          </a:ln>
        </p:spPr>
      </p:sp>
      <p:sp>
        <p:nvSpPr>
          <p:cNvPr id="63" name="Text 60"/>
          <p:cNvSpPr/>
          <p:nvPr/>
        </p:nvSpPr>
        <p:spPr>
          <a:xfrm>
            <a:off x="5984748" y="2532888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ACC6"/>
                </a:solidFill>
              </a:rPr>
              <a:t>▼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5637276" y="3383280"/>
            <a:ext cx="914400" cy="0"/>
          </a:xfrm>
          <a:prstGeom prst="line">
            <a:avLst/>
          </a:prstGeom>
          <a:noFill/>
          <a:ln w="19050">
            <a:solidFill>
              <a:srgbClr val="4BACC6"/>
            </a:solidFill>
            <a:prstDash val="dash"/>
          </a:ln>
        </p:spPr>
      </p:sp>
      <p:sp>
        <p:nvSpPr>
          <p:cNvPr id="65" name="Text 62"/>
          <p:cNvSpPr/>
          <p:nvPr/>
        </p:nvSpPr>
        <p:spPr>
          <a:xfrm>
            <a:off x="5984748" y="3374136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ACC6"/>
                </a:solidFill>
              </a:rPr>
              <a:t>▼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5637276" y="4407408"/>
            <a:ext cx="914400" cy="0"/>
          </a:xfrm>
          <a:prstGeom prst="line">
            <a:avLst/>
          </a:prstGeom>
          <a:noFill/>
          <a:ln w="19050">
            <a:solidFill>
              <a:srgbClr val="4BACC6"/>
            </a:solidFill>
            <a:prstDash val="dash"/>
          </a:ln>
        </p:spPr>
      </p:sp>
      <p:sp>
        <p:nvSpPr>
          <p:cNvPr id="67" name="Text 64"/>
          <p:cNvSpPr/>
          <p:nvPr/>
        </p:nvSpPr>
        <p:spPr>
          <a:xfrm>
            <a:off x="5984748" y="4398264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ACC6"/>
                </a:solidFill>
              </a:rPr>
              <a:t>▼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Risk Register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B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risks with mitigation strategies</a:t>
            </a:r>
            <a:endParaRPr lang="en-US" sz="1150" dirty="0"/>
          </a:p>
        </p:txBody>
      </p:sp>
      <p:pic>
        <p:nvPicPr>
          <p:cNvPr id="6" name="Image 0" descr="C:\Users\ArslanSohail\Desktop\EPD Incentivwe\nextjs\PPT\extracted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0" y="82296"/>
            <a:ext cx="1691640" cy="804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1106424"/>
            <a:ext cx="73152" cy="5404104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EPD Incentive Platform  |  Executive Summary  |  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28600" y="1234440"/>
            <a:ext cx="11731752" cy="3657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1252728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7240" y="125272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Description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703320" y="125272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617720" y="125272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532120" y="125272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Strategy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28600" y="1609344"/>
            <a:ext cx="11731752" cy="658368"/>
          </a:xfrm>
          <a:prstGeom prst="rect">
            <a:avLst/>
          </a:prstGeom>
          <a:solidFill>
            <a:srgbClr val="F4F6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1645920"/>
            <a:ext cx="411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R01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68096" y="1645920"/>
            <a:ext cx="2852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issues from source CSVs (Cyrillic names, comma-formatted numbers, blank columns)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730752" y="1792224"/>
            <a:ext cx="768096" cy="292608"/>
          </a:xfrm>
          <a:prstGeom prst="roundRect">
            <a:avLst>
              <a:gd name="adj" fmla="val 12500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730752" y="179222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645152" y="1792224"/>
            <a:ext cx="768096" cy="292608"/>
          </a:xfrm>
          <a:prstGeom prst="roundRect">
            <a:avLst>
              <a:gd name="adj" fmla="val 12500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45152" y="179222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541264" y="1645920"/>
            <a:ext cx="48280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Pre-migration data cleanse script; strict TypeScript validators; dedicated QA pass comparing DB output vs. source Excel row-by-row.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228600" y="2295144"/>
            <a:ext cx="117317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" y="2331720"/>
            <a:ext cx="411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R02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68096" y="2331720"/>
            <a:ext cx="2852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service outage or free-tier limitations during critical quarter close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3730752" y="2478024"/>
            <a:ext cx="768096" cy="292608"/>
          </a:xfrm>
          <a:prstGeom prst="roundRect">
            <a:avLst>
              <a:gd name="adj" fmla="val 12500"/>
            </a:avLst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730752" y="247802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645152" y="2478024"/>
            <a:ext cx="768096" cy="292608"/>
          </a:xfrm>
          <a:prstGeom prst="roundRect">
            <a:avLst>
              <a:gd name="adj" fmla="val 12500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45152" y="247802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541264" y="2331720"/>
            <a:ext cx="48280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read-only Excel fallback at quarter open; Pro-tier upgrade SLA for go-live; nightly pg_dump backups to Supabase Storage.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228600" y="2980944"/>
            <a:ext cx="11731752" cy="658368"/>
          </a:xfrm>
          <a:prstGeom prst="rect">
            <a:avLst/>
          </a:prstGeom>
          <a:solidFill>
            <a:srgbClr val="F4F6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74320" y="3017520"/>
            <a:ext cx="411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R03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68096" y="3017520"/>
            <a:ext cx="2852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 from additional country onboarding (Georgia / Country 87) or new promo lines mid-quarter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730752" y="3163824"/>
            <a:ext cx="768096" cy="292608"/>
          </a:xfrm>
          <a:prstGeom prst="roundRect">
            <a:avLst>
              <a:gd name="adj" fmla="val 12500"/>
            </a:avLst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730752" y="316382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645152" y="3163824"/>
            <a:ext cx="768096" cy="292608"/>
          </a:xfrm>
          <a:prstGeom prst="roundRect">
            <a:avLst>
              <a:gd name="adj" fmla="val 12500"/>
            </a:avLst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645152" y="316382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541264" y="3017520"/>
            <a:ext cx="48280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Change-control board approval required; modular schema allows country/region rows without structural changes; phased rollout plan.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228600" y="3666744"/>
            <a:ext cx="117317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74320" y="3703320"/>
            <a:ext cx="411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R04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768096" y="3703320"/>
            <a:ext cx="2852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adoption resistance from field force / managers accustomed to Excel workflows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3730752" y="3849624"/>
            <a:ext cx="768096" cy="292608"/>
          </a:xfrm>
          <a:prstGeom prst="roundRect">
            <a:avLst>
              <a:gd name="adj" fmla="val 12500"/>
            </a:avLst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730752" y="384962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4645152" y="3849624"/>
            <a:ext cx="768096" cy="292608"/>
          </a:xfrm>
          <a:prstGeom prst="roundRect">
            <a:avLst>
              <a:gd name="adj" fmla="val 12500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645152" y="384962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5541264" y="3703320"/>
            <a:ext cx="48280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 support during Q1 go-live; in-app contextual tooltips; training sessions per role tier (DVP, RBM, FLM); Excel export always available.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228600" y="4352544"/>
            <a:ext cx="11731752" cy="658368"/>
          </a:xfrm>
          <a:prstGeom prst="rect">
            <a:avLst/>
          </a:prstGeom>
          <a:solidFill>
            <a:srgbClr val="F4F6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74320" y="4389120"/>
            <a:ext cx="411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R05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768096" y="4389120"/>
            <a:ext cx="2852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in sign-off chain blocking quarterly payroll processing timelines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3730752" y="4535424"/>
            <a:ext cx="768096" cy="292608"/>
          </a:xfrm>
          <a:prstGeom prst="roundRect">
            <a:avLst>
              <a:gd name="adj" fmla="val 12500"/>
            </a:avLst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730752" y="453542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4645152" y="4535424"/>
            <a:ext cx="768096" cy="292608"/>
          </a:xfrm>
          <a:prstGeom prst="roundRect">
            <a:avLst>
              <a:gd name="adj" fmla="val 12500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645152" y="453542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5541264" y="4389120"/>
            <a:ext cx="48280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email reminders at 48hr &amp; 24hr before deadline; escalation flag in DVP dashboard; offline approval workaround via PDF export.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228600" y="5038344"/>
            <a:ext cx="117317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274320" y="5074920"/>
            <a:ext cx="411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R06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768096" y="5074920"/>
            <a:ext cx="2852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/ unauthorized access to sensitive incentive and salary data via misconfigured RLS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3730752" y="5221224"/>
            <a:ext cx="768096" cy="292608"/>
          </a:xfrm>
          <a:prstGeom prst="roundRect">
            <a:avLst>
              <a:gd name="adj" fmla="val 12500"/>
            </a:avLst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3730752" y="522122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4645152" y="5221224"/>
            <a:ext cx="768096" cy="292608"/>
          </a:xfrm>
          <a:prstGeom prst="roundRect">
            <a:avLst>
              <a:gd name="adj" fmla="val 12500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645152" y="522122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5541264" y="5074920"/>
            <a:ext cx="48280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Row Level Security enforced at DB layer; penetration test prior to launch; role tokens scoped per user; audit logs enabled.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Dependency Register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B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dependencies required for successful delivery</a:t>
            </a:r>
            <a:endParaRPr lang="en-US" sz="1150" dirty="0"/>
          </a:p>
        </p:txBody>
      </p:sp>
      <p:pic>
        <p:nvPicPr>
          <p:cNvPr id="6" name="Image 0" descr="C:\Users\ArslanSohail\Desktop\EPD Incentivwe\nextjs\PPT\extracted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0" y="82296"/>
            <a:ext cx="1691640" cy="804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1106424"/>
            <a:ext cx="73152" cy="5404104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EPD Incentive Platform  |  Executive Summary  |  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28600" y="1234440"/>
            <a:ext cx="11731752" cy="338328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5176" y="1252728"/>
            <a:ext cx="292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30936" y="1252728"/>
            <a:ext cx="4297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33856" y="1252728"/>
            <a:ext cx="19385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Name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145536" y="1252728"/>
            <a:ext cx="9326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151376" y="1252728"/>
            <a:ext cx="9326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157216" y="1252728"/>
            <a:ext cx="7498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980176" y="1252728"/>
            <a:ext cx="538581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/ Notes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228600" y="1581912"/>
            <a:ext cx="11731752" cy="539496"/>
          </a:xfrm>
          <a:prstGeom prst="rect">
            <a:avLst/>
          </a:prstGeom>
          <a:solidFill>
            <a:srgbClr val="F4F6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65176" y="1691640"/>
            <a:ext cx="292608" cy="310896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65176" y="1691640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30936" y="1618488"/>
            <a:ext cx="429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D01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133856" y="1618488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Project (Prod)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145536" y="1618488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 / IT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4151376" y="1618488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5157216" y="1709928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57216" y="1709928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5989320" y="1618488"/>
            <a:ext cx="5367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Supabase project with Pro tier subscription. URL &amp; service_role key required for DB schema deployment and seeding.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228600" y="2139696"/>
            <a:ext cx="11731752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65176" y="2249424"/>
            <a:ext cx="292608" cy="310896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65176" y="2249424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630936" y="2176272"/>
            <a:ext cx="429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D02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133856" y="2176272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Deployment Account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145536" y="2176272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 / IT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4151376" y="2176272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5157216" y="2267712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157216" y="226771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50" dirty="0"/>
          </a:p>
        </p:txBody>
      </p:sp>
      <p:sp>
        <p:nvSpPr>
          <p:cNvPr id="38" name="Text 35"/>
          <p:cNvSpPr/>
          <p:nvPr/>
        </p:nvSpPr>
        <p:spPr>
          <a:xfrm>
            <a:off x="5989320" y="2176272"/>
            <a:ext cx="5367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Pro or Abbott-managed hosting for Next.js app. Custom domain (epd-incentive.abbott.com) DNS record required.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228600" y="2697480"/>
            <a:ext cx="11731752" cy="539496"/>
          </a:xfrm>
          <a:prstGeom prst="rect">
            <a:avLst/>
          </a:prstGeom>
          <a:solidFill>
            <a:srgbClr val="F4F6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65176" y="2807208"/>
            <a:ext cx="292608" cy="310896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65176" y="2807208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630936" y="2734056"/>
            <a:ext cx="429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D03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1133856" y="2734056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&amp; CI/CD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3145536" y="2734056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4151376" y="2734056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5157216" y="2825496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157216" y="2825496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650" dirty="0"/>
          </a:p>
        </p:txBody>
      </p:sp>
      <p:sp>
        <p:nvSpPr>
          <p:cNvPr id="48" name="Text 45"/>
          <p:cNvSpPr/>
          <p:nvPr/>
        </p:nvSpPr>
        <p:spPr>
          <a:xfrm>
            <a:off x="5989320" y="2734056"/>
            <a:ext cx="5367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(Arslan664/EPD_Incentive_Calculator) is live. GitHub Actions workflow for lint, test, and Vercel deploy to be configured.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228600" y="3255264"/>
            <a:ext cx="11731752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65176" y="3364992"/>
            <a:ext cx="292608" cy="310896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65176" y="3364992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630936" y="3291840"/>
            <a:ext cx="429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D04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1133856" y="3291840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Q1–Q4 Source CSVs (all quarters)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3145536" y="3291840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Abbott KZ Team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4151376" y="3291840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5157216" y="3383280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157216" y="3383280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650" dirty="0"/>
          </a:p>
        </p:txBody>
      </p:sp>
      <p:sp>
        <p:nvSpPr>
          <p:cNvPr id="58" name="Text 55"/>
          <p:cNvSpPr/>
          <p:nvPr/>
        </p:nvSpPr>
        <p:spPr>
          <a:xfrm>
            <a:off x="5989320" y="3291840"/>
            <a:ext cx="5367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2017 and Q2 2017 CSVs available. Q3/Q4 and 2018+ data required for full historical load. Georgia (Country 87) records needed.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228600" y="3813048"/>
            <a:ext cx="11731752" cy="539496"/>
          </a:xfrm>
          <a:prstGeom prst="rect">
            <a:avLst/>
          </a:prstGeom>
          <a:solidFill>
            <a:srgbClr val="F4F6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65176" y="3922776"/>
            <a:ext cx="292608" cy="310896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265176" y="3922776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700" dirty="0"/>
          </a:p>
        </p:txBody>
      </p:sp>
      <p:sp>
        <p:nvSpPr>
          <p:cNvPr id="62" name="Text 59"/>
          <p:cNvSpPr/>
          <p:nvPr/>
        </p:nvSpPr>
        <p:spPr>
          <a:xfrm>
            <a:off x="630936" y="3849624"/>
            <a:ext cx="429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D05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1133856" y="3849624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BC_KZ_2017_V10_FINAL.XLSM (External Formulas)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3145536" y="3849624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Abbott KZ Team</a:t>
            </a:r>
            <a:endParaRPr lang="en-US" sz="750" dirty="0"/>
          </a:p>
        </p:txBody>
      </p:sp>
      <p:sp>
        <p:nvSpPr>
          <p:cNvPr id="65" name="Text 62"/>
          <p:cNvSpPr/>
          <p:nvPr/>
        </p:nvSpPr>
        <p:spPr>
          <a:xfrm>
            <a:off x="4151376" y="3849624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50" dirty="0"/>
          </a:p>
        </p:txBody>
      </p:sp>
      <p:sp>
        <p:nvSpPr>
          <p:cNvPr id="66" name="Shape 63"/>
          <p:cNvSpPr/>
          <p:nvPr/>
        </p:nvSpPr>
        <p:spPr>
          <a:xfrm>
            <a:off x="5157216" y="3941064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157216" y="3941064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50" dirty="0"/>
          </a:p>
        </p:txBody>
      </p:sp>
      <p:sp>
        <p:nvSpPr>
          <p:cNvPr id="68" name="Text 65"/>
          <p:cNvSpPr/>
          <p:nvPr/>
        </p:nvSpPr>
        <p:spPr>
          <a:xfrm>
            <a:off x="5989320" y="3849624"/>
            <a:ext cx="5367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Excel file containing linked formula definitions referenced in Summary_calculation sheet. Required to validate seed script accuracy.</a:t>
            </a:r>
            <a:endParaRPr lang="en-US" sz="750" dirty="0"/>
          </a:p>
        </p:txBody>
      </p:sp>
      <p:sp>
        <p:nvSpPr>
          <p:cNvPr id="69" name="Shape 66"/>
          <p:cNvSpPr/>
          <p:nvPr/>
        </p:nvSpPr>
        <p:spPr>
          <a:xfrm>
            <a:off x="228600" y="4370832"/>
            <a:ext cx="11731752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265176" y="4480560"/>
            <a:ext cx="292608" cy="310896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265176" y="4480560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00" dirty="0"/>
          </a:p>
        </p:txBody>
      </p:sp>
      <p:sp>
        <p:nvSpPr>
          <p:cNvPr id="72" name="Text 69"/>
          <p:cNvSpPr/>
          <p:nvPr/>
        </p:nvSpPr>
        <p:spPr>
          <a:xfrm>
            <a:off x="630936" y="4407408"/>
            <a:ext cx="429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D06</a:t>
            </a:r>
            <a:endParaRPr lang="en-US" sz="800" dirty="0"/>
          </a:p>
        </p:txBody>
      </p:sp>
      <p:sp>
        <p:nvSpPr>
          <p:cNvPr id="73" name="Text 70"/>
          <p:cNvSpPr/>
          <p:nvPr/>
        </p:nvSpPr>
        <p:spPr>
          <a:xfrm>
            <a:off x="1133856" y="4407408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Abbott DVP Sign-Off on Roles &amp; Access Matrix</a:t>
            </a:r>
            <a:endParaRPr lang="en-US" sz="800" dirty="0"/>
          </a:p>
        </p:txBody>
      </p:sp>
      <p:sp>
        <p:nvSpPr>
          <p:cNvPr id="74" name="Text 71"/>
          <p:cNvSpPr/>
          <p:nvPr/>
        </p:nvSpPr>
        <p:spPr>
          <a:xfrm>
            <a:off x="3145536" y="4407408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Abbott Management</a:t>
            </a:r>
            <a:endParaRPr lang="en-US" sz="750" dirty="0"/>
          </a:p>
        </p:txBody>
      </p:sp>
      <p:sp>
        <p:nvSpPr>
          <p:cNvPr id="75" name="Text 72"/>
          <p:cNvSpPr/>
          <p:nvPr/>
        </p:nvSpPr>
        <p:spPr>
          <a:xfrm>
            <a:off x="4151376" y="4407408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sp>
        <p:nvSpPr>
          <p:cNvPr id="76" name="Shape 73"/>
          <p:cNvSpPr/>
          <p:nvPr/>
        </p:nvSpPr>
        <p:spPr>
          <a:xfrm>
            <a:off x="5157216" y="4498848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157216" y="4498848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50" dirty="0"/>
          </a:p>
        </p:txBody>
      </p:sp>
      <p:sp>
        <p:nvSpPr>
          <p:cNvPr id="78" name="Text 75"/>
          <p:cNvSpPr/>
          <p:nvPr/>
        </p:nvSpPr>
        <p:spPr>
          <a:xfrm>
            <a:off x="5989320" y="4407408"/>
            <a:ext cx="5367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approval of RBAC matrix: which role (DVP/RBM/FLM/Rep) sees which data. Required before Supabase Auth configuration begins.</a:t>
            </a:r>
            <a:endParaRPr lang="en-US" sz="750" dirty="0"/>
          </a:p>
        </p:txBody>
      </p:sp>
      <p:sp>
        <p:nvSpPr>
          <p:cNvPr id="79" name="Shape 76"/>
          <p:cNvSpPr/>
          <p:nvPr/>
        </p:nvSpPr>
        <p:spPr>
          <a:xfrm>
            <a:off x="228600" y="4928616"/>
            <a:ext cx="11731752" cy="539496"/>
          </a:xfrm>
          <a:prstGeom prst="rect">
            <a:avLst/>
          </a:prstGeom>
          <a:solidFill>
            <a:srgbClr val="F4F6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265176" y="5038344"/>
            <a:ext cx="292608" cy="310896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265176" y="5038344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00" dirty="0"/>
          </a:p>
        </p:txBody>
      </p:sp>
      <p:sp>
        <p:nvSpPr>
          <p:cNvPr id="82" name="Text 79"/>
          <p:cNvSpPr/>
          <p:nvPr/>
        </p:nvSpPr>
        <p:spPr>
          <a:xfrm>
            <a:off x="630936" y="4965192"/>
            <a:ext cx="429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D07</a:t>
            </a:r>
            <a:endParaRPr lang="en-US" sz="800" dirty="0"/>
          </a:p>
        </p:txBody>
      </p:sp>
      <p:sp>
        <p:nvSpPr>
          <p:cNvPr id="83" name="Text 80"/>
          <p:cNvSpPr/>
          <p:nvPr/>
        </p:nvSpPr>
        <p:spPr>
          <a:xfrm>
            <a:off x="1133856" y="4965192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Participants (FLMs &amp; RBMs for pilot quarter)</a:t>
            </a:r>
            <a:endParaRPr lang="en-US" sz="800" dirty="0"/>
          </a:p>
        </p:txBody>
      </p:sp>
      <p:sp>
        <p:nvSpPr>
          <p:cNvPr id="84" name="Text 81"/>
          <p:cNvSpPr/>
          <p:nvPr/>
        </p:nvSpPr>
        <p:spPr>
          <a:xfrm>
            <a:off x="3145536" y="4965192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Abbott KZ HR</a:t>
            </a:r>
            <a:endParaRPr lang="en-US" sz="750" dirty="0"/>
          </a:p>
        </p:txBody>
      </p:sp>
      <p:sp>
        <p:nvSpPr>
          <p:cNvPr id="85" name="Text 82"/>
          <p:cNvSpPr/>
          <p:nvPr/>
        </p:nvSpPr>
        <p:spPr>
          <a:xfrm>
            <a:off x="4151376" y="4965192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50" dirty="0"/>
          </a:p>
        </p:txBody>
      </p:sp>
      <p:sp>
        <p:nvSpPr>
          <p:cNvPr id="86" name="Shape 83"/>
          <p:cNvSpPr/>
          <p:nvPr/>
        </p:nvSpPr>
        <p:spPr>
          <a:xfrm>
            <a:off x="5157216" y="5056632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8096B4"/>
          </a:solidFill>
          <a:ln w="12700">
            <a:solidFill>
              <a:srgbClr val="8096B4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157216" y="505663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650" dirty="0"/>
          </a:p>
        </p:txBody>
      </p:sp>
      <p:sp>
        <p:nvSpPr>
          <p:cNvPr id="88" name="Text 85"/>
          <p:cNvSpPr/>
          <p:nvPr/>
        </p:nvSpPr>
        <p:spPr>
          <a:xfrm>
            <a:off x="5989320" y="4965192"/>
            <a:ext cx="5367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3 FLMs + 1 RBM to conduct structured UAT against Q2 2017 data. Feedback window: 5 business days.</a:t>
            </a:r>
            <a:endParaRPr lang="en-US" sz="750" dirty="0"/>
          </a:p>
        </p:txBody>
      </p:sp>
      <p:sp>
        <p:nvSpPr>
          <p:cNvPr id="89" name="Shape 86"/>
          <p:cNvSpPr/>
          <p:nvPr/>
        </p:nvSpPr>
        <p:spPr>
          <a:xfrm>
            <a:off x="228600" y="5486400"/>
            <a:ext cx="11731752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265176" y="5596128"/>
            <a:ext cx="292608" cy="310896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265176" y="5596128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00" dirty="0"/>
          </a:p>
        </p:txBody>
      </p:sp>
      <p:sp>
        <p:nvSpPr>
          <p:cNvPr id="92" name="Text 89"/>
          <p:cNvSpPr/>
          <p:nvPr/>
        </p:nvSpPr>
        <p:spPr>
          <a:xfrm>
            <a:off x="630936" y="5522976"/>
            <a:ext cx="429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D08</a:t>
            </a:r>
            <a:endParaRPr lang="en-US" sz="800" dirty="0"/>
          </a:p>
        </p:txBody>
      </p:sp>
      <p:sp>
        <p:nvSpPr>
          <p:cNvPr id="93" name="Text 90"/>
          <p:cNvSpPr/>
          <p:nvPr/>
        </p:nvSpPr>
        <p:spPr>
          <a:xfrm>
            <a:off x="1133856" y="5522976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Rate Policy (LC/USD historical locking)</a:t>
            </a:r>
            <a:endParaRPr lang="en-US" sz="800" dirty="0"/>
          </a:p>
        </p:txBody>
      </p:sp>
      <p:sp>
        <p:nvSpPr>
          <p:cNvPr id="94" name="Text 91"/>
          <p:cNvSpPr/>
          <p:nvPr/>
        </p:nvSpPr>
        <p:spPr>
          <a:xfrm>
            <a:off x="3145536" y="5522976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Abbott Finance</a:t>
            </a:r>
            <a:endParaRPr lang="en-US" sz="750" dirty="0"/>
          </a:p>
        </p:txBody>
      </p:sp>
      <p:sp>
        <p:nvSpPr>
          <p:cNvPr id="95" name="Text 92"/>
          <p:cNvSpPr/>
          <p:nvPr/>
        </p:nvSpPr>
        <p:spPr>
          <a:xfrm>
            <a:off x="4151376" y="5522976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50" dirty="0"/>
          </a:p>
        </p:txBody>
      </p:sp>
      <p:sp>
        <p:nvSpPr>
          <p:cNvPr id="96" name="Shape 93"/>
          <p:cNvSpPr/>
          <p:nvPr/>
        </p:nvSpPr>
        <p:spPr>
          <a:xfrm>
            <a:off x="5157216" y="5614416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5157216" y="5614416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50" dirty="0"/>
          </a:p>
        </p:txBody>
      </p:sp>
      <p:sp>
        <p:nvSpPr>
          <p:cNvPr id="98" name="Text 95"/>
          <p:cNvSpPr/>
          <p:nvPr/>
        </p:nvSpPr>
        <p:spPr>
          <a:xfrm>
            <a:off x="5989320" y="5522976"/>
            <a:ext cx="5367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required: lock historical rates per quarter at time of ingestion (Q1=314.79, Q2=332.70) or allow finance team override.</a:t>
            </a:r>
            <a:endParaRPr lang="en-US" sz="750" dirty="0"/>
          </a:p>
        </p:txBody>
      </p:sp>
      <p:sp>
        <p:nvSpPr>
          <p:cNvPr id="99" name="Text 96"/>
          <p:cNvSpPr/>
          <p:nvPr/>
        </p:nvSpPr>
        <p:spPr>
          <a:xfrm>
            <a:off x="228600" y="61081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KEY:</a:t>
            </a:r>
            <a:endParaRPr lang="en-US" sz="750" dirty="0"/>
          </a:p>
        </p:txBody>
      </p:sp>
      <p:sp>
        <p:nvSpPr>
          <p:cNvPr id="100" name="Shape 97"/>
          <p:cNvSpPr/>
          <p:nvPr/>
        </p:nvSpPr>
        <p:spPr>
          <a:xfrm>
            <a:off x="1143000" y="6108192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1143000" y="610819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650" dirty="0"/>
          </a:p>
        </p:txBody>
      </p:sp>
      <p:sp>
        <p:nvSpPr>
          <p:cNvPr id="102" name="Shape 99"/>
          <p:cNvSpPr/>
          <p:nvPr/>
        </p:nvSpPr>
        <p:spPr>
          <a:xfrm>
            <a:off x="2606040" y="6108192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2606040" y="610819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650" dirty="0"/>
          </a:p>
        </p:txBody>
      </p:sp>
      <p:sp>
        <p:nvSpPr>
          <p:cNvPr id="104" name="Shape 101"/>
          <p:cNvSpPr/>
          <p:nvPr/>
        </p:nvSpPr>
        <p:spPr>
          <a:xfrm>
            <a:off x="4069080" y="6108192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4069080" y="610819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50" dirty="0"/>
          </a:p>
        </p:txBody>
      </p:sp>
      <p:sp>
        <p:nvSpPr>
          <p:cNvPr id="106" name="Shape 103"/>
          <p:cNvSpPr/>
          <p:nvPr/>
        </p:nvSpPr>
        <p:spPr>
          <a:xfrm>
            <a:off x="5532120" y="6108192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8096B4"/>
          </a:solidFill>
          <a:ln w="12700">
            <a:solidFill>
              <a:srgbClr val="8096B4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5532120" y="610819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650" dirty="0"/>
          </a:p>
        </p:txBody>
      </p:sp>
      <p:sp>
        <p:nvSpPr>
          <p:cNvPr id="108" name="Shape 105"/>
          <p:cNvSpPr/>
          <p:nvPr/>
        </p:nvSpPr>
        <p:spPr>
          <a:xfrm>
            <a:off x="6995160" y="6108192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6995160" y="610819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Abbott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EPD Incentive Platform</dc:title>
  <dc:subject>EPD Incentive Platform – Executive Summary</dc:subject>
  <dc:creator>BSS – Business Solutions &amp; Services</dc:creator>
  <cp:lastModifiedBy>BSS – Business Solutions &amp; Services</cp:lastModifiedBy>
  <cp:revision>1</cp:revision>
  <dcterms:created xsi:type="dcterms:W3CDTF">2026-04-24T06:36:20Z</dcterms:created>
  <dcterms:modified xsi:type="dcterms:W3CDTF">2026-04-24T06:36:20Z</dcterms:modified>
</cp:coreProperties>
</file>