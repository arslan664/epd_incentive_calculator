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0D1A3E"/>
          </a:solidFill>
          <a:ln w="12700">
            <a:solidFill>
              <a:srgbClr val="0D1A3E"/>
            </a:solidFill>
            <a:prstDash val="solid"/>
          </a:ln>
        </p:spPr>
      </p:sp>
      <p:pic>
        <p:nvPicPr>
          <p:cNvPr id="5" name="Image 0" descr="C:\Users\ArslanSohail\Desktop\EPD Incentivwe\nextjs\PPT\extracted\ppt\media\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852160"/>
            <a:ext cx="1828800" cy="658368"/>
          </a:xfrm>
          <a:prstGeom prst="rect">
            <a:avLst/>
          </a:prstGeom>
        </p:spPr>
      </p:pic>
      <p:pic>
        <p:nvPicPr>
          <p:cNvPr id="6" name="Image 1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5779008"/>
            <a:ext cx="1920240" cy="868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5623560"/>
            <a:ext cx="11457432" cy="0"/>
          </a:xfrm>
          <a:prstGeom prst="line">
            <a:avLst/>
          </a:prstGeom>
          <a:noFill/>
          <a:ln w="12700">
            <a:solidFill>
              <a:srgbClr val="009D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371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457200" y="2423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Kazakhstan &amp; CIS | Digital Incentive Management System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8404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3840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and why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1234440"/>
          </a:xfrm>
          <a:prstGeom prst="roundRect">
            <a:avLst>
              <a:gd name="adj" fmla="val 5185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1261872"/>
            <a:ext cx="1154887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develop, and deploy a centralized web-based platform that automates the quarterly incentive calculation, review, and sign-off process for Abbott's EPD (Established Pharmaceuticals Division) field force across Kazakhstan and the CIS region — with a roadmap to scale to 70+ countries and 5,000–10,000 representatives globally.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8600" y="2651760"/>
            <a:ext cx="3819144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18132" y="2743200"/>
            <a:ext cx="640080" cy="640080"/>
          </a:xfrm>
          <a:prstGeom prst="ellipse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18132" y="276148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20040" y="3447288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3822192"/>
            <a:ext cx="3544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Excel errors via validated, formula-driven calculations backed by a normalized PostgreSQL database on Supabase. Reduce 2% error rate on 75M LC payouts.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84904" y="2651760"/>
            <a:ext cx="3819144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74436" y="2743200"/>
            <a:ext cx="640080" cy="640080"/>
          </a:xfrm>
          <a:prstGeom prst="ellipse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74436" y="276148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276344" y="3447288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322064" y="3822192"/>
            <a:ext cx="3544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monthly close cycle from 2–3 weeks to under 48 hours via automated workflows, real-time dashboards, and digital multi-level sign-off routing.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41208" y="2651760"/>
            <a:ext cx="3819144" cy="2286000"/>
          </a:xfrm>
          <a:prstGeom prst="roundRect">
            <a:avLst>
              <a:gd name="adj" fmla="val 2800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730740" y="2743200"/>
            <a:ext cx="640080" cy="640080"/>
          </a:xfrm>
          <a:prstGeom prst="ellipse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30740" y="276148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232648" y="3447288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278368" y="3822192"/>
            <a:ext cx="3544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visibility (DVP → RBM → FLM → Med. Rep.) across Kazakhstan's 86 reps, 8 quarters, 15 products, and 6 promo lines — with full audit trail.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High-Level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Boundaries, inclusions &amp; phased delivery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5486400" cy="4846320"/>
          </a:xfrm>
          <a:prstGeom prst="roundRect">
            <a:avLst>
              <a:gd name="adj" fmla="val 1321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1234440"/>
            <a:ext cx="5486400" cy="41148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2527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 SCOPE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1755648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175564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Data &amp; Infra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0025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Supabase schema (13 tables), CSV-to-DB seed pipelines, RLS security policies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2450592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4505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Core Dashboard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2697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role-based portal: Summary, Detailed, Sign-Off, Product Promo, Staff views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0040" y="3145536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1455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Analytics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3924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Quarter-over-quarter trend analysis, top-performer leaderboards, Excel/PDF export reports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840480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840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– Auth &amp; Roles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0873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SSO: DVP, RBM, FLM, Med. Rep. with scoped data access and audit logs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0040" y="4535424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5354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– Automation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7823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data ingestion pipeline, e-signature sign-off workflow, email notifications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5230368"/>
            <a:ext cx="54864" cy="475488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52303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547725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Kazakhstan (86 reps, 8 qtrs) as POC; roadmap to 70+ countries, 5,000–10,000 reps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971032" y="1234440"/>
            <a:ext cx="5989320" cy="2148840"/>
          </a:xfrm>
          <a:prstGeom prst="roundRect">
            <a:avLst>
              <a:gd name="adj" fmla="val 2979"/>
            </a:avLst>
          </a:prstGeom>
          <a:solidFill>
            <a:srgbClr val="FFF4F4"/>
          </a:solidFill>
          <a:ln w="9525">
            <a:solidFill>
              <a:srgbClr val="C0504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971032" y="1234440"/>
            <a:ext cx="5989320" cy="4114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62472" y="1252728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OUT OF SCOPE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126480" y="175564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ERP / SAP integration (future phase)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215798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Mobile native app (web-responsive only)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126480" y="25603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Global markets outside KZ / Georgia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2962656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Payroll system direct write-back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971032" y="3538728"/>
            <a:ext cx="1424178" cy="1115568"/>
          </a:xfrm>
          <a:prstGeom prst="roundRect">
            <a:avLst>
              <a:gd name="adj" fmla="val 5738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016752" y="3593592"/>
            <a:ext cx="1332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6016752" y="4142232"/>
            <a:ext cx="13327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Tracked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472934" y="3538728"/>
            <a:ext cx="1424178" cy="1115568"/>
          </a:xfrm>
          <a:prstGeom prst="roundRect">
            <a:avLst>
              <a:gd name="adj" fmla="val 5738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7518654" y="3593592"/>
            <a:ext cx="1332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44" name="Text 41"/>
          <p:cNvSpPr/>
          <p:nvPr/>
        </p:nvSpPr>
        <p:spPr>
          <a:xfrm>
            <a:off x="7518654" y="4142232"/>
            <a:ext cx="13327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Quarters Live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8974836" y="3538728"/>
            <a:ext cx="1424178" cy="1115568"/>
          </a:xfrm>
          <a:prstGeom prst="roundRect">
            <a:avLst>
              <a:gd name="adj" fmla="val 5738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9020556" y="3593592"/>
            <a:ext cx="1332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9020556" y="4142232"/>
            <a:ext cx="13327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10476738" y="3538728"/>
            <a:ext cx="1424178" cy="1115568"/>
          </a:xfrm>
          <a:prstGeom prst="roundRect">
            <a:avLst>
              <a:gd name="adj" fmla="val 5738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10522458" y="3593592"/>
            <a:ext cx="1332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50" name="Text 47"/>
          <p:cNvSpPr/>
          <p:nvPr/>
        </p:nvSpPr>
        <p:spPr>
          <a:xfrm>
            <a:off x="10522458" y="4142232"/>
            <a:ext cx="13327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Lines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971032" y="4773168"/>
            <a:ext cx="5989320" cy="1307592"/>
          </a:xfrm>
          <a:prstGeom prst="roundRect">
            <a:avLst>
              <a:gd name="adj" fmla="val 4895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6062472" y="48097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6016752" y="5138928"/>
            <a:ext cx="1405890" cy="256032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016752" y="5431536"/>
            <a:ext cx="140589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Done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14082" y="5138928"/>
            <a:ext cx="1405890" cy="256032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514082" y="5431536"/>
            <a:ext cx="140589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In Progress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9011412" y="5138928"/>
            <a:ext cx="1405890" cy="25603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011412" y="5431536"/>
            <a:ext cx="140589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Planned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10508742" y="5138928"/>
            <a:ext cx="1405890" cy="256032"/>
          </a:xfrm>
          <a:prstGeom prst="rect">
            <a:avLst/>
          </a:prstGeom>
          <a:solidFill>
            <a:srgbClr val="8096B4"/>
          </a:solidFill>
          <a:ln w="12700">
            <a:solidFill>
              <a:srgbClr val="8096B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508742" y="5431536"/>
            <a:ext cx="140589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P4-5 Roadmap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pain points driving this initiative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530352"/>
          </a:xfrm>
          <a:prstGeom prst="roundRect">
            <a:avLst>
              <a:gd name="adj" fmla="val 12069"/>
            </a:avLst>
          </a:prstGeom>
          <a:solidFill>
            <a:srgbClr val="FFF0F0"/>
          </a:solidFill>
          <a:ln w="9525">
            <a:solidFill>
              <a:srgbClr val="C0504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1261872"/>
            <a:ext cx="11457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Current State:  Quarterly incentive calculations are managed entirely in a complex, multi-sheet Excel workbook with 9 inter-linked CSVs — creating significant risk of manual errors, version conflicts, and delayed approvals for 86 representatives across Kazakhstan.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" y="1874520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C0504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8600" y="1874520"/>
            <a:ext cx="3800856" cy="25603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" y="1883664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Manual Calculation Errors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20040" y="2167128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inter-linked CSV/Excel files with no validation. Comma-formatted numbers, Cyrillic character mismatches, and staggered headers cause import failures. A 2% error rate on 75M LC annual payouts = M in incorrect payments.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94048" y="1874520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F79646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94048" y="1874520"/>
            <a:ext cx="3800856" cy="25603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67200" y="1883664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No Single Source of Truth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285488" y="2167128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Staff_Input, Mapping, TCFA, TIC, Summary_calculation, and 4 more CSVs. Changes in one file are not propagated — creating inconsistencies between manager views and rep payout records.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159496" y="1874520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C0504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59496" y="1874520"/>
            <a:ext cx="3800856" cy="25603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32648" y="1883664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Zero Role-Based Access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250936" y="2167128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shared Excel file is emailed to all stakeholders. DVPs see confidential data of all regions; FLMs can overwrite other teams' records. No audit trail of who changed what and when — a SOX compliance risk.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28600" y="4233672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F79646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28600" y="4233672"/>
            <a:ext cx="3800856" cy="25603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1752" y="4242816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Slow Sign-Off Cycle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20040" y="4526280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requires manual email chains between DVPs, RBMs, and FLMs. A single revision request can stall the cycle by 5–10 business days, delaying rep payments and reducing field-force morale and retention.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194048" y="4233672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1F497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194048" y="4233672"/>
            <a:ext cx="3800856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67200" y="4242816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No Historical Analytics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285488" y="4526280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quarter's data lives in a separate Excel version. Year-over-year performance comparisons, rep attrition analysis, and product-level trend reporting require costly manual consolidation across 8+ files.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159496" y="4233672"/>
            <a:ext cx="3800856" cy="2221992"/>
          </a:xfrm>
          <a:prstGeom prst="roundRect">
            <a:avLst>
              <a:gd name="adj" fmla="val 2881"/>
            </a:avLst>
          </a:prstGeom>
          <a:solidFill>
            <a:srgbClr val="F4F6FB"/>
          </a:solidFill>
          <a:ln w="9525">
            <a:solidFill>
              <a:srgbClr val="1F497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159496" y="4233672"/>
            <a:ext cx="3800856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32648" y="4242816"/>
            <a:ext cx="365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Cannot Scale to 70+ Countries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250936" y="4526280"/>
            <a:ext cx="36179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quarter regenerates the entire 107KB static data file. Adding a country, product, or promo line requires structural changes to all inter-linked sheets. The current model breaks completely at scale.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Technical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— from source to delivery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01168" y="1216152"/>
            <a:ext cx="24844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1168" y="1508760"/>
            <a:ext cx="2484425" cy="0"/>
          </a:xfrm>
          <a:prstGeom prst="line">
            <a:avLst/>
          </a:prstGeom>
          <a:noFill/>
          <a:ln w="9525">
            <a:solidFill>
              <a:srgbClr val="4BAC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50185" y="1216152"/>
            <a:ext cx="24844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850185" y="1508760"/>
            <a:ext cx="2484425" cy="0"/>
          </a:xfrm>
          <a:prstGeom prst="line">
            <a:avLst/>
          </a:prstGeom>
          <a:noFill/>
          <a:ln w="9525">
            <a:solidFill>
              <a:srgbClr val="4BAC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99202" y="1216152"/>
            <a:ext cx="38395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99202" y="1508760"/>
            <a:ext cx="3839566" cy="0"/>
          </a:xfrm>
          <a:prstGeom prst="line">
            <a:avLst/>
          </a:prstGeom>
          <a:noFill/>
          <a:ln w="9525">
            <a:solidFill>
              <a:srgbClr val="4BAC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03359" y="1216152"/>
            <a:ext cx="20327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503359" y="1508760"/>
            <a:ext cx="2032711" cy="0"/>
          </a:xfrm>
          <a:prstGeom prst="line">
            <a:avLst/>
          </a:prstGeom>
          <a:noFill/>
          <a:ln w="9525">
            <a:solidFill>
              <a:srgbClr val="4BACC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" y="1581912"/>
            <a:ext cx="2484425" cy="566928"/>
          </a:xfrm>
          <a:prstGeom prst="roundRect">
            <a:avLst>
              <a:gd name="adj" fmla="val 9677"/>
            </a:avLst>
          </a:prstGeom>
          <a:solidFill>
            <a:srgbClr val="1A2E5A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" y="1655064"/>
            <a:ext cx="230154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File.xlsx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10896" y="1691640"/>
            <a:ext cx="201168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0896" y="1691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X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01168" y="2295144"/>
            <a:ext cx="2484425" cy="2423160"/>
          </a:xfrm>
          <a:prstGeom prst="roundRect">
            <a:avLst>
              <a:gd name="adj" fmla="val 2264"/>
            </a:avLst>
          </a:prstGeom>
          <a:solidFill>
            <a:srgbClr val="111E3C"/>
          </a:solidFill>
          <a:ln w="9525">
            <a:solidFill>
              <a:srgbClr val="2B5E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2350008"/>
            <a:ext cx="23381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74320" y="2615184"/>
            <a:ext cx="2338121" cy="329184"/>
          </a:xfrm>
          <a:prstGeom prst="roundRect">
            <a:avLst>
              <a:gd name="adj" fmla="val 11111"/>
            </a:avLst>
          </a:prstGeom>
          <a:solidFill>
            <a:srgbClr val="1B3066"/>
          </a:solidFill>
          <a:ln w="6350">
            <a:solidFill>
              <a:srgbClr val="3B6CC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2608" y="2679192"/>
            <a:ext cx="128016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2660904"/>
            <a:ext cx="21369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Staff_Input.csv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274320" y="3017520"/>
            <a:ext cx="2338121" cy="329184"/>
          </a:xfrm>
          <a:prstGeom prst="roundRect">
            <a:avLst>
              <a:gd name="adj" fmla="val 11111"/>
            </a:avLst>
          </a:prstGeom>
          <a:solidFill>
            <a:srgbClr val="1B3066"/>
          </a:solidFill>
          <a:ln w="6350">
            <a:solidFill>
              <a:srgbClr val="3B6CC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2608" y="3081528"/>
            <a:ext cx="128016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3063240"/>
            <a:ext cx="21369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Promo_Product.csv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74320" y="3419856"/>
            <a:ext cx="2338121" cy="329184"/>
          </a:xfrm>
          <a:prstGeom prst="roundRect">
            <a:avLst>
              <a:gd name="adj" fmla="val 11111"/>
            </a:avLst>
          </a:prstGeom>
          <a:solidFill>
            <a:srgbClr val="1B3066"/>
          </a:solidFill>
          <a:ln w="6350">
            <a:solidFill>
              <a:srgbClr val="3B6CC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92608" y="3483864"/>
            <a:ext cx="128016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465576"/>
            <a:ext cx="21369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Summary_Calc.csv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274320" y="3822192"/>
            <a:ext cx="2338121" cy="329184"/>
          </a:xfrm>
          <a:prstGeom prst="roundRect">
            <a:avLst>
              <a:gd name="adj" fmla="val 11111"/>
            </a:avLst>
          </a:prstGeom>
          <a:solidFill>
            <a:srgbClr val="1B3066"/>
          </a:solidFill>
          <a:ln w="6350">
            <a:solidFill>
              <a:srgbClr val="3B6CC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92608" y="3886200"/>
            <a:ext cx="128016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3867912"/>
            <a:ext cx="21369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TCFA.csv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274320" y="4224528"/>
            <a:ext cx="2338121" cy="329184"/>
          </a:xfrm>
          <a:prstGeom prst="roundRect">
            <a:avLst>
              <a:gd name="adj" fmla="val 11111"/>
            </a:avLst>
          </a:prstGeom>
          <a:solidFill>
            <a:srgbClr val="1B3066"/>
          </a:solidFill>
          <a:ln w="6350">
            <a:solidFill>
              <a:srgbClr val="3B6CC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92608" y="4288536"/>
            <a:ext cx="128016" cy="20116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4270248"/>
            <a:ext cx="21369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TIC.csv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01168" y="4855464"/>
            <a:ext cx="2484425" cy="475488"/>
          </a:xfrm>
          <a:prstGeom prst="roundRect">
            <a:avLst>
              <a:gd name="adj" fmla="val 11538"/>
            </a:avLst>
          </a:prstGeom>
          <a:solidFill>
            <a:srgbClr val="1A2E5A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92608" y="4928616"/>
            <a:ext cx="23015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292608" y="5184648"/>
            <a:ext cx="2301545" cy="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CSV ingestion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292608" y="4928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DD9"/>
                </a:solidFill>
              </a:rPr>
              <a:t>⬆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850185" y="1581912"/>
            <a:ext cx="2484425" cy="1005840"/>
          </a:xfrm>
          <a:prstGeom prst="roundRect">
            <a:avLst>
              <a:gd name="adj" fmla="val 5455"/>
            </a:avLst>
          </a:prstGeom>
          <a:solidFill>
            <a:srgbClr val="1A2E5A"/>
          </a:solidFill>
          <a:ln w="12700">
            <a:solidFill>
              <a:srgbClr val="5B6DB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41625" y="1655064"/>
            <a:ext cx="23015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Scripts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2941625" y="1911096"/>
            <a:ext cx="230154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structured 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parse_data.ps1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parse_detailed.ps1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3927805" y="1655064"/>
            <a:ext cx="329184" cy="274320"/>
          </a:xfrm>
          <a:prstGeom prst="roundRect">
            <a:avLst>
              <a:gd name="adj" fmla="val 13333"/>
            </a:avLst>
          </a:prstGeom>
          <a:solidFill>
            <a:srgbClr val="2244AA"/>
          </a:solidFill>
          <a:ln w="12700">
            <a:solidFill>
              <a:srgbClr val="2244A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927805" y="165506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&gt;_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092397" y="2587752"/>
            <a:ext cx="0" cy="29260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991813" y="271576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2850185" y="2880360"/>
            <a:ext cx="2484425" cy="658368"/>
          </a:xfrm>
          <a:prstGeom prst="roundRect">
            <a:avLst>
              <a:gd name="adj" fmla="val 8333"/>
            </a:avLst>
          </a:prstGeom>
          <a:solidFill>
            <a:srgbClr val="1A2E5A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941625" y="2953512"/>
            <a:ext cx="23015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Migration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Pipeline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2941625" y="3209544"/>
            <a:ext cx="230154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seed_supabase.ts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13 DB tables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4092397" y="3538728"/>
            <a:ext cx="0" cy="29260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991813" y="3666744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2850185" y="3831336"/>
            <a:ext cx="2484425" cy="1371600"/>
          </a:xfrm>
          <a:prstGeom prst="roundRect">
            <a:avLst>
              <a:gd name="adj" fmla="val 4000"/>
            </a:avLst>
          </a:prstGeom>
          <a:solidFill>
            <a:srgbClr val="111E3C"/>
          </a:solidFill>
          <a:ln w="9525">
            <a:solidFill>
              <a:srgbClr val="2B5EA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923337" y="3886200"/>
            <a:ext cx="23381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Data Files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2923337" y="4160520"/>
            <a:ext cx="2338121" cy="384048"/>
          </a:xfrm>
          <a:prstGeom prst="roundRect">
            <a:avLst>
              <a:gd name="adj" fmla="val 14286"/>
            </a:avLst>
          </a:prstGeom>
          <a:solidFill>
            <a:srgbClr val="1B3066"/>
          </a:solidFill>
          <a:ln w="12700">
            <a:solidFill>
              <a:srgbClr val="3B6CC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014777" y="4233672"/>
            <a:ext cx="21552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comprehensive_data.js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2923337" y="4636008"/>
            <a:ext cx="2338121" cy="384048"/>
          </a:xfrm>
          <a:prstGeom prst="roundRect">
            <a:avLst>
              <a:gd name="adj" fmla="val 14286"/>
            </a:avLst>
          </a:prstGeom>
          <a:solidFill>
            <a:srgbClr val="1B3066"/>
          </a:solidFill>
          <a:ln w="12700">
            <a:solidFill>
              <a:srgbClr val="3B6CC5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014777" y="4709160"/>
            <a:ext cx="21552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data.js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5499202" y="1581912"/>
            <a:ext cx="3839566" cy="4681728"/>
          </a:xfrm>
          <a:prstGeom prst="roundRect">
            <a:avLst>
              <a:gd name="adj" fmla="val 1905"/>
            </a:avLst>
          </a:prstGeom>
          <a:solidFill>
            <a:srgbClr val="0C1A3A"/>
          </a:solidFill>
          <a:ln w="19050">
            <a:solidFill>
              <a:srgbClr val="009DD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608930" y="1655064"/>
            <a:ext cx="362011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 ·  App Router  ·  TypeScript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608930" y="1929384"/>
            <a:ext cx="3620110" cy="438912"/>
          </a:xfrm>
          <a:prstGeom prst="roundRect">
            <a:avLst>
              <a:gd name="adj" fmla="val 12500"/>
            </a:avLst>
          </a:prstGeom>
          <a:solidFill>
            <a:srgbClr val="1A2E5A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00370" y="2002536"/>
            <a:ext cx="3437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 ·  Role Guard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5700370" y="2258568"/>
            <a:ext cx="3437230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  |  RBM  |  FLM  |  Med. Rep.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7418984" y="2368296"/>
            <a:ext cx="0" cy="219456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318400" y="242316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608930" y="2587752"/>
            <a:ext cx="3620110" cy="402336"/>
          </a:xfrm>
          <a:prstGeom prst="roundRect">
            <a:avLst>
              <a:gd name="adj" fmla="val 13636"/>
            </a:avLst>
          </a:prstGeom>
          <a:solidFill>
            <a:srgbClr val="1A2E5A"/>
          </a:solidFill>
          <a:ln w="12700">
            <a:solidFill>
              <a:srgbClr val="8BBCE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700370" y="2660904"/>
            <a:ext cx="3437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Engine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5700370" y="2916936"/>
            <a:ext cx="3437230" cy="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/>
          </a:lstStyle>
          <a:p>
            <a:pPr algn="ctr" indent="0" marL="0">
              <a:buNone/>
            </a:pPr>
            <a:r>
              <a:rPr lang="en-US" sz="750" dirty="0">
                <a:solidFill>
                  <a:srgbClr val="8B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Quarter · Rep · Promo Line · Country</a:t>
            </a:r>
            <a:endParaRPr lang="en-US" sz="750" dirty="0"/>
          </a:p>
        </p:txBody>
      </p:sp>
      <p:sp>
        <p:nvSpPr>
          <p:cNvPr id="71" name="Shape 68"/>
          <p:cNvSpPr/>
          <p:nvPr/>
        </p:nvSpPr>
        <p:spPr>
          <a:xfrm>
            <a:off x="7418984" y="2990088"/>
            <a:ext cx="0" cy="20116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318400" y="3026664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5608930" y="3191256"/>
            <a:ext cx="3620110" cy="347472"/>
          </a:xfrm>
          <a:prstGeom prst="roundRect">
            <a:avLst>
              <a:gd name="adj" fmla="val 15789"/>
            </a:avLst>
          </a:prstGeom>
          <a:solidFill>
            <a:srgbClr val="1B3066"/>
          </a:solidFill>
          <a:ln w="12700">
            <a:solidFill>
              <a:srgbClr val="8BBC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700370" y="3264408"/>
            <a:ext cx="34372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Dual-View Renderer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7418984" y="3538728"/>
            <a:ext cx="0" cy="237744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318400" y="361188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5608930" y="3776472"/>
            <a:ext cx="665500" cy="896112"/>
          </a:xfrm>
          <a:prstGeom prst="roundRect">
            <a:avLst>
              <a:gd name="adj" fmla="val 8244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700370" y="3849624"/>
            <a:ext cx="482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5700370" y="4105656"/>
            <a:ext cx="4826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Reps Live</a:t>
            </a:r>
            <a:endParaRPr lang="en-US" sz="700" dirty="0"/>
          </a:p>
        </p:txBody>
      </p:sp>
      <p:sp>
        <p:nvSpPr>
          <p:cNvPr id="80" name="Shape 77"/>
          <p:cNvSpPr/>
          <p:nvPr/>
        </p:nvSpPr>
        <p:spPr>
          <a:xfrm>
            <a:off x="6347582" y="3776472"/>
            <a:ext cx="665500" cy="896112"/>
          </a:xfrm>
          <a:prstGeom prst="roundRect">
            <a:avLst>
              <a:gd name="adj" fmla="val 8244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439022" y="3849624"/>
            <a:ext cx="482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6439022" y="4105656"/>
            <a:ext cx="4826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Rep-level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breakdown</a:t>
            </a:r>
            <a:endParaRPr lang="en-US" sz="700" dirty="0"/>
          </a:p>
        </p:txBody>
      </p:sp>
      <p:sp>
        <p:nvSpPr>
          <p:cNvPr id="83" name="Shape 80"/>
          <p:cNvSpPr/>
          <p:nvPr/>
        </p:nvSpPr>
        <p:spPr>
          <a:xfrm>
            <a:off x="7086234" y="3776472"/>
            <a:ext cx="665500" cy="896112"/>
          </a:xfrm>
          <a:prstGeom prst="roundRect">
            <a:avLst>
              <a:gd name="adj" fmla="val 8244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177674" y="3849624"/>
            <a:ext cx="482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7177674" y="4105656"/>
            <a:ext cx="4826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Achievement</a:t>
            </a:r>
            <a:endParaRPr lang="en-US" sz="700" dirty="0"/>
          </a:p>
        </p:txBody>
      </p:sp>
      <p:sp>
        <p:nvSpPr>
          <p:cNvPr id="86" name="Shape 83"/>
          <p:cNvSpPr/>
          <p:nvPr/>
        </p:nvSpPr>
        <p:spPr>
          <a:xfrm>
            <a:off x="7824887" y="3776472"/>
            <a:ext cx="665500" cy="896112"/>
          </a:xfrm>
          <a:prstGeom prst="roundRect">
            <a:avLst>
              <a:gd name="adj" fmla="val 8244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7916327" y="3849624"/>
            <a:ext cx="482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7916327" y="4105656"/>
            <a:ext cx="4826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approval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</a:t>
            </a:r>
            <a:endParaRPr lang="en-US" sz="700" dirty="0"/>
          </a:p>
        </p:txBody>
      </p:sp>
      <p:sp>
        <p:nvSpPr>
          <p:cNvPr id="89" name="Shape 86"/>
          <p:cNvSpPr/>
          <p:nvPr/>
        </p:nvSpPr>
        <p:spPr>
          <a:xfrm>
            <a:off x="8563539" y="3776472"/>
            <a:ext cx="665500" cy="896112"/>
          </a:xfrm>
          <a:prstGeom prst="roundRect">
            <a:avLst>
              <a:gd name="adj" fmla="val 8244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8654979" y="3849624"/>
            <a:ext cx="482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8654979" y="4105656"/>
            <a:ext cx="4826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· Leave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700" dirty="0"/>
          </a:p>
        </p:txBody>
      </p:sp>
      <p:sp>
        <p:nvSpPr>
          <p:cNvPr id="92" name="Shape 89"/>
          <p:cNvSpPr/>
          <p:nvPr/>
        </p:nvSpPr>
        <p:spPr>
          <a:xfrm>
            <a:off x="7418984" y="4672584"/>
            <a:ext cx="0" cy="20116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318400" y="470916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▼</a:t>
            </a:r>
            <a:endParaRPr lang="en-US" sz="800" dirty="0"/>
          </a:p>
        </p:txBody>
      </p:sp>
      <p:sp>
        <p:nvSpPr>
          <p:cNvPr id="94" name="Shape 91"/>
          <p:cNvSpPr/>
          <p:nvPr/>
        </p:nvSpPr>
        <p:spPr>
          <a:xfrm>
            <a:off x="5608930" y="4873752"/>
            <a:ext cx="3620110" cy="365760"/>
          </a:xfrm>
          <a:prstGeom prst="roundRect">
            <a:avLst>
              <a:gd name="adj" fmla="val 15000"/>
            </a:avLst>
          </a:prstGeom>
          <a:solidFill>
            <a:srgbClr val="1A2E5A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700370" y="4946904"/>
            <a:ext cx="34372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Engine  ·  Excel (XLSX)  ·  PDF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9503359" y="1581912"/>
            <a:ext cx="2032711" cy="1060704"/>
          </a:xfrm>
          <a:prstGeom prst="roundRect">
            <a:avLst>
              <a:gd name="adj" fmla="val 5172"/>
            </a:avLst>
          </a:prstGeom>
          <a:solidFill>
            <a:srgbClr val="152244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9594799" y="1655064"/>
            <a:ext cx="1849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850" dirty="0"/>
          </a:p>
        </p:txBody>
      </p:sp>
      <p:sp>
        <p:nvSpPr>
          <p:cNvPr id="98" name="Text 95"/>
          <p:cNvSpPr/>
          <p:nvPr/>
        </p:nvSpPr>
        <p:spPr>
          <a:xfrm>
            <a:off x="9594799" y="1911096"/>
            <a:ext cx="1849831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portal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10318547" y="165506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00" name="Shape 97"/>
          <p:cNvSpPr/>
          <p:nvPr/>
        </p:nvSpPr>
        <p:spPr>
          <a:xfrm>
            <a:off x="9503359" y="2752344"/>
            <a:ext cx="2032711" cy="1060704"/>
          </a:xfrm>
          <a:prstGeom prst="roundRect">
            <a:avLst>
              <a:gd name="adj" fmla="val 5172"/>
            </a:avLst>
          </a:prstGeom>
          <a:solidFill>
            <a:srgbClr val="152244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9594799" y="2825496"/>
            <a:ext cx="1849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102" name="Text 99"/>
          <p:cNvSpPr/>
          <p:nvPr/>
        </p:nvSpPr>
        <p:spPr>
          <a:xfrm>
            <a:off x="9594799" y="3081528"/>
            <a:ext cx="1849831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rep / per qtr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750" dirty="0"/>
          </a:p>
        </p:txBody>
      </p:sp>
      <p:sp>
        <p:nvSpPr>
          <p:cNvPr id="103" name="Text 100"/>
          <p:cNvSpPr/>
          <p:nvPr/>
        </p:nvSpPr>
        <p:spPr>
          <a:xfrm>
            <a:off x="10318547" y="2825496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04" name="Shape 101"/>
          <p:cNvSpPr/>
          <p:nvPr/>
        </p:nvSpPr>
        <p:spPr>
          <a:xfrm>
            <a:off x="9503359" y="3922776"/>
            <a:ext cx="2032711" cy="1060704"/>
          </a:xfrm>
          <a:prstGeom prst="roundRect">
            <a:avLst>
              <a:gd name="adj" fmla="val 5172"/>
            </a:avLst>
          </a:prstGeom>
          <a:solidFill>
            <a:srgbClr val="152244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9594799" y="3995928"/>
            <a:ext cx="1849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850" dirty="0"/>
          </a:p>
        </p:txBody>
      </p:sp>
      <p:sp>
        <p:nvSpPr>
          <p:cNvPr id="106" name="Text 103"/>
          <p:cNvSpPr/>
          <p:nvPr/>
        </p:nvSpPr>
        <p:spPr>
          <a:xfrm>
            <a:off x="9594799" y="4251960"/>
            <a:ext cx="1849831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download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role scope</a:t>
            </a:r>
            <a:endParaRPr lang="en-US" sz="750" dirty="0"/>
          </a:p>
        </p:txBody>
      </p:sp>
      <p:sp>
        <p:nvSpPr>
          <p:cNvPr id="107" name="Text 104"/>
          <p:cNvSpPr/>
          <p:nvPr/>
        </p:nvSpPr>
        <p:spPr>
          <a:xfrm>
            <a:off x="10318547" y="3995928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08" name="Shape 105"/>
          <p:cNvSpPr/>
          <p:nvPr/>
        </p:nvSpPr>
        <p:spPr>
          <a:xfrm>
            <a:off x="9503359" y="5093208"/>
            <a:ext cx="2032711" cy="1060704"/>
          </a:xfrm>
          <a:prstGeom prst="roundRect">
            <a:avLst>
              <a:gd name="adj" fmla="val 5172"/>
            </a:avLst>
          </a:prstGeom>
          <a:solidFill>
            <a:srgbClr val="152244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9594799" y="5166360"/>
            <a:ext cx="18498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850" dirty="0"/>
          </a:p>
        </p:txBody>
      </p:sp>
      <p:sp>
        <p:nvSpPr>
          <p:cNvPr id="110" name="Text 107"/>
          <p:cNvSpPr/>
          <p:nvPr/>
        </p:nvSpPr>
        <p:spPr>
          <a:xfrm>
            <a:off x="9594799" y="5422392"/>
            <a:ext cx="1849831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audit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AA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PDF</a:t>
            </a:r>
            <a:endParaRPr lang="en-US" sz="750" dirty="0"/>
          </a:p>
        </p:txBody>
      </p:sp>
      <p:sp>
        <p:nvSpPr>
          <p:cNvPr id="111" name="Text 108"/>
          <p:cNvSpPr/>
          <p:nvPr/>
        </p:nvSpPr>
        <p:spPr>
          <a:xfrm>
            <a:off x="10318547" y="5166360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2" name="Shape 109"/>
          <p:cNvSpPr/>
          <p:nvPr/>
        </p:nvSpPr>
        <p:spPr>
          <a:xfrm>
            <a:off x="2685593" y="3922776"/>
            <a:ext cx="16459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2685593" y="38130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14" name="Shape 111"/>
          <p:cNvSpPr/>
          <p:nvPr/>
        </p:nvSpPr>
        <p:spPr>
          <a:xfrm>
            <a:off x="5334610" y="3922776"/>
            <a:ext cx="16459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334610" y="38130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116" name="Shape 113"/>
          <p:cNvSpPr/>
          <p:nvPr/>
        </p:nvSpPr>
        <p:spPr>
          <a:xfrm>
            <a:off x="9338767" y="3922776"/>
            <a:ext cx="16459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9338767" y="38130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Risk Register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risks with mitigation strategies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3657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252728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125272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Description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703320" y="125272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17720" y="125272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532120" y="125272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1609344"/>
            <a:ext cx="11731752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16459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68096" y="16459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from source CSVs (Cyrillic names, comma-formatted numbers, blank columns)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730752" y="17922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30752" y="17922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645152" y="17922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45152" y="17922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541264" y="16459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Pre-migration data cleanse script; strict TypeScript validators; QA pass comparing DB output vs. source Excel row-by-row.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28600" y="2295144"/>
            <a:ext cx="11731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23317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68096" y="23317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service outage or free-tier limitations during critical quarter close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730752" y="24780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30752" y="24780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645152" y="24780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45152" y="24780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541264" y="23317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read-only Excel fallback at quarter open; Pro-tier upgrade SLA for go-live; nightly pg_dump backups to Supabase Storage.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228600" y="2980944"/>
            <a:ext cx="11731752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30175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68096" y="30175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from additional country onboarding (Georgia) or new promo lines mid-quarter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30752" y="31638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730752" y="31638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45152" y="31638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45152" y="31638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541264" y="30175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Change-control board approval required; modular schema allows country/region rows without structural changes; phased rollout plan.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228600" y="3666744"/>
            <a:ext cx="11731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37033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R04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68096" y="37033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 resistance from field force / managers accustomed to Excel workflows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730752" y="38496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730752" y="38496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645152" y="38496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45152" y="38496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541264" y="37033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support during Q1 go-live; in-app contextual tooltips; role-specific training sessions (DVP, RBM, FLM); Excel export always available.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228600" y="4352544"/>
            <a:ext cx="11731752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74320" y="43891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768096" y="43891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in sign-off chain blocking quarterly payroll processing timelines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730752" y="45354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730752" y="45354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645152" y="45354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645152" y="45354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541264" y="43891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reminders at 48hr &amp; 24hr before deadline; escalation flag in DVP dashboard; offline approval workaround via PDF export.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228600" y="5038344"/>
            <a:ext cx="11731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74320" y="5074920"/>
            <a:ext cx="411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68096" y="5074920"/>
            <a:ext cx="2852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unauthorized access to sensitive incentive data via misconfigured RLS policies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3730752" y="52212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730752" y="52212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4645152" y="5221224"/>
            <a:ext cx="768096" cy="292608"/>
          </a:xfrm>
          <a:prstGeom prst="roundRect">
            <a:avLst>
              <a:gd name="adj" fmla="val 125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645152" y="522122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5541264" y="5074920"/>
            <a:ext cx="48280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Row Level Security enforced at DB layer; penetration test prior to launch; role tokens scoped per user; audit logs enabled.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Dependency Register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 required for successful delivery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11731752" cy="3383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" y="1252728"/>
            <a:ext cx="292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30936" y="1252728"/>
            <a:ext cx="429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33856" y="1252728"/>
            <a:ext cx="19385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Name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145536" y="1252728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151376" y="1252728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157216" y="1252728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980176" y="1252728"/>
            <a:ext cx="53858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/ Notes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28600" y="1581912"/>
            <a:ext cx="11731752" cy="539496"/>
          </a:xfrm>
          <a:prstGeom prst="rect">
            <a:avLst/>
          </a:prstGeom>
          <a:solidFill>
            <a:srgbClr val="F4F6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5176" y="1691640"/>
            <a:ext cx="292608" cy="310896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5176" y="1691640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30936" y="1618488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33856" y="161848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 (Prod)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145536" y="161848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/ IT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151376" y="161848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157216" y="170992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57216" y="170992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989320" y="1618488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Supabase project with Pro tier subscription. URL &amp; service_role key required for DB schema deployment and seeding.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228600" y="2139696"/>
            <a:ext cx="1173175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65176" y="2249424"/>
            <a:ext cx="292608" cy="310896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5176" y="224942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30936" y="2176272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33856" y="217627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Deployment Account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145536" y="2176272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/ IT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151376" y="2176272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157216" y="226771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57216" y="226771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5989320" y="2176272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 or Abbott-managed hosting for Next.js app. Custom domain (epd-incentive.abbott.com) DNS record required.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28600" y="2697480"/>
            <a:ext cx="11731752" cy="539496"/>
          </a:xfrm>
          <a:prstGeom prst="rect">
            <a:avLst/>
          </a:prstGeom>
          <a:solidFill>
            <a:srgbClr val="F4F6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65176" y="2807208"/>
            <a:ext cx="292608" cy="310896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65176" y="280720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0936" y="2734056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D03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133856" y="2734056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CI/CD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145536" y="2734056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151376" y="2734056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157216" y="282549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57216" y="282549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5989320" y="2734056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(Arslan664/EPD_Incentive_Calculator) is live. GitHub Actions workflow for lint, test, and Vercel deploy to be configured.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228600" y="3255264"/>
            <a:ext cx="1173175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65176" y="3364992"/>
            <a:ext cx="292608" cy="310896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65176" y="3364992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630936" y="3291840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D04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133856" y="329184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Q1–Q4 Source CSVs (all quarters)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3145536" y="3291840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KZ Team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4151376" y="3291840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5157216" y="3383280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157216" y="338328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5989320" y="3291840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2017 and Q2 2017 CSVs available. Q3/Q4 and 2018+ data required for full historical load. Georgia (Country 87) records needed.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228600" y="3813048"/>
            <a:ext cx="11731752" cy="539496"/>
          </a:xfrm>
          <a:prstGeom prst="rect">
            <a:avLst/>
          </a:prstGeom>
          <a:solidFill>
            <a:srgbClr val="F4F6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65176" y="3922776"/>
            <a:ext cx="292608" cy="310896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65176" y="392277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630936" y="3849624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D05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1133856" y="3849624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BC_KZ_2017_V10_FINAL.XLSM (External Formulas)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3145536" y="3849624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KZ Team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4151376" y="3849624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157216" y="3941064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57216" y="394106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68" name="Text 65"/>
          <p:cNvSpPr/>
          <p:nvPr/>
        </p:nvSpPr>
        <p:spPr>
          <a:xfrm>
            <a:off x="5989320" y="3849624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Excel file containing linked formula definitions. Required to validate seed script accuracy before DB migration.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228600" y="4370832"/>
            <a:ext cx="1173175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65176" y="4480560"/>
            <a:ext cx="292608" cy="310896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65176" y="4480560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630936" y="4407408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D06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1133856" y="440740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DVP Sign-Off on Roles &amp; Access Matrix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3145536" y="440740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Management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4151376" y="440740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76" name="Shape 73"/>
          <p:cNvSpPr/>
          <p:nvPr/>
        </p:nvSpPr>
        <p:spPr>
          <a:xfrm>
            <a:off x="5157216" y="449884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57216" y="449884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78" name="Text 75"/>
          <p:cNvSpPr/>
          <p:nvPr/>
        </p:nvSpPr>
        <p:spPr>
          <a:xfrm>
            <a:off x="5989320" y="4407408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approval of RBAC matrix: which role (DVP/RBM/FLM/Rep) sees which data — prerequisite for Supabase Auth configuration.</a:t>
            </a:r>
            <a:endParaRPr lang="en-US" sz="750" dirty="0"/>
          </a:p>
        </p:txBody>
      </p:sp>
      <p:sp>
        <p:nvSpPr>
          <p:cNvPr id="79" name="Shape 76"/>
          <p:cNvSpPr/>
          <p:nvPr/>
        </p:nvSpPr>
        <p:spPr>
          <a:xfrm>
            <a:off x="228600" y="4928616"/>
            <a:ext cx="11731752" cy="539496"/>
          </a:xfrm>
          <a:prstGeom prst="rect">
            <a:avLst/>
          </a:prstGeom>
          <a:solidFill>
            <a:srgbClr val="F4F6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265176" y="5038344"/>
            <a:ext cx="292608" cy="310896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65176" y="503834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630936" y="4965192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D07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1133856" y="496519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Participants (FLMs &amp; RBMs for pilot quarter)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3145536" y="4965192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KZ HR</a:t>
            </a: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4151376" y="4965192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5157216" y="505663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8096B4"/>
          </a:solidFill>
          <a:ln w="12700">
            <a:solidFill>
              <a:srgbClr val="8096B4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57216" y="505663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650" dirty="0"/>
          </a:p>
        </p:txBody>
      </p:sp>
      <p:sp>
        <p:nvSpPr>
          <p:cNvPr id="88" name="Text 85"/>
          <p:cNvSpPr/>
          <p:nvPr/>
        </p:nvSpPr>
        <p:spPr>
          <a:xfrm>
            <a:off x="5989320" y="4965192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 FLMs + 1 RBM to conduct structured UAT against Q2 2017 data. Feedback window: 5 business days.</a:t>
            </a:r>
            <a:endParaRPr lang="en-US" sz="750" dirty="0"/>
          </a:p>
        </p:txBody>
      </p:sp>
      <p:sp>
        <p:nvSpPr>
          <p:cNvPr id="89" name="Shape 86"/>
          <p:cNvSpPr/>
          <p:nvPr/>
        </p:nvSpPr>
        <p:spPr>
          <a:xfrm>
            <a:off x="228600" y="5486400"/>
            <a:ext cx="1173175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265176" y="5596128"/>
            <a:ext cx="292608" cy="310896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265176" y="559612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630936" y="5522976"/>
            <a:ext cx="429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D08</a:t>
            </a:r>
            <a:endParaRPr lang="en-US" sz="800" dirty="0"/>
          </a:p>
        </p:txBody>
      </p:sp>
      <p:sp>
        <p:nvSpPr>
          <p:cNvPr id="93" name="Text 90"/>
          <p:cNvSpPr/>
          <p:nvPr/>
        </p:nvSpPr>
        <p:spPr>
          <a:xfrm>
            <a:off x="1133856" y="5522976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Policy (LC/USD historical locking)</a:t>
            </a:r>
            <a:endParaRPr lang="en-US" sz="800" dirty="0"/>
          </a:p>
        </p:txBody>
      </p:sp>
      <p:sp>
        <p:nvSpPr>
          <p:cNvPr id="94" name="Text 91"/>
          <p:cNvSpPr/>
          <p:nvPr/>
        </p:nvSpPr>
        <p:spPr>
          <a:xfrm>
            <a:off x="3145536" y="5522976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Abbott Finance</a:t>
            </a:r>
            <a:endParaRPr lang="en-US" sz="750" dirty="0"/>
          </a:p>
        </p:txBody>
      </p:sp>
      <p:sp>
        <p:nvSpPr>
          <p:cNvPr id="95" name="Text 92"/>
          <p:cNvSpPr/>
          <p:nvPr/>
        </p:nvSpPr>
        <p:spPr>
          <a:xfrm>
            <a:off x="4151376" y="5522976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96" name="Shape 93"/>
          <p:cNvSpPr/>
          <p:nvPr/>
        </p:nvSpPr>
        <p:spPr>
          <a:xfrm>
            <a:off x="5157216" y="561441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157216" y="561441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98" name="Text 95"/>
          <p:cNvSpPr/>
          <p:nvPr/>
        </p:nvSpPr>
        <p:spPr>
          <a:xfrm>
            <a:off x="5989320" y="5522976"/>
            <a:ext cx="5367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required: lock historical rates per quarter at ingestion (Q1=314.79, Q2=332.70) or allow finance team override.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228600" y="61081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KEY: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1143000" y="610819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143000" y="6108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650" dirty="0"/>
          </a:p>
        </p:txBody>
      </p:sp>
      <p:sp>
        <p:nvSpPr>
          <p:cNvPr id="102" name="Shape 99"/>
          <p:cNvSpPr/>
          <p:nvPr/>
        </p:nvSpPr>
        <p:spPr>
          <a:xfrm>
            <a:off x="2606040" y="610819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2606040" y="6108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650" dirty="0"/>
          </a:p>
        </p:txBody>
      </p:sp>
      <p:sp>
        <p:nvSpPr>
          <p:cNvPr id="104" name="Shape 101"/>
          <p:cNvSpPr/>
          <p:nvPr/>
        </p:nvSpPr>
        <p:spPr>
          <a:xfrm>
            <a:off x="4069080" y="610819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4069080" y="6108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106" name="Shape 103"/>
          <p:cNvSpPr/>
          <p:nvPr/>
        </p:nvSpPr>
        <p:spPr>
          <a:xfrm>
            <a:off x="5532120" y="610819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8096B4"/>
          </a:solidFill>
          <a:ln w="12700">
            <a:solidFill>
              <a:srgbClr val="8096B4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532120" y="6108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995160" y="610819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6995160" y="6108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Current Platform Prototype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POC resolving critical pain points</a:t>
            </a:r>
            <a:endParaRPr lang="en-US" sz="1150" dirty="0"/>
          </a:p>
        </p:txBody>
      </p:sp>
      <p:pic>
        <p:nvPicPr>
          <p:cNvPr id="6" name="Image 0" descr="C:\Users\ArslanSohail\Desktop\EPD Incentivwe\nextjs\PPT\extracted\ppt\media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82296"/>
            <a:ext cx="169164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106424"/>
            <a:ext cx="73152" cy="5404104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 |  Executive Summary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" y="1234440"/>
            <a:ext cx="4114800" cy="4846320"/>
          </a:xfrm>
          <a:prstGeom prst="roundRect">
            <a:avLst>
              <a:gd name="adj" fmla="val 1556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HIGHLIGHTS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0040" y="1828800"/>
            <a:ext cx="73152" cy="731520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2148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with Kazakhstan data across 8 quarters. Not just a mockup.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2834640"/>
            <a:ext cx="73152" cy="731520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3154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restricts DVP vs RBM vs FLM to their authorized data scope only.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3840480"/>
            <a:ext cx="73152" cy="731520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86 Medical Representatives, 15 Products, and 6 Promo Lines.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4846320"/>
            <a:ext cx="73152" cy="731520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Tech Stack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5166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Next.js 14 (React) with a Supabase (PostgreSQL) backend.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480560" y="1234440"/>
            <a:ext cx="7406640" cy="4846320"/>
          </a:xfrm>
          <a:prstGeom prst="roundRect">
            <a:avLst>
              <a:gd name="adj" fmla="val 1321"/>
            </a:avLst>
          </a:prstGeom>
          <a:solidFill>
            <a:srgbClr val="F4F6FB"/>
          </a:solidFill>
          <a:ln w="9525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38100" dir="2700000">
              <a:srgbClr val="1B2A5E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1371600"/>
            <a:ext cx="7040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Good Evening, Arslan Sohail (Regional Manager)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2057400"/>
            <a:ext cx="165735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2103120"/>
            <a:ext cx="1657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Reps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63440" y="2377440"/>
            <a:ext cx="16573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57950" y="2057400"/>
            <a:ext cx="165735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57950" y="2103120"/>
            <a:ext cx="1657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Actual (LC)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57950" y="2377440"/>
            <a:ext cx="16573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78.8M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252460" y="2057400"/>
            <a:ext cx="165735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52460" y="2103120"/>
            <a:ext cx="1657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Incentive (LC)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252460" y="2377440"/>
            <a:ext cx="16573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75.0M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0046970" y="2057400"/>
            <a:ext cx="165735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046970" y="2103120"/>
            <a:ext cx="1657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Achievement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0046970" y="2377440"/>
            <a:ext cx="16573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112.3%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4663440" y="2926080"/>
            <a:ext cx="704088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663440" y="2926080"/>
            <a:ext cx="7040880" cy="365760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488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Modules Accessible to Role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846320" y="3474720"/>
            <a:ext cx="91440" cy="548640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29200" y="3474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029200" y="3749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summary and breakdowns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846320" y="4206240"/>
            <a:ext cx="91440" cy="548640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29200" y="4206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029200" y="4480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reps, tracking leave, profiles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846320" y="4937760"/>
            <a:ext cx="91440" cy="548640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029200" y="4937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Validation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029200" y="5212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portoflio matrices and achievements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Abbott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EPD Incentive Platform</dc:title>
  <dc:subject>EPD Incentive Platform – Executive Summary</dc:subject>
  <dc:creator>BSS – Business Solutions &amp; Services</dc:creator>
  <cp:lastModifiedBy>BSS – Business Solutions &amp; Services</cp:lastModifiedBy>
  <cp:revision>1</cp:revision>
  <dcterms:created xsi:type="dcterms:W3CDTF">2026-04-24T12:42:32Z</dcterms:created>
  <dcterms:modified xsi:type="dcterms:W3CDTF">2026-04-24T12:42:32Z</dcterms:modified>
</cp:coreProperties>
</file>