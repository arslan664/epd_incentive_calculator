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558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D1A3E"/>
          </a:solidFill>
          <a:ln w="12700">
            <a:solidFill>
              <a:srgbClr val="0D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ArslanSohail\Desktop\EPD Incentivwe\nextjs\PPT\extracted\ppt\media\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852160"/>
            <a:ext cx="1828800" cy="658368"/>
          </a:xfrm>
          <a:prstGeom prst="rect">
            <a:avLst/>
          </a:prstGeom>
        </p:spPr>
      </p:pic>
      <p:pic>
        <p:nvPicPr>
          <p:cNvPr id="6" name="Image 1" descr="C:\Users\ArslanSohail\Desktop\EPD Incentivwe\nextjs\PPT\extracted\ppt\media\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5779008"/>
            <a:ext cx="1920240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5623560"/>
            <a:ext cx="11457432" cy="0"/>
          </a:xfrm>
          <a:prstGeom prst="line">
            <a:avLst/>
          </a:prstGeom>
          <a:noFill/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57200" y="1371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&amp;  LATAM  | Digital Incentive Management System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840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720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1234440"/>
          </a:xfrm>
          <a:prstGeom prst="roundRect">
            <a:avLst>
              <a:gd name="adj" fmla="val 5185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1261872"/>
            <a:ext cx="115488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develop, and deploy a centralized web-based platform that automates the quarterly incentive calculation, review, and sign-off process for Abbott's EPD (Established Pharmaceuticals Division) field force across EM and the Latam region — with a roadmap to scale to 70+ countries and 5,000–10,000 representatives globally.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8600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818132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18132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0040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Excel errors via validated, formula-driven calculations backed by a normalized PostgreSQL database on Supabase. Reduce 2% error rate on 75M LC payouts.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84904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74436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74436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276344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22064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monthly close cycle from 2–3 weeks to under 48 hours via automated workflows, real-time dashboards, and digital multi-level sign-off routing.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41208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730740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30740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32648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78368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visibility (RBM → FLM → Med. Rep.) across countries, products, and promo lines — with full audit trail.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High-Level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Boundaries, inclusions &amp; phased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28600" y="1234440"/>
            <a:ext cx="5486400" cy="4114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" y="12527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SCOPE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1755648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17556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Data &amp; Infra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0025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database schema, CSV-to-DB seed pipelines, RLS security policies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450592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24505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Core Dashboard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2697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portal: Summary, Detailed, Sign-Off, Product Promo, Staff views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0040" y="3145536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1455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Analytics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392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Quarter-over-quarter trend analysis, top-performer leaderboards, Excel/PDF export reports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840480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3840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– Auth &amp; Roles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087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SSO: RBM, FLM, Med. Rep. with scoped data access and audit logs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4535424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535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– Automation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7823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data ingestion pipeline, e-signature sign-off workflow, email notifications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5230368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5230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547725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70+ countries, 5,000–10,000 reps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71032" y="1234440"/>
            <a:ext cx="5989320" cy="3429000"/>
          </a:xfrm>
          <a:prstGeom prst="roundRect">
            <a:avLst>
              <a:gd name="adj" fmla="val 2979"/>
            </a:avLst>
          </a:prstGeom>
          <a:solidFill>
            <a:srgbClr val="FFF4F4"/>
          </a:solidFill>
          <a:ln w="9525">
            <a:solidFill>
              <a:srgbClr val="C0504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971032" y="1234440"/>
            <a:ext cx="5989320" cy="411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062472" y="1252728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OUT OF SCOPE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26480" y="175564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ERP / SAP integration (future phase)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215798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Mobile native app (web-responsive only)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2525333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Payroll system direct write-back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pain points driving this initiative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530352"/>
          </a:xfrm>
          <a:prstGeom prst="roundRect">
            <a:avLst>
              <a:gd name="adj" fmla="val 12069"/>
            </a:avLst>
          </a:prstGeom>
          <a:solidFill>
            <a:srgbClr val="FFF0F0"/>
          </a:solidFill>
          <a:ln w="9525">
            <a:solidFill>
              <a:srgbClr val="C0504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1261872"/>
            <a:ext cx="11457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State:  Quarterly incentive calculations are managed entirely in a complex, multi-sheet Excel workbook — creating significant risk of manual errors, version conflicts, and delayed approvals for representatives.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C0504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28600" y="1874520"/>
            <a:ext cx="3800856" cy="2560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Manual Calculation Errors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inter-linked CSV/Excel files with no validation. Comma-formatted numbers, Cyrillic character mismatches, and staggered headers cause import failures. A 2% error rate on 75M LC annual payouts = M in incorrect payments.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94048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F79646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94048" y="1874520"/>
            <a:ext cx="3800856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67200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No Single Source of Truth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85488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Staff_Input, Mapping, TCFA, TIC, Summary_calculation, and 4 more CSVs. Changes in one file are not propagated — creating inconsistencies between manager views and rep payout records.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159496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C0504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59496" y="1874520"/>
            <a:ext cx="3800856" cy="2560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32648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Zero Role-Based Access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250936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Excel file is emailed to all stakeholder. FLMs can overwrite other teams' records. No audit trail of who changed what and when — a SOX compliance risk.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F79646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28600" y="4233672"/>
            <a:ext cx="3800856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01752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Slow Sign-Off Cycle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requires manual email chains between RBMs, and FLMs. A single revision request can stall the cycle by 5–10 business days, delaying rep payments and reducing field-force morale and retention.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194048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1F497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194048" y="4233672"/>
            <a:ext cx="3800856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267200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Historical Analytics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285488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quarter's data lives in a separate Excel version. Year-over-year performance comparisons, rep attrition analysis, and product-level trend reporting require costly manual consolidation across 8+ files.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159496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1F497D"/>
            </a:solidFill>
            <a:prstDash val="solid"/>
          </a:ln>
          <a:effectLst>
            <a:outerShdw blurRad="76200" dist="38100" dir="2700000" algn="bl" rotWithShape="0">
              <a:srgbClr val="1B2A5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159496" y="4233672"/>
            <a:ext cx="3800856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32648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Cannot Scale to 70+ Countries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250936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country, product, or promo line requires structural changes to all inter-linked sheets. The current model breaks completely at scale.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Technical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— from source to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01168" y="1216152"/>
            <a:ext cx="24844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" y="1508760"/>
            <a:ext cx="2484425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50185" y="1216152"/>
            <a:ext cx="24844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50185" y="1508760"/>
            <a:ext cx="2484425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99202" y="1216152"/>
            <a:ext cx="3839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99202" y="1508760"/>
            <a:ext cx="3839566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503359" y="1216152"/>
            <a:ext cx="20327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503359" y="1508760"/>
            <a:ext cx="2032711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01168" y="1581912"/>
            <a:ext cx="2484425" cy="566928"/>
          </a:xfrm>
          <a:prstGeom prst="roundRect">
            <a:avLst>
              <a:gd name="adj" fmla="val 9677"/>
            </a:avLst>
          </a:prstGeom>
          <a:solidFill>
            <a:srgbClr val="1A2E5A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92608" y="1655064"/>
            <a:ext cx="230154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File.xlsx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10896" y="1691640"/>
            <a:ext cx="201168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10896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X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01168" y="2295144"/>
            <a:ext cx="2484425" cy="2423160"/>
          </a:xfrm>
          <a:prstGeom prst="roundRect">
            <a:avLst>
              <a:gd name="adj" fmla="val 2264"/>
            </a:avLst>
          </a:prstGeom>
          <a:solidFill>
            <a:srgbClr val="111E3C"/>
          </a:solidFill>
          <a:ln w="9525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4320" y="2350008"/>
            <a:ext cx="23381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4320" y="2615184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92608" y="2679192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2660904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Staff_Input.csv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74320" y="3017520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92608" y="3081528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" y="3063240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Promo_Product.csv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3419856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92608" y="3483864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3465576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Summary_Calc.csv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74320" y="3822192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92608" y="3886200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" y="3867912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TCFA.csv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74320" y="4224528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292608" y="4288536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7200" y="4270248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TIC.csv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01168" y="4855464"/>
            <a:ext cx="2484425" cy="475488"/>
          </a:xfrm>
          <a:prstGeom prst="roundRect">
            <a:avLst>
              <a:gd name="adj" fmla="val 11538"/>
            </a:avLst>
          </a:prstGeom>
          <a:solidFill>
            <a:srgbClr val="1A2E5A"/>
          </a:solidFill>
          <a:ln w="12700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92608" y="4928616"/>
            <a:ext cx="230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92608" y="5184648"/>
            <a:ext cx="2301545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CSV ingestion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92608" y="4928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DD9"/>
                </a:solidFill>
              </a:rPr>
              <a:t>⬆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850185" y="1581912"/>
            <a:ext cx="2484425" cy="1005840"/>
          </a:xfrm>
          <a:prstGeom prst="roundRect">
            <a:avLst>
              <a:gd name="adj" fmla="val 5455"/>
            </a:avLst>
          </a:prstGeom>
          <a:solidFill>
            <a:srgbClr val="1A2E5A"/>
          </a:solidFill>
          <a:ln w="12700">
            <a:solidFill>
              <a:srgbClr val="5B6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41625" y="1655064"/>
            <a:ext cx="230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Scripts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941625" y="1911096"/>
            <a:ext cx="230154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structured 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parse_data.ps1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parse_detailed.ps1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3927805" y="165506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&gt;_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092397" y="2587752"/>
            <a:ext cx="0" cy="2926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3991813" y="271576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850185" y="2880360"/>
            <a:ext cx="2484425" cy="658368"/>
          </a:xfrm>
          <a:prstGeom prst="roundRect">
            <a:avLst>
              <a:gd name="adj" fmla="val 8333"/>
            </a:avLst>
          </a:prstGeom>
          <a:solidFill>
            <a:srgbClr val="1A2E5A"/>
          </a:solidFill>
          <a:ln w="12700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2941625" y="2953512"/>
            <a:ext cx="230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Pipeline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092397" y="3538728"/>
            <a:ext cx="0" cy="2926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991813" y="366674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2850185" y="3831336"/>
            <a:ext cx="2484425" cy="1371600"/>
          </a:xfrm>
          <a:prstGeom prst="roundRect">
            <a:avLst>
              <a:gd name="adj" fmla="val 4000"/>
            </a:avLst>
          </a:prstGeom>
          <a:solidFill>
            <a:srgbClr val="111E3C"/>
          </a:solidFill>
          <a:ln w="9525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923337" y="3886200"/>
            <a:ext cx="23381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Data Files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2923337" y="4160520"/>
            <a:ext cx="2338121" cy="384048"/>
          </a:xfrm>
          <a:prstGeom prst="roundRect">
            <a:avLst>
              <a:gd name="adj" fmla="val 14286"/>
            </a:avLst>
          </a:prstGeom>
          <a:solidFill>
            <a:srgbClr val="1B3066"/>
          </a:solidFill>
          <a:ln w="1270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014777" y="4233672"/>
            <a:ext cx="21552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comprehensive_data.js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923337" y="4636008"/>
            <a:ext cx="2338121" cy="384048"/>
          </a:xfrm>
          <a:prstGeom prst="roundRect">
            <a:avLst>
              <a:gd name="adj" fmla="val 14286"/>
            </a:avLst>
          </a:prstGeom>
          <a:solidFill>
            <a:srgbClr val="1B3066"/>
          </a:solidFill>
          <a:ln w="12700">
            <a:solidFill>
              <a:srgbClr val="3B6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014777" y="4709160"/>
            <a:ext cx="21552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5499202" y="1581912"/>
            <a:ext cx="3839566" cy="4681728"/>
          </a:xfrm>
          <a:prstGeom prst="roundRect">
            <a:avLst>
              <a:gd name="adj" fmla="val 1905"/>
            </a:avLst>
          </a:prstGeom>
          <a:solidFill>
            <a:srgbClr val="0C1A3A"/>
          </a:solidFill>
          <a:ln w="1905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608930" y="1655064"/>
            <a:ext cx="362011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·  App Router  ·  TypeScript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608930" y="1929384"/>
            <a:ext cx="3620110" cy="438912"/>
          </a:xfrm>
          <a:prstGeom prst="roundRect">
            <a:avLst>
              <a:gd name="adj" fmla="val 12500"/>
            </a:avLst>
          </a:prstGeom>
          <a:solidFill>
            <a:srgbClr val="1A2E5A"/>
          </a:solidFill>
          <a:ln w="12700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5700370" y="2002536"/>
            <a:ext cx="3437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 ·  Role Guard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700370" y="2258568"/>
            <a:ext cx="3437230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  |  RBM  |  FLM  |  Med. Rep.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7418984" y="2368296"/>
            <a:ext cx="0" cy="21945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7318400" y="242316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608930" y="2587752"/>
            <a:ext cx="3620110" cy="402336"/>
          </a:xfrm>
          <a:prstGeom prst="roundRect">
            <a:avLst>
              <a:gd name="adj" fmla="val 13636"/>
            </a:avLst>
          </a:prstGeom>
          <a:solidFill>
            <a:srgbClr val="1A2E5A"/>
          </a:solidFill>
          <a:ln w="12700">
            <a:solidFill>
              <a:srgbClr val="8B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5700370" y="2660904"/>
            <a:ext cx="3437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Engine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5700370" y="2916936"/>
            <a:ext cx="3437230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marL="0" indent="0" algn="ctr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Quarter · Rep · Promo Line · Country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7418984" y="2990088"/>
            <a:ext cx="0" cy="20116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7318400" y="302666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5608930" y="3191256"/>
            <a:ext cx="3620110" cy="347472"/>
          </a:xfrm>
          <a:prstGeom prst="roundRect">
            <a:avLst>
              <a:gd name="adj" fmla="val 15789"/>
            </a:avLst>
          </a:prstGeom>
          <a:solidFill>
            <a:srgbClr val="1B3066"/>
          </a:solidFill>
          <a:ln w="12700">
            <a:solidFill>
              <a:srgbClr val="8B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5700370" y="3264408"/>
            <a:ext cx="34372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Dual-View Renderer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7418984" y="3538728"/>
            <a:ext cx="0" cy="23774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7318400" y="361188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5608930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5700370" y="3849624"/>
            <a:ext cx="4826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5700370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Reps Live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6347582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6439022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439022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Rep-level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breakdown</a:t>
            </a:r>
            <a:endParaRPr lang="en-US" sz="700" dirty="0"/>
          </a:p>
        </p:txBody>
      </p:sp>
      <p:sp>
        <p:nvSpPr>
          <p:cNvPr id="83" name="Shape 80"/>
          <p:cNvSpPr/>
          <p:nvPr/>
        </p:nvSpPr>
        <p:spPr>
          <a:xfrm>
            <a:off x="7086234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7177674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7177674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Achievement</a:t>
            </a:r>
            <a:endParaRPr lang="en-US" sz="700" dirty="0"/>
          </a:p>
        </p:txBody>
      </p:sp>
      <p:sp>
        <p:nvSpPr>
          <p:cNvPr id="86" name="Shape 83"/>
          <p:cNvSpPr/>
          <p:nvPr/>
        </p:nvSpPr>
        <p:spPr>
          <a:xfrm>
            <a:off x="7824887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7916327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7916327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approval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700" dirty="0"/>
          </a:p>
        </p:txBody>
      </p:sp>
      <p:sp>
        <p:nvSpPr>
          <p:cNvPr id="89" name="Shape 86"/>
          <p:cNvSpPr/>
          <p:nvPr/>
        </p:nvSpPr>
        <p:spPr>
          <a:xfrm>
            <a:off x="8563539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8654979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8654979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· Leave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00" dirty="0"/>
          </a:p>
        </p:txBody>
      </p:sp>
      <p:sp>
        <p:nvSpPr>
          <p:cNvPr id="92" name="Shape 89"/>
          <p:cNvSpPr/>
          <p:nvPr/>
        </p:nvSpPr>
        <p:spPr>
          <a:xfrm>
            <a:off x="7418984" y="4672584"/>
            <a:ext cx="0" cy="20116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7318400" y="470916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94" name="Shape 91"/>
          <p:cNvSpPr/>
          <p:nvPr/>
        </p:nvSpPr>
        <p:spPr>
          <a:xfrm>
            <a:off x="5608930" y="4873752"/>
            <a:ext cx="3620110" cy="365760"/>
          </a:xfrm>
          <a:prstGeom prst="roundRect">
            <a:avLst>
              <a:gd name="adj" fmla="val 15000"/>
            </a:avLst>
          </a:prstGeom>
          <a:solidFill>
            <a:srgbClr val="1A2E5A"/>
          </a:solidFill>
          <a:ln w="12700">
            <a:solidFill>
              <a:srgbClr val="4BA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5700370" y="4946904"/>
            <a:ext cx="34372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Engine  ·  Excel (XLSX)  ·  PDF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9503359" y="1581912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9594799" y="1655064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850" dirty="0"/>
          </a:p>
        </p:txBody>
      </p:sp>
      <p:sp>
        <p:nvSpPr>
          <p:cNvPr id="98" name="Text 95"/>
          <p:cNvSpPr/>
          <p:nvPr/>
        </p:nvSpPr>
        <p:spPr>
          <a:xfrm>
            <a:off x="9594799" y="1911096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portal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9503359" y="2752344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9594799" y="2825496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102" name="Text 99"/>
          <p:cNvSpPr/>
          <p:nvPr/>
        </p:nvSpPr>
        <p:spPr>
          <a:xfrm>
            <a:off x="9594799" y="3081528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 / per qtr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750" dirty="0"/>
          </a:p>
        </p:txBody>
      </p:sp>
      <p:sp>
        <p:nvSpPr>
          <p:cNvPr id="104" name="Shape 101"/>
          <p:cNvSpPr/>
          <p:nvPr/>
        </p:nvSpPr>
        <p:spPr>
          <a:xfrm>
            <a:off x="9503359" y="3922776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2"/>
          <p:cNvSpPr/>
          <p:nvPr/>
        </p:nvSpPr>
        <p:spPr>
          <a:xfrm>
            <a:off x="9594799" y="3995928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50" dirty="0"/>
          </a:p>
        </p:txBody>
      </p:sp>
      <p:sp>
        <p:nvSpPr>
          <p:cNvPr id="106" name="Text 103"/>
          <p:cNvSpPr/>
          <p:nvPr/>
        </p:nvSpPr>
        <p:spPr>
          <a:xfrm>
            <a:off x="9594799" y="4251960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download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role scope</a:t>
            </a:r>
            <a:endParaRPr lang="en-US" sz="750" dirty="0"/>
          </a:p>
        </p:txBody>
      </p:sp>
      <p:sp>
        <p:nvSpPr>
          <p:cNvPr id="107" name="Text 104"/>
          <p:cNvSpPr/>
          <p:nvPr/>
        </p:nvSpPr>
        <p:spPr>
          <a:xfrm>
            <a:off x="10318547" y="399592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8" name="Shape 105"/>
          <p:cNvSpPr/>
          <p:nvPr/>
        </p:nvSpPr>
        <p:spPr>
          <a:xfrm>
            <a:off x="9503359" y="5093208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9594799" y="5166360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850" dirty="0"/>
          </a:p>
        </p:txBody>
      </p:sp>
      <p:sp>
        <p:nvSpPr>
          <p:cNvPr id="110" name="Text 107"/>
          <p:cNvSpPr/>
          <p:nvPr/>
        </p:nvSpPr>
        <p:spPr>
          <a:xfrm>
            <a:off x="9594799" y="5422392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PDF</a:t>
            </a:r>
            <a:endParaRPr lang="en-US" sz="750" dirty="0"/>
          </a:p>
        </p:txBody>
      </p:sp>
      <p:sp>
        <p:nvSpPr>
          <p:cNvPr id="112" name="Shape 109"/>
          <p:cNvSpPr/>
          <p:nvPr/>
        </p:nvSpPr>
        <p:spPr>
          <a:xfrm>
            <a:off x="2685593" y="3922776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0"/>
          <p:cNvSpPr/>
          <p:nvPr/>
        </p:nvSpPr>
        <p:spPr>
          <a:xfrm>
            <a:off x="2685593" y="3813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14" name="Shape 111"/>
          <p:cNvSpPr/>
          <p:nvPr/>
        </p:nvSpPr>
        <p:spPr>
          <a:xfrm>
            <a:off x="5334610" y="3922776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2"/>
          <p:cNvSpPr/>
          <p:nvPr/>
        </p:nvSpPr>
        <p:spPr>
          <a:xfrm>
            <a:off x="5334610" y="3813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9338767" y="3922776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9338767" y="3813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Risk Register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 with mitigation strategies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3657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125272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12527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703320" y="12527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17720" y="12527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532120" y="125272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16093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16459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8096" y="16459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from source CSVs (Cyrillic names, comma-formatted numbers, blank columns)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730752" y="1792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730752" y="1792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45152" y="1792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45152" y="1792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41264" y="16459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Pre-migration data cleanse script; strict TypeScript validators; QA pass comparing DB output vs. source Excel row-by-row.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28600" y="228520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4320" y="232178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68096" y="232178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from additional country onboarding (Georgia) or new promo lines mid-quarter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30752" y="24680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730752" y="24680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45152" y="24680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645152" y="24680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541264" y="232178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Change-control board approval required; modular schema allows country/region rows without structural changes; phased rollout plan.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228600" y="297100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4320" y="300758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68096" y="300758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resistance from field force / managers accustomed to Excel workflows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730752" y="31538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730752" y="31538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645152" y="31538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645152" y="31538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541264" y="300758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 during Q1 go-live; in-app contextual tooltips; role-specific training sessions (DVP, RBM, FLM); Excel export always available.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28600" y="365680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74320" y="369338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68096" y="369338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sign-off chain blocking quarterly payroll processing timelines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730752" y="38396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3730752" y="38396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45152" y="38396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4645152" y="38396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541264" y="369338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reminders at 48hr &amp; 24hr before deadline; escalation flag in DVP dashboard; offline approval workaround via PDF export.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228600" y="434260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274320" y="437918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68096" y="437918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unauthorized access to sensitive incentive data via misconfigured RLS policies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3730752" y="45254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3730752" y="45254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645152" y="452548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645152" y="45254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541264" y="437918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Row Level Security enforced at DB layer; penetration test prior to launch; role tokens scoped per user; audit logs enabled.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1048</Words>
  <Application>Microsoft Office PowerPoint</Application>
  <PresentationFormat>Widescreen</PresentationFormat>
  <Paragraphs>179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Abbott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EPD Incentive Platform</dc:title>
  <dc:subject>EPD Incentive Platform – Executive Summary</dc:subject>
  <dc:creator>BSS – Business Solutions &amp; Services</dc:creator>
  <cp:lastModifiedBy>Arslan Sohail</cp:lastModifiedBy>
  <cp:revision>3</cp:revision>
  <dcterms:created xsi:type="dcterms:W3CDTF">2026-04-24T07:13:10Z</dcterms:created>
  <dcterms:modified xsi:type="dcterms:W3CDTF">2026-04-24T11:48:05Z</dcterms:modified>
</cp:coreProperties>
</file>